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4"/>
  </p:sldMasterIdLst>
  <p:notesMasterIdLst>
    <p:notesMasterId r:id="rId76"/>
  </p:notesMasterIdLst>
  <p:sldIdLst>
    <p:sldId id="256" r:id="rId5"/>
    <p:sldId id="258" r:id="rId6"/>
    <p:sldId id="355" r:id="rId7"/>
    <p:sldId id="356" r:id="rId8"/>
    <p:sldId id="273" r:id="rId9"/>
    <p:sldId id="262" r:id="rId10"/>
    <p:sldId id="263" r:id="rId11"/>
    <p:sldId id="274" r:id="rId12"/>
    <p:sldId id="277" r:id="rId13"/>
    <p:sldId id="352" r:id="rId14"/>
    <p:sldId id="353" r:id="rId15"/>
    <p:sldId id="354" r:id="rId16"/>
    <p:sldId id="271" r:id="rId17"/>
    <p:sldId id="332" r:id="rId18"/>
    <p:sldId id="359" r:id="rId19"/>
    <p:sldId id="287" r:id="rId20"/>
    <p:sldId id="284" r:id="rId21"/>
    <p:sldId id="291" r:id="rId22"/>
    <p:sldId id="312" r:id="rId23"/>
    <p:sldId id="285" r:id="rId24"/>
    <p:sldId id="330" r:id="rId25"/>
    <p:sldId id="331" r:id="rId26"/>
    <p:sldId id="290" r:id="rId27"/>
    <p:sldId id="272" r:id="rId28"/>
    <p:sldId id="293" r:id="rId29"/>
    <p:sldId id="294" r:id="rId30"/>
    <p:sldId id="295" r:id="rId31"/>
    <p:sldId id="296" r:id="rId32"/>
    <p:sldId id="297" r:id="rId33"/>
    <p:sldId id="299" r:id="rId34"/>
    <p:sldId id="298" r:id="rId35"/>
    <p:sldId id="300" r:id="rId36"/>
    <p:sldId id="301" r:id="rId37"/>
    <p:sldId id="303" r:id="rId38"/>
    <p:sldId id="304" r:id="rId39"/>
    <p:sldId id="302" r:id="rId40"/>
    <p:sldId id="306" r:id="rId41"/>
    <p:sldId id="361" r:id="rId42"/>
    <p:sldId id="307" r:id="rId43"/>
    <p:sldId id="308" r:id="rId44"/>
    <p:sldId id="309" r:id="rId45"/>
    <p:sldId id="310" r:id="rId46"/>
    <p:sldId id="311" r:id="rId47"/>
    <p:sldId id="314" r:id="rId48"/>
    <p:sldId id="362" r:id="rId49"/>
    <p:sldId id="317" r:id="rId50"/>
    <p:sldId id="318" r:id="rId51"/>
    <p:sldId id="319" r:id="rId52"/>
    <p:sldId id="320" r:id="rId53"/>
    <p:sldId id="322" r:id="rId54"/>
    <p:sldId id="321" r:id="rId55"/>
    <p:sldId id="323" r:id="rId56"/>
    <p:sldId id="333" r:id="rId57"/>
    <p:sldId id="334" r:id="rId58"/>
    <p:sldId id="335" r:id="rId59"/>
    <p:sldId id="336" r:id="rId60"/>
    <p:sldId id="337" r:id="rId61"/>
    <p:sldId id="339" r:id="rId62"/>
    <p:sldId id="340" r:id="rId63"/>
    <p:sldId id="341" r:id="rId64"/>
    <p:sldId id="342" r:id="rId65"/>
    <p:sldId id="343" r:id="rId66"/>
    <p:sldId id="344" r:id="rId67"/>
    <p:sldId id="345" r:id="rId68"/>
    <p:sldId id="346" r:id="rId69"/>
    <p:sldId id="347" r:id="rId70"/>
    <p:sldId id="348" r:id="rId71"/>
    <p:sldId id="349" r:id="rId72"/>
    <p:sldId id="350" r:id="rId73"/>
    <p:sldId id="351" r:id="rId74"/>
    <p:sldId id="357" r:id="rId7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BF3C78-4173-4E68-9D92-EA4DB60B5367}" v="2" dt="2021-10-24T12:53:18.255"/>
    <p1510:client id="{662229D7-A862-4592-84CF-EBBFE13F6E3F}" v="1" dt="2021-10-25T08:08:27.144"/>
    <p1510:client id="{874ED6FD-0166-4895-8D0A-6410EE041966}" v="1" dt="2021-10-25T06:58:49.373"/>
    <p1510:client id="{E8E4D1A5-8BA0-4322-8CDD-594110B00531}" v="1" dt="2021-12-14T15:46:12.9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82" autoAdjust="0"/>
    <p:restoredTop sz="94692"/>
  </p:normalViewPr>
  <p:slideViewPr>
    <p:cSldViewPr snapToGrid="0">
      <p:cViewPr>
        <p:scale>
          <a:sx n="72" d="100"/>
          <a:sy n="72" d="100"/>
        </p:scale>
        <p:origin x="-1212" y="3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viewProps" Target="viewProps.xml"/><Relationship Id="rId8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C1F92F0-6EE7-4FAB-8E21-8747E8F63A49}" type="datetimeFigureOut">
              <a:rPr lang="en-US" smtClean="0"/>
              <a:t>12/7/2023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1FD05D2-ABE0-4F17-AFCC-66B985571F9F}" type="slidenum">
              <a:rPr lang="en-US" smtClean="0"/>
              <a:t>‹#›</a:t>
            </a:fld>
            <a:endParaRPr lang="en-US"/>
          </a:p>
        </p:txBody>
      </p:sp>
    </p:spTree>
    <p:extLst>
      <p:ext uri="{BB962C8B-B14F-4D97-AF65-F5344CB8AC3E}">
        <p14:creationId xmlns:p14="http://schemas.microsoft.com/office/powerpoint/2010/main" val="1491933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96F8B1E-EC46-437C-A9FF-B793DE490C28}" type="slidenum">
              <a:rPr lang="en-US" altLang="en-US">
                <a:latin typeface="Calibri" panose="020F0502020204030204" pitchFamily="34" charset="0"/>
              </a:rPr>
              <a:pPr eaLnBrk="1" hangingPunct="1"/>
              <a:t>38</a:t>
            </a:fld>
            <a:endParaRPr lang="en-US" altLang="en-US">
              <a:latin typeface="Calibri" panose="020F0502020204030204" pitchFamily="34" charset="0"/>
            </a:endParaRPr>
          </a:p>
        </p:txBody>
      </p:sp>
      <p:sp>
        <p:nvSpPr>
          <p:cNvPr id="97283" name="Rectangle 2"/>
          <p:cNvSpPr>
            <a:spLocks noGrp="1" noRot="1" noChangeAspect="1" noChangeArrowheads="1" noTextEdit="1"/>
          </p:cNvSpPr>
          <p:nvPr>
            <p:ph type="sldImg"/>
          </p:nvPr>
        </p:nvSpPr>
        <p:spPr bwMode="auto">
          <a:xfrm>
            <a:off x="1123950" y="679450"/>
            <a:ext cx="4554538"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4" name="Rectangle 4"/>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3304154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8D5D3E7-6AB2-4666-B00A-A949DE0088A4}" type="slidenum">
              <a:rPr lang="en-US" altLang="en-US">
                <a:latin typeface="Calibri" panose="020F0502020204030204" pitchFamily="34" charset="0"/>
              </a:rPr>
              <a:pPr eaLnBrk="1" hangingPunct="1"/>
              <a:t>45</a:t>
            </a:fld>
            <a:endParaRPr lang="en-US" altLang="en-US">
              <a:latin typeface="Calibri" panose="020F0502020204030204" pitchFamily="34" charset="0"/>
            </a:endParaRPr>
          </a:p>
        </p:txBody>
      </p:sp>
      <p:sp>
        <p:nvSpPr>
          <p:cNvPr id="962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60" name="Rectangle 4"/>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3275737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1D8BD707-D9CF-40AE-B4C6-C98DA3205C09}" type="datetimeFigureOut">
              <a:rPr lang="en-US" smtClean="0"/>
              <a:pPr/>
              <a:t>12/7/2023</a:t>
            </a:fld>
            <a:endParaRPr lang="en-US" dirty="0"/>
          </a:p>
        </p:txBody>
      </p:sp>
      <p:sp>
        <p:nvSpPr>
          <p:cNvPr id="17" name="Footer Placeholder 16"/>
          <p:cNvSpPr>
            <a:spLocks noGrp="1"/>
          </p:cNvSpPr>
          <p:nvPr>
            <p:ph type="ftr" sz="quarter" idx="11"/>
          </p:nvPr>
        </p:nvSpPr>
        <p:spPr/>
        <p:txBody>
          <a:bodyPr/>
          <a:lstStyle/>
          <a:p>
            <a:endParaRPr lang="en-US" dirty="0"/>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dirty="0"/>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12/7/2023</a:t>
            </a:fld>
            <a:endParaRPr lang="en-US" dirty="0"/>
          </a:p>
        </p:txBody>
      </p:sp>
      <p:sp>
        <p:nvSpPr>
          <p:cNvPr id="5" name="Footer Placeholder 4"/>
          <p:cNvSpPr>
            <a:spLocks noGrp="1"/>
          </p:cNvSpPr>
          <p:nvPr>
            <p:ph type="ftr" sz="quarter" idx="11"/>
          </p:nvPr>
        </p:nvSpPr>
        <p:spPr>
          <a:xfrm>
            <a:off x="800100" y="6172200"/>
            <a:ext cx="4000500" cy="457200"/>
          </a:xfrm>
        </p:spPr>
        <p:txBody>
          <a:bodyPr/>
          <a:lstStyle/>
          <a:p>
            <a:endParaRPr lang="en-US" dirty="0"/>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12/7/2023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12/7/2023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12/7/2023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12/7/2023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12/7/2023</a:t>
            </a:fld>
            <a:endParaRPr lang="en-US" dirty="0"/>
          </a:p>
        </p:txBody>
      </p:sp>
      <p:sp>
        <p:nvSpPr>
          <p:cNvPr id="6" name="Footer Placeholder 5"/>
          <p:cNvSpPr>
            <a:spLocks noGrp="1"/>
          </p:cNvSpPr>
          <p:nvPr>
            <p:ph type="ftr" sz="quarter" idx="11"/>
          </p:nvPr>
        </p:nvSpPr>
        <p:spPr>
          <a:xfrm>
            <a:off x="914400" y="6172200"/>
            <a:ext cx="3886200" cy="457200"/>
          </a:xfrm>
        </p:spPr>
        <p:txBody>
          <a:bodyPr/>
          <a:lstStyle/>
          <a:p>
            <a:endParaRPr lang="en-US" dirty="0"/>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dirty="0"/>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dirty="0"/>
              <a:t>Click icon to add picture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8BD707-D9CF-40AE-B4C6-C98DA3205C09}" type="datetimeFigureOut">
              <a:rPr lang="en-US" smtClean="0"/>
              <a:pPr/>
              <a:t>12/7/2023</a:t>
            </a:fld>
            <a:endParaRPr lang="en-US" dirty="0"/>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dirty="0"/>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dirty="0"/>
          </a:p>
        </p:txBody>
      </p:sp>
      <p:sp>
        <p:nvSpPr>
          <p:cNvPr id="2" name="Title 1"/>
          <p:cNvSpPr>
            <a:spLocks noGrp="1"/>
          </p:cNvSpPr>
          <p:nvPr>
            <p:ph type="ctrTitle"/>
          </p:nvPr>
        </p:nvSpPr>
        <p:spPr/>
        <p:txBody>
          <a:bodyPr>
            <a:normAutofit fontScale="90000"/>
          </a:bodyPr>
          <a:lstStyle/>
          <a:p>
            <a:r>
              <a:rPr lang="en-US"/>
              <a:t>Module 4</a:t>
            </a:r>
            <a:br>
              <a:rPr lang="en-US"/>
            </a:br>
            <a:r>
              <a:rPr lang="en-US" b="1"/>
              <a:t>Memory	 System	Organization	and</a:t>
            </a:r>
            <a:br>
              <a:rPr lang="en-US"/>
            </a:br>
            <a:r>
              <a:rPr lang="en-US" b="1"/>
              <a:t>Architecture</a:t>
            </a:r>
            <a:endParaRPr lang="en-US"/>
          </a:p>
        </p:txBody>
      </p:sp>
    </p:spTree>
    <p:extLst>
      <p:ext uri="{BB962C8B-B14F-4D97-AF65-F5344CB8AC3E}">
        <p14:creationId xmlns:p14="http://schemas.microsoft.com/office/powerpoint/2010/main" val="3463400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fontScale="90000"/>
          </a:bodyPr>
          <a:lstStyle/>
          <a:p>
            <a:r>
              <a:rPr lang="en-US" b="1"/>
              <a:t>Introduction</a:t>
            </a:r>
          </a:p>
        </p:txBody>
      </p:sp>
      <p:sp>
        <p:nvSpPr>
          <p:cNvPr id="3" name="Content Placeholder 2"/>
          <p:cNvSpPr>
            <a:spLocks noGrp="1"/>
          </p:cNvSpPr>
          <p:nvPr>
            <p:ph sz="quarter" idx="1"/>
          </p:nvPr>
        </p:nvSpPr>
        <p:spPr>
          <a:xfrm>
            <a:off x="152400" y="990600"/>
            <a:ext cx="8915400" cy="5715000"/>
          </a:xfrm>
        </p:spPr>
        <p:txBody>
          <a:bodyPr/>
          <a:lstStyle/>
          <a:p>
            <a:pPr algn="just"/>
            <a:r>
              <a:rPr lang="en-US"/>
              <a:t>Programs and the data that processor operate are held in the main memory of the computer during execution, and the data with high storage requirement is stored in the secondary memories.</a:t>
            </a:r>
          </a:p>
          <a:p>
            <a:pPr algn="just"/>
            <a:endParaRPr lang="en-US"/>
          </a:p>
        </p:txBody>
      </p:sp>
    </p:spTree>
    <p:extLst>
      <p:ext uri="{BB962C8B-B14F-4D97-AF65-F5344CB8AC3E}">
        <p14:creationId xmlns:p14="http://schemas.microsoft.com/office/powerpoint/2010/main" val="3363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703996"/>
          </a:xfrm>
        </p:spPr>
        <p:txBody>
          <a:bodyPr>
            <a:normAutofit fontScale="90000"/>
          </a:bodyPr>
          <a:lstStyle/>
          <a:p>
            <a:pPr eaLnBrk="1" fontAlgn="auto" hangingPunct="1">
              <a:spcAft>
                <a:spcPts val="0"/>
              </a:spcAft>
              <a:defRPr/>
            </a:pPr>
            <a:r>
              <a:rPr lang="en-US" dirty="0">
                <a:solidFill>
                  <a:schemeClr val="accent1">
                    <a:satMod val="150000"/>
                  </a:schemeClr>
                </a:solidFill>
              </a:rPr>
              <a:t> Memory Basic Concepts</a:t>
            </a:r>
          </a:p>
        </p:txBody>
      </p:sp>
      <p:sp>
        <p:nvSpPr>
          <p:cNvPr id="10243" name="Content Placeholder 2"/>
          <p:cNvSpPr>
            <a:spLocks noGrp="1"/>
          </p:cNvSpPr>
          <p:nvPr>
            <p:ph idx="1"/>
          </p:nvPr>
        </p:nvSpPr>
        <p:spPr/>
        <p:txBody>
          <a:bodyPr/>
          <a:lstStyle/>
          <a:p>
            <a:pPr eaLnBrk="1" hangingPunct="1"/>
            <a:r>
              <a:rPr lang="en-US" altLang="en-US" dirty="0"/>
              <a:t>Maximum size of the Main Memory</a:t>
            </a:r>
          </a:p>
          <a:p>
            <a:pPr eaLnBrk="1" hangingPunct="1"/>
            <a:r>
              <a:rPr lang="en-US" altLang="en-US" dirty="0"/>
              <a:t>byte-addressable</a:t>
            </a:r>
          </a:p>
          <a:p>
            <a:pPr eaLnBrk="1" hangingPunct="1"/>
            <a:r>
              <a:rPr lang="en-US" altLang="en-US" dirty="0"/>
              <a:t>CPU-Main Memory Connection</a:t>
            </a:r>
          </a:p>
          <a:p>
            <a:pPr eaLnBrk="1" hangingPunct="1"/>
            <a:endParaRPr lang="en-US" altLang="en-US" dirty="0"/>
          </a:p>
        </p:txBody>
      </p:sp>
      <p:grpSp>
        <p:nvGrpSpPr>
          <p:cNvPr id="10244" name="Group 39"/>
          <p:cNvGrpSpPr>
            <a:grpSpLocks/>
          </p:cNvGrpSpPr>
          <p:nvPr/>
        </p:nvGrpSpPr>
        <p:grpSpPr bwMode="auto">
          <a:xfrm>
            <a:off x="990600" y="3310078"/>
            <a:ext cx="6172200" cy="2667000"/>
            <a:chOff x="1357313" y="3384550"/>
            <a:chExt cx="6359525" cy="3168650"/>
          </a:xfrm>
        </p:grpSpPr>
        <p:sp>
          <p:nvSpPr>
            <p:cNvPr id="10245" name="Rectangle 4"/>
            <p:cNvSpPr>
              <a:spLocks noChangeArrowheads="1"/>
            </p:cNvSpPr>
            <p:nvPr/>
          </p:nvSpPr>
          <p:spPr bwMode="auto">
            <a:xfrm>
              <a:off x="5853113" y="4691063"/>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500" dirty="0">
                  <a:solidFill>
                    <a:srgbClr val="000000"/>
                  </a:solidFill>
                  <a:latin typeface="Nimbus Roman No9 L"/>
                </a:rPr>
                <a:t>Up to 2</a:t>
              </a:r>
              <a:endParaRPr lang="en-CA" altLang="en-US" sz="2400" dirty="0">
                <a:latin typeface="Corbel" panose="020B0503020204020204" pitchFamily="34" charset="0"/>
              </a:endParaRPr>
            </a:p>
          </p:txBody>
        </p:sp>
        <p:sp>
          <p:nvSpPr>
            <p:cNvPr id="10246" name="Rectangle 5"/>
            <p:cNvSpPr>
              <a:spLocks noChangeArrowheads="1"/>
            </p:cNvSpPr>
            <p:nvPr/>
          </p:nvSpPr>
          <p:spPr bwMode="auto">
            <a:xfrm>
              <a:off x="6470886" y="4649788"/>
              <a:ext cx="682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i="1" dirty="0">
                  <a:solidFill>
                    <a:srgbClr val="000000"/>
                  </a:solidFill>
                  <a:latin typeface="Nimbus Roman No9 L"/>
                </a:rPr>
                <a:t>k</a:t>
              </a:r>
              <a:endParaRPr lang="en-CA" altLang="en-US" sz="2400" dirty="0">
                <a:latin typeface="Corbel" panose="020B0503020204020204" pitchFamily="34" charset="0"/>
              </a:endParaRPr>
            </a:p>
          </p:txBody>
        </p:sp>
        <p:sp>
          <p:nvSpPr>
            <p:cNvPr id="10247" name="Rectangle 6"/>
            <p:cNvSpPr>
              <a:spLocks noChangeArrowheads="1"/>
            </p:cNvSpPr>
            <p:nvPr/>
          </p:nvSpPr>
          <p:spPr bwMode="auto">
            <a:xfrm>
              <a:off x="6516688" y="4691063"/>
              <a:ext cx="93503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500" dirty="0">
                  <a:solidFill>
                    <a:srgbClr val="000000"/>
                  </a:solidFill>
                  <a:latin typeface="Nimbus Roman No9 L"/>
                </a:rPr>
                <a:t> addressable</a:t>
              </a:r>
              <a:endParaRPr lang="en-CA" altLang="en-US" sz="2400" dirty="0">
                <a:latin typeface="Corbel" panose="020B0503020204020204" pitchFamily="34" charset="0"/>
              </a:endParaRPr>
            </a:p>
          </p:txBody>
        </p:sp>
        <p:sp>
          <p:nvSpPr>
            <p:cNvPr id="10248" name="Freeform 7"/>
            <p:cNvSpPr>
              <a:spLocks/>
            </p:cNvSpPr>
            <p:nvPr/>
          </p:nvSpPr>
          <p:spPr bwMode="auto">
            <a:xfrm>
              <a:off x="3070225" y="5632450"/>
              <a:ext cx="2527300" cy="236538"/>
            </a:xfrm>
            <a:custGeom>
              <a:avLst/>
              <a:gdLst>
                <a:gd name="T0" fmla="*/ 272176891 w 1592"/>
                <a:gd name="T1" fmla="*/ 375504814 h 149"/>
                <a:gd name="T2" fmla="*/ 272176891 w 1592"/>
                <a:gd name="T3" fmla="*/ 307459686 h 149"/>
                <a:gd name="T4" fmla="*/ 2147483647 w 1592"/>
                <a:gd name="T5" fmla="*/ 307459686 h 149"/>
                <a:gd name="T6" fmla="*/ 2147483647 w 1592"/>
                <a:gd name="T7" fmla="*/ 375504814 h 149"/>
                <a:gd name="T8" fmla="*/ 2147483647 w 1592"/>
                <a:gd name="T9" fmla="*/ 204133847 h 149"/>
                <a:gd name="T10" fmla="*/ 2147483647 w 1592"/>
                <a:gd name="T11" fmla="*/ 0 h 149"/>
                <a:gd name="T12" fmla="*/ 2147483647 w 1592"/>
                <a:gd name="T13" fmla="*/ 103327401 h 149"/>
                <a:gd name="T14" fmla="*/ 272176891 w 1592"/>
                <a:gd name="T15" fmla="*/ 103327401 h 149"/>
                <a:gd name="T16" fmla="*/ 272176891 w 1592"/>
                <a:gd name="T17" fmla="*/ 0 h 149"/>
                <a:gd name="T18" fmla="*/ 0 w 1592"/>
                <a:gd name="T19" fmla="*/ 204133847 h 149"/>
                <a:gd name="T20" fmla="*/ 272176891 w 1592"/>
                <a:gd name="T21" fmla="*/ 375504814 h 1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92"/>
                <a:gd name="T34" fmla="*/ 0 h 149"/>
                <a:gd name="T35" fmla="*/ 1592 w 1592"/>
                <a:gd name="T36" fmla="*/ 149 h 1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92" h="149">
                  <a:moveTo>
                    <a:pt x="108" y="149"/>
                  </a:moveTo>
                  <a:lnTo>
                    <a:pt x="108" y="122"/>
                  </a:lnTo>
                  <a:lnTo>
                    <a:pt x="1484" y="122"/>
                  </a:lnTo>
                  <a:lnTo>
                    <a:pt x="1484" y="149"/>
                  </a:lnTo>
                  <a:lnTo>
                    <a:pt x="1592" y="81"/>
                  </a:lnTo>
                  <a:lnTo>
                    <a:pt x="1484" y="0"/>
                  </a:lnTo>
                  <a:lnTo>
                    <a:pt x="1484" y="41"/>
                  </a:lnTo>
                  <a:lnTo>
                    <a:pt x="108" y="41"/>
                  </a:lnTo>
                  <a:lnTo>
                    <a:pt x="108" y="0"/>
                  </a:lnTo>
                  <a:lnTo>
                    <a:pt x="0" y="81"/>
                  </a:lnTo>
                  <a:lnTo>
                    <a:pt x="108" y="149"/>
                  </a:lnTo>
                  <a:close/>
                </a:path>
              </a:pathLst>
            </a:custGeom>
            <a:solidFill>
              <a:srgbClr val="FFFFFF"/>
            </a:solidFill>
            <a:ln w="0">
              <a:solidFill>
                <a:srgbClr val="FFFFFF"/>
              </a:solidFill>
              <a:round/>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10249" name="Freeform 8"/>
            <p:cNvSpPr>
              <a:spLocks/>
            </p:cNvSpPr>
            <p:nvPr/>
          </p:nvSpPr>
          <p:spPr bwMode="auto">
            <a:xfrm>
              <a:off x="3070225" y="5632450"/>
              <a:ext cx="2527300" cy="236538"/>
            </a:xfrm>
            <a:custGeom>
              <a:avLst/>
              <a:gdLst>
                <a:gd name="T0" fmla="*/ 2147483647 w 118"/>
                <a:gd name="T1" fmla="*/ 2147483647 h 11"/>
                <a:gd name="T2" fmla="*/ 2147483647 w 118"/>
                <a:gd name="T3" fmla="*/ 2147483647 h 11"/>
                <a:gd name="T4" fmla="*/ 2147483647 w 118"/>
                <a:gd name="T5" fmla="*/ 2147483647 h 11"/>
                <a:gd name="T6" fmla="*/ 2147483647 w 118"/>
                <a:gd name="T7" fmla="*/ 2147483647 h 11"/>
                <a:gd name="T8" fmla="*/ 2147483647 w 118"/>
                <a:gd name="T9" fmla="*/ 2147483647 h 11"/>
                <a:gd name="T10" fmla="*/ 2147483647 w 118"/>
                <a:gd name="T11" fmla="*/ 0 h 11"/>
                <a:gd name="T12" fmla="*/ 2147483647 w 118"/>
                <a:gd name="T13" fmla="*/ 1387187708 h 11"/>
                <a:gd name="T14" fmla="*/ 2147483647 w 118"/>
                <a:gd name="T15" fmla="*/ 1387187708 h 11"/>
                <a:gd name="T16" fmla="*/ 2147483647 w 118"/>
                <a:gd name="T17" fmla="*/ 0 h 11"/>
                <a:gd name="T18" fmla="*/ 0 w 118"/>
                <a:gd name="T19" fmla="*/ 2147483647 h 11"/>
                <a:gd name="T20" fmla="*/ 2147483647 w 118"/>
                <a:gd name="T21" fmla="*/ 2147483647 h 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8"/>
                <a:gd name="T34" fmla="*/ 0 h 11"/>
                <a:gd name="T35" fmla="*/ 118 w 118"/>
                <a:gd name="T36" fmla="*/ 11 h 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8" h="11">
                  <a:moveTo>
                    <a:pt x="8" y="11"/>
                  </a:moveTo>
                  <a:lnTo>
                    <a:pt x="8" y="9"/>
                  </a:lnTo>
                  <a:lnTo>
                    <a:pt x="110" y="9"/>
                  </a:lnTo>
                  <a:lnTo>
                    <a:pt x="110" y="11"/>
                  </a:lnTo>
                  <a:lnTo>
                    <a:pt x="118" y="6"/>
                  </a:lnTo>
                  <a:lnTo>
                    <a:pt x="110" y="0"/>
                  </a:lnTo>
                  <a:lnTo>
                    <a:pt x="110" y="3"/>
                  </a:lnTo>
                  <a:lnTo>
                    <a:pt x="8" y="3"/>
                  </a:lnTo>
                  <a:lnTo>
                    <a:pt x="8" y="0"/>
                  </a:lnTo>
                  <a:lnTo>
                    <a:pt x="0" y="6"/>
                  </a:lnTo>
                  <a:lnTo>
                    <a:pt x="8" y="11"/>
                  </a:lnTo>
                </a:path>
              </a:pathLst>
            </a:custGeom>
            <a:noFill/>
            <a:ln w="2063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10250" name="Rectangle 9"/>
            <p:cNvSpPr>
              <a:spLocks noChangeArrowheads="1"/>
            </p:cNvSpPr>
            <p:nvPr/>
          </p:nvSpPr>
          <p:spPr bwMode="auto">
            <a:xfrm>
              <a:off x="1357313" y="3384550"/>
              <a:ext cx="1692275" cy="3168650"/>
            </a:xfrm>
            <a:prstGeom prst="rect">
              <a:avLst/>
            </a:prstGeom>
            <a:noFill/>
            <a:ln w="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latin typeface="Corbel" panose="020B0503020204020204" pitchFamily="34" charset="0"/>
              </a:endParaRPr>
            </a:p>
          </p:txBody>
        </p:sp>
        <p:sp>
          <p:nvSpPr>
            <p:cNvPr id="10251" name="Rectangle 10"/>
            <p:cNvSpPr>
              <a:spLocks noChangeArrowheads="1"/>
            </p:cNvSpPr>
            <p:nvPr/>
          </p:nvSpPr>
          <p:spPr bwMode="auto">
            <a:xfrm>
              <a:off x="1357313" y="3384550"/>
              <a:ext cx="1692275" cy="3168650"/>
            </a:xfrm>
            <a:prstGeom prst="rect">
              <a:avLst/>
            </a:prstGeom>
            <a:noFill/>
            <a:ln w="20701">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latin typeface="Corbel" panose="020B0503020204020204" pitchFamily="34" charset="0"/>
              </a:endParaRPr>
            </a:p>
          </p:txBody>
        </p:sp>
        <p:sp>
          <p:nvSpPr>
            <p:cNvPr id="10252" name="Rectangle 11"/>
            <p:cNvSpPr>
              <a:spLocks noChangeArrowheads="1"/>
            </p:cNvSpPr>
            <p:nvPr/>
          </p:nvSpPr>
          <p:spPr bwMode="auto">
            <a:xfrm>
              <a:off x="1722438" y="4776788"/>
              <a:ext cx="963612" cy="363537"/>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latin typeface="Corbel" panose="020B0503020204020204" pitchFamily="34" charset="0"/>
              </a:endParaRPr>
            </a:p>
          </p:txBody>
        </p:sp>
        <p:sp>
          <p:nvSpPr>
            <p:cNvPr id="10253" name="Rectangle 12"/>
            <p:cNvSpPr>
              <a:spLocks noChangeArrowheads="1"/>
            </p:cNvSpPr>
            <p:nvPr/>
          </p:nvSpPr>
          <p:spPr bwMode="auto">
            <a:xfrm>
              <a:off x="1722438" y="4776788"/>
              <a:ext cx="963612" cy="363537"/>
            </a:xfrm>
            <a:prstGeom prst="rect">
              <a:avLst/>
            </a:prstGeom>
            <a:noFill/>
            <a:ln w="206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latin typeface="Corbel" panose="020B0503020204020204" pitchFamily="34" charset="0"/>
              </a:endParaRPr>
            </a:p>
          </p:txBody>
        </p:sp>
        <p:sp>
          <p:nvSpPr>
            <p:cNvPr id="10254" name="Freeform 13"/>
            <p:cNvSpPr>
              <a:spLocks/>
            </p:cNvSpPr>
            <p:nvPr/>
          </p:nvSpPr>
          <p:spPr bwMode="auto">
            <a:xfrm>
              <a:off x="2686050" y="4840288"/>
              <a:ext cx="2911475" cy="257175"/>
            </a:xfrm>
            <a:custGeom>
              <a:avLst/>
              <a:gdLst>
                <a:gd name="T0" fmla="*/ 304938131 w 1834"/>
                <a:gd name="T1" fmla="*/ 408265258 h 162"/>
                <a:gd name="T2" fmla="*/ 304938131 w 1834"/>
                <a:gd name="T3" fmla="*/ 307459046 h 162"/>
                <a:gd name="T4" fmla="*/ 2147483647 w 1834"/>
                <a:gd name="T5" fmla="*/ 307459046 h 162"/>
                <a:gd name="T6" fmla="*/ 2147483647 w 1834"/>
                <a:gd name="T7" fmla="*/ 408265258 h 162"/>
                <a:gd name="T8" fmla="*/ 2147483647 w 1834"/>
                <a:gd name="T9" fmla="*/ 204133423 h 162"/>
                <a:gd name="T10" fmla="*/ 2147483647 w 1834"/>
                <a:gd name="T11" fmla="*/ 0 h 162"/>
                <a:gd name="T12" fmla="*/ 2147483647 w 1834"/>
                <a:gd name="T13" fmla="*/ 103325598 h 162"/>
                <a:gd name="T14" fmla="*/ 304938131 w 1834"/>
                <a:gd name="T15" fmla="*/ 103325598 h 162"/>
                <a:gd name="T16" fmla="*/ 304938131 w 1834"/>
                <a:gd name="T17" fmla="*/ 0 h 162"/>
                <a:gd name="T18" fmla="*/ 0 w 1834"/>
                <a:gd name="T19" fmla="*/ 204133423 h 162"/>
                <a:gd name="T20" fmla="*/ 304938131 w 1834"/>
                <a:gd name="T21" fmla="*/ 408265258 h 1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34"/>
                <a:gd name="T34" fmla="*/ 0 h 162"/>
                <a:gd name="T35" fmla="*/ 1834 w 1834"/>
                <a:gd name="T36" fmla="*/ 162 h 1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34" h="162">
                  <a:moveTo>
                    <a:pt x="121" y="162"/>
                  </a:moveTo>
                  <a:lnTo>
                    <a:pt x="121" y="122"/>
                  </a:lnTo>
                  <a:lnTo>
                    <a:pt x="1726" y="122"/>
                  </a:lnTo>
                  <a:lnTo>
                    <a:pt x="1726" y="162"/>
                  </a:lnTo>
                  <a:lnTo>
                    <a:pt x="1834" y="81"/>
                  </a:lnTo>
                  <a:lnTo>
                    <a:pt x="1726" y="0"/>
                  </a:lnTo>
                  <a:lnTo>
                    <a:pt x="1726" y="41"/>
                  </a:lnTo>
                  <a:lnTo>
                    <a:pt x="121" y="41"/>
                  </a:lnTo>
                  <a:lnTo>
                    <a:pt x="121" y="0"/>
                  </a:lnTo>
                  <a:lnTo>
                    <a:pt x="0" y="81"/>
                  </a:lnTo>
                  <a:lnTo>
                    <a:pt x="121" y="162"/>
                  </a:lnTo>
                  <a:close/>
                </a:path>
              </a:pathLst>
            </a:custGeom>
            <a:solidFill>
              <a:srgbClr val="FFFFFF"/>
            </a:solidFill>
            <a:ln w="0">
              <a:solidFill>
                <a:srgbClr val="FFFFFF"/>
              </a:solidFill>
              <a:round/>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10255" name="Freeform 14"/>
            <p:cNvSpPr>
              <a:spLocks/>
            </p:cNvSpPr>
            <p:nvPr/>
          </p:nvSpPr>
          <p:spPr bwMode="auto">
            <a:xfrm>
              <a:off x="2686050" y="4840288"/>
              <a:ext cx="2911475" cy="257175"/>
            </a:xfrm>
            <a:custGeom>
              <a:avLst/>
              <a:gdLst>
                <a:gd name="T0" fmla="*/ 2147483647 w 136"/>
                <a:gd name="T1" fmla="*/ 2147483647 h 12"/>
                <a:gd name="T2" fmla="*/ 2147483647 w 136"/>
                <a:gd name="T3" fmla="*/ 2147483647 h 12"/>
                <a:gd name="T4" fmla="*/ 2147483647 w 136"/>
                <a:gd name="T5" fmla="*/ 2147483647 h 12"/>
                <a:gd name="T6" fmla="*/ 2147483647 w 136"/>
                <a:gd name="T7" fmla="*/ 2147483647 h 12"/>
                <a:gd name="T8" fmla="*/ 2147483647 w 136"/>
                <a:gd name="T9" fmla="*/ 2147483647 h 12"/>
                <a:gd name="T10" fmla="*/ 2147483647 w 136"/>
                <a:gd name="T11" fmla="*/ 0 h 12"/>
                <a:gd name="T12" fmla="*/ 2147483647 w 136"/>
                <a:gd name="T13" fmla="*/ 1377900684 h 12"/>
                <a:gd name="T14" fmla="*/ 2147483647 w 136"/>
                <a:gd name="T15" fmla="*/ 1377900684 h 12"/>
                <a:gd name="T16" fmla="*/ 2147483647 w 136"/>
                <a:gd name="T17" fmla="*/ 0 h 12"/>
                <a:gd name="T18" fmla="*/ 0 w 136"/>
                <a:gd name="T19" fmla="*/ 2147483647 h 12"/>
                <a:gd name="T20" fmla="*/ 2147483647 w 136"/>
                <a:gd name="T21" fmla="*/ 2147483647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6"/>
                <a:gd name="T34" fmla="*/ 0 h 12"/>
                <a:gd name="T35" fmla="*/ 136 w 136"/>
                <a:gd name="T36" fmla="*/ 12 h 1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6" h="12">
                  <a:moveTo>
                    <a:pt x="9" y="12"/>
                  </a:moveTo>
                  <a:lnTo>
                    <a:pt x="9" y="9"/>
                  </a:lnTo>
                  <a:lnTo>
                    <a:pt x="128" y="9"/>
                  </a:lnTo>
                  <a:lnTo>
                    <a:pt x="128" y="12"/>
                  </a:lnTo>
                  <a:lnTo>
                    <a:pt x="136" y="6"/>
                  </a:lnTo>
                  <a:lnTo>
                    <a:pt x="128" y="0"/>
                  </a:lnTo>
                  <a:lnTo>
                    <a:pt x="128" y="3"/>
                  </a:lnTo>
                  <a:lnTo>
                    <a:pt x="9" y="3"/>
                  </a:lnTo>
                  <a:lnTo>
                    <a:pt x="9" y="0"/>
                  </a:lnTo>
                  <a:lnTo>
                    <a:pt x="0" y="6"/>
                  </a:lnTo>
                  <a:lnTo>
                    <a:pt x="9" y="12"/>
                  </a:lnTo>
                </a:path>
              </a:pathLst>
            </a:custGeom>
            <a:noFill/>
            <a:ln w="2063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10256" name="Rectangle 15"/>
            <p:cNvSpPr>
              <a:spLocks noChangeArrowheads="1"/>
            </p:cNvSpPr>
            <p:nvPr/>
          </p:nvSpPr>
          <p:spPr bwMode="auto">
            <a:xfrm>
              <a:off x="1979613" y="4841875"/>
              <a:ext cx="4349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500" dirty="0">
                  <a:solidFill>
                    <a:srgbClr val="000000"/>
                  </a:solidFill>
                  <a:latin typeface="Nimbus Roman No9 L"/>
                </a:rPr>
                <a:t>MDR</a:t>
              </a:r>
              <a:endParaRPr lang="en-CA" altLang="en-US" sz="2400" dirty="0">
                <a:latin typeface="Corbel" panose="020B0503020204020204" pitchFamily="34" charset="0"/>
              </a:endParaRPr>
            </a:p>
          </p:txBody>
        </p:sp>
        <p:sp>
          <p:nvSpPr>
            <p:cNvPr id="10257" name="Freeform 16"/>
            <p:cNvSpPr>
              <a:spLocks/>
            </p:cNvSpPr>
            <p:nvPr/>
          </p:nvSpPr>
          <p:spPr bwMode="auto">
            <a:xfrm>
              <a:off x="2686050" y="4049713"/>
              <a:ext cx="2911475" cy="255587"/>
            </a:xfrm>
            <a:custGeom>
              <a:avLst/>
              <a:gdLst>
                <a:gd name="T0" fmla="*/ 0 w 1834"/>
                <a:gd name="T1" fmla="*/ 304937500 h 161"/>
                <a:gd name="T2" fmla="*/ 2147483647 w 1834"/>
                <a:gd name="T3" fmla="*/ 304937500 h 161"/>
                <a:gd name="T4" fmla="*/ 2147483647 w 1834"/>
                <a:gd name="T5" fmla="*/ 405743514 h 161"/>
                <a:gd name="T6" fmla="*/ 2147483647 w 1834"/>
                <a:gd name="T7" fmla="*/ 201612079 h 161"/>
                <a:gd name="T8" fmla="*/ 2147483647 w 1834"/>
                <a:gd name="T9" fmla="*/ 0 h 161"/>
                <a:gd name="T10" fmla="*/ 2147483647 w 1834"/>
                <a:gd name="T11" fmla="*/ 100806039 h 161"/>
                <a:gd name="T12" fmla="*/ 0 w 1834"/>
                <a:gd name="T13" fmla="*/ 100806039 h 161"/>
                <a:gd name="T14" fmla="*/ 0 w 1834"/>
                <a:gd name="T15" fmla="*/ 304937500 h 161"/>
                <a:gd name="T16" fmla="*/ 0 60000 65536"/>
                <a:gd name="T17" fmla="*/ 0 60000 65536"/>
                <a:gd name="T18" fmla="*/ 0 60000 65536"/>
                <a:gd name="T19" fmla="*/ 0 60000 65536"/>
                <a:gd name="T20" fmla="*/ 0 60000 65536"/>
                <a:gd name="T21" fmla="*/ 0 60000 65536"/>
                <a:gd name="T22" fmla="*/ 0 60000 65536"/>
                <a:gd name="T23" fmla="*/ 0 60000 65536"/>
                <a:gd name="T24" fmla="*/ 0 w 1834"/>
                <a:gd name="T25" fmla="*/ 0 h 161"/>
                <a:gd name="T26" fmla="*/ 1834 w 1834"/>
                <a:gd name="T27" fmla="*/ 161 h 16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834" h="161">
                  <a:moveTo>
                    <a:pt x="0" y="121"/>
                  </a:moveTo>
                  <a:lnTo>
                    <a:pt x="1726" y="121"/>
                  </a:lnTo>
                  <a:lnTo>
                    <a:pt x="1726" y="161"/>
                  </a:lnTo>
                  <a:lnTo>
                    <a:pt x="1834" y="80"/>
                  </a:lnTo>
                  <a:lnTo>
                    <a:pt x="1726" y="0"/>
                  </a:lnTo>
                  <a:lnTo>
                    <a:pt x="1726" y="40"/>
                  </a:lnTo>
                  <a:lnTo>
                    <a:pt x="0" y="40"/>
                  </a:lnTo>
                  <a:lnTo>
                    <a:pt x="0" y="121"/>
                  </a:lnTo>
                  <a:close/>
                </a:path>
              </a:pathLst>
            </a:custGeom>
            <a:solidFill>
              <a:srgbClr val="FFFFFF"/>
            </a:solidFill>
            <a:ln w="0">
              <a:solidFill>
                <a:srgbClr val="FFFFFF"/>
              </a:solidFill>
              <a:round/>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10258" name="Freeform 17"/>
            <p:cNvSpPr>
              <a:spLocks/>
            </p:cNvSpPr>
            <p:nvPr/>
          </p:nvSpPr>
          <p:spPr bwMode="auto">
            <a:xfrm>
              <a:off x="2686050" y="4049713"/>
              <a:ext cx="2911475" cy="255587"/>
            </a:xfrm>
            <a:custGeom>
              <a:avLst/>
              <a:gdLst>
                <a:gd name="T0" fmla="*/ 0 w 136"/>
                <a:gd name="T1" fmla="*/ 2147483647 h 12"/>
                <a:gd name="T2" fmla="*/ 2147483647 w 136"/>
                <a:gd name="T3" fmla="*/ 2147483647 h 12"/>
                <a:gd name="T4" fmla="*/ 2147483647 w 136"/>
                <a:gd name="T5" fmla="*/ 2147483647 h 12"/>
                <a:gd name="T6" fmla="*/ 2147483647 w 136"/>
                <a:gd name="T7" fmla="*/ 2147483647 h 12"/>
                <a:gd name="T8" fmla="*/ 2147483647 w 136"/>
                <a:gd name="T9" fmla="*/ 0 h 12"/>
                <a:gd name="T10" fmla="*/ 2147483647 w 136"/>
                <a:gd name="T11" fmla="*/ 1360936778 h 12"/>
                <a:gd name="T12" fmla="*/ 0 w 136"/>
                <a:gd name="T13" fmla="*/ 1360936778 h 12"/>
                <a:gd name="T14" fmla="*/ 0 60000 65536"/>
                <a:gd name="T15" fmla="*/ 0 60000 65536"/>
                <a:gd name="T16" fmla="*/ 0 60000 65536"/>
                <a:gd name="T17" fmla="*/ 0 60000 65536"/>
                <a:gd name="T18" fmla="*/ 0 60000 65536"/>
                <a:gd name="T19" fmla="*/ 0 60000 65536"/>
                <a:gd name="T20" fmla="*/ 0 60000 65536"/>
                <a:gd name="T21" fmla="*/ 0 w 136"/>
                <a:gd name="T22" fmla="*/ 0 h 12"/>
                <a:gd name="T23" fmla="*/ 136 w 136"/>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6" h="12">
                  <a:moveTo>
                    <a:pt x="0" y="9"/>
                  </a:moveTo>
                  <a:lnTo>
                    <a:pt x="128" y="9"/>
                  </a:lnTo>
                  <a:lnTo>
                    <a:pt x="128" y="12"/>
                  </a:lnTo>
                  <a:lnTo>
                    <a:pt x="136" y="6"/>
                  </a:lnTo>
                  <a:lnTo>
                    <a:pt x="128" y="0"/>
                  </a:lnTo>
                  <a:lnTo>
                    <a:pt x="128" y="3"/>
                  </a:lnTo>
                  <a:lnTo>
                    <a:pt x="0" y="3"/>
                  </a:lnTo>
                </a:path>
              </a:pathLst>
            </a:custGeom>
            <a:noFill/>
            <a:ln w="2063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10259" name="Rectangle 18"/>
            <p:cNvSpPr>
              <a:spLocks noChangeArrowheads="1"/>
            </p:cNvSpPr>
            <p:nvPr/>
          </p:nvSpPr>
          <p:spPr bwMode="auto">
            <a:xfrm>
              <a:off x="1722438" y="4006850"/>
              <a:ext cx="963612" cy="363538"/>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latin typeface="Corbel" panose="020B0503020204020204" pitchFamily="34" charset="0"/>
              </a:endParaRPr>
            </a:p>
          </p:txBody>
        </p:sp>
        <p:sp>
          <p:nvSpPr>
            <p:cNvPr id="10260" name="Rectangle 19"/>
            <p:cNvSpPr>
              <a:spLocks noChangeArrowheads="1"/>
            </p:cNvSpPr>
            <p:nvPr/>
          </p:nvSpPr>
          <p:spPr bwMode="auto">
            <a:xfrm>
              <a:off x="1722438" y="4006850"/>
              <a:ext cx="963612" cy="363538"/>
            </a:xfrm>
            <a:prstGeom prst="rect">
              <a:avLst/>
            </a:prstGeom>
            <a:noFill/>
            <a:ln w="206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latin typeface="Corbel" panose="020B0503020204020204" pitchFamily="34" charset="0"/>
              </a:endParaRPr>
            </a:p>
          </p:txBody>
        </p:sp>
        <p:sp>
          <p:nvSpPr>
            <p:cNvPr id="10261" name="Rectangle 20"/>
            <p:cNvSpPr>
              <a:spLocks noChangeArrowheads="1"/>
            </p:cNvSpPr>
            <p:nvPr/>
          </p:nvSpPr>
          <p:spPr bwMode="auto">
            <a:xfrm>
              <a:off x="1979613" y="4049713"/>
              <a:ext cx="4349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500" dirty="0">
                  <a:solidFill>
                    <a:srgbClr val="000000"/>
                  </a:solidFill>
                  <a:latin typeface="Nimbus Roman No9 L"/>
                </a:rPr>
                <a:t>MAR</a:t>
              </a:r>
              <a:endParaRPr lang="en-CA" altLang="en-US" sz="2400" dirty="0">
                <a:latin typeface="Corbel" panose="020B0503020204020204" pitchFamily="34" charset="0"/>
              </a:endParaRPr>
            </a:p>
          </p:txBody>
        </p:sp>
        <p:sp>
          <p:nvSpPr>
            <p:cNvPr id="10262" name="Rectangle 21"/>
            <p:cNvSpPr>
              <a:spLocks noChangeArrowheads="1"/>
            </p:cNvSpPr>
            <p:nvPr/>
          </p:nvSpPr>
          <p:spPr bwMode="auto">
            <a:xfrm>
              <a:off x="5597525" y="3384550"/>
              <a:ext cx="2119313" cy="3168650"/>
            </a:xfrm>
            <a:prstGeom prst="rect">
              <a:avLst/>
            </a:prstGeom>
            <a:noFill/>
            <a:ln w="206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latin typeface="Corbel" panose="020B0503020204020204" pitchFamily="34" charset="0"/>
              </a:endParaRPr>
            </a:p>
          </p:txBody>
        </p:sp>
        <p:sp>
          <p:nvSpPr>
            <p:cNvPr id="10263" name="Rectangle 22"/>
            <p:cNvSpPr>
              <a:spLocks noChangeArrowheads="1"/>
            </p:cNvSpPr>
            <p:nvPr/>
          </p:nvSpPr>
          <p:spPr bwMode="auto">
            <a:xfrm>
              <a:off x="4162425" y="3621088"/>
              <a:ext cx="8413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500" i="1" dirty="0">
                  <a:solidFill>
                    <a:srgbClr val="000000"/>
                  </a:solidFill>
                  <a:latin typeface="Nimbus Roman No9 L"/>
                </a:rPr>
                <a:t>k</a:t>
              </a:r>
              <a:endParaRPr lang="en-CA" altLang="en-US" sz="2400" dirty="0">
                <a:latin typeface="Corbel" panose="020B0503020204020204" pitchFamily="34" charset="0"/>
              </a:endParaRPr>
            </a:p>
          </p:txBody>
        </p:sp>
        <p:sp>
          <p:nvSpPr>
            <p:cNvPr id="10264" name="Rectangle 23"/>
            <p:cNvSpPr>
              <a:spLocks noChangeArrowheads="1"/>
            </p:cNvSpPr>
            <p:nvPr/>
          </p:nvSpPr>
          <p:spPr bwMode="auto">
            <a:xfrm>
              <a:off x="4248150" y="3621088"/>
              <a:ext cx="2635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500" dirty="0">
                  <a:solidFill>
                    <a:srgbClr val="000000"/>
                  </a:solidFill>
                  <a:latin typeface="Nimbus Roman No9 L"/>
                </a:rPr>
                <a:t>-bit</a:t>
              </a:r>
              <a:endParaRPr lang="en-CA" altLang="en-US" sz="2400" dirty="0">
                <a:latin typeface="Corbel" panose="020B0503020204020204" pitchFamily="34" charset="0"/>
              </a:endParaRPr>
            </a:p>
          </p:txBody>
        </p:sp>
        <p:sp>
          <p:nvSpPr>
            <p:cNvPr id="10265" name="Rectangle 24"/>
            <p:cNvSpPr>
              <a:spLocks noChangeArrowheads="1"/>
            </p:cNvSpPr>
            <p:nvPr/>
          </p:nvSpPr>
          <p:spPr bwMode="auto">
            <a:xfrm>
              <a:off x="3884613" y="3792538"/>
              <a:ext cx="88423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500" dirty="0">
                  <a:solidFill>
                    <a:srgbClr val="000000"/>
                  </a:solidFill>
                  <a:latin typeface="Nimbus Roman No9 L"/>
                </a:rPr>
                <a:t>address bus</a:t>
              </a:r>
              <a:endParaRPr lang="en-CA" altLang="en-US" sz="2400" dirty="0">
                <a:latin typeface="Corbel" panose="020B0503020204020204" pitchFamily="34" charset="0"/>
              </a:endParaRPr>
            </a:p>
          </p:txBody>
        </p:sp>
        <p:sp>
          <p:nvSpPr>
            <p:cNvPr id="10266" name="Rectangle 25"/>
            <p:cNvSpPr>
              <a:spLocks noChangeArrowheads="1"/>
            </p:cNvSpPr>
            <p:nvPr/>
          </p:nvSpPr>
          <p:spPr bwMode="auto">
            <a:xfrm>
              <a:off x="4141788" y="4392613"/>
              <a:ext cx="95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500" i="1" dirty="0">
                  <a:solidFill>
                    <a:srgbClr val="000000"/>
                  </a:solidFill>
                  <a:latin typeface="Nimbus Roman No9 L"/>
                </a:rPr>
                <a:t>n</a:t>
              </a:r>
              <a:endParaRPr lang="en-CA" altLang="en-US" sz="2400" dirty="0">
                <a:latin typeface="Corbel" panose="020B0503020204020204" pitchFamily="34" charset="0"/>
              </a:endParaRPr>
            </a:p>
          </p:txBody>
        </p:sp>
        <p:sp>
          <p:nvSpPr>
            <p:cNvPr id="10267" name="Rectangle 26"/>
            <p:cNvSpPr>
              <a:spLocks noChangeArrowheads="1"/>
            </p:cNvSpPr>
            <p:nvPr/>
          </p:nvSpPr>
          <p:spPr bwMode="auto">
            <a:xfrm>
              <a:off x="4248150" y="4392613"/>
              <a:ext cx="2635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500" dirty="0">
                  <a:solidFill>
                    <a:srgbClr val="000000"/>
                  </a:solidFill>
                  <a:latin typeface="Nimbus Roman No9 L"/>
                </a:rPr>
                <a:t>-bit</a:t>
              </a:r>
              <a:endParaRPr lang="en-CA" altLang="en-US" sz="2400" dirty="0">
                <a:latin typeface="Corbel" panose="020B0503020204020204" pitchFamily="34" charset="0"/>
              </a:endParaRPr>
            </a:p>
          </p:txBody>
        </p:sp>
        <p:sp>
          <p:nvSpPr>
            <p:cNvPr id="10268" name="Rectangle 27"/>
            <p:cNvSpPr>
              <a:spLocks noChangeArrowheads="1"/>
            </p:cNvSpPr>
            <p:nvPr/>
          </p:nvSpPr>
          <p:spPr bwMode="auto">
            <a:xfrm>
              <a:off x="4013200" y="4584700"/>
              <a:ext cx="6286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500" dirty="0">
                  <a:solidFill>
                    <a:srgbClr val="000000"/>
                  </a:solidFill>
                  <a:latin typeface="Nimbus Roman No9 L"/>
                </a:rPr>
                <a:t>data bus</a:t>
              </a:r>
              <a:endParaRPr lang="en-CA" altLang="en-US" sz="2400" dirty="0">
                <a:latin typeface="Corbel" panose="020B0503020204020204" pitchFamily="34" charset="0"/>
              </a:endParaRPr>
            </a:p>
          </p:txBody>
        </p:sp>
        <p:sp>
          <p:nvSpPr>
            <p:cNvPr id="10269" name="Rectangle 28"/>
            <p:cNvSpPr>
              <a:spLocks noChangeArrowheads="1"/>
            </p:cNvSpPr>
            <p:nvPr/>
          </p:nvSpPr>
          <p:spPr bwMode="auto">
            <a:xfrm>
              <a:off x="3841750" y="5868988"/>
              <a:ext cx="9874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500" dirty="0">
                  <a:solidFill>
                    <a:srgbClr val="000000"/>
                  </a:solidFill>
                  <a:latin typeface="Nimbus Roman No9 L"/>
                </a:rPr>
                <a:t>Control lines</a:t>
              </a:r>
              <a:endParaRPr lang="en-CA" altLang="en-US" sz="2400" dirty="0">
                <a:latin typeface="Corbel" panose="020B0503020204020204" pitchFamily="34" charset="0"/>
              </a:endParaRPr>
            </a:p>
          </p:txBody>
        </p:sp>
        <p:sp>
          <p:nvSpPr>
            <p:cNvPr id="10270" name="Rectangle 29"/>
            <p:cNvSpPr>
              <a:spLocks noChangeArrowheads="1"/>
            </p:cNvSpPr>
            <p:nvPr/>
          </p:nvSpPr>
          <p:spPr bwMode="auto">
            <a:xfrm>
              <a:off x="3584575" y="6146800"/>
              <a:ext cx="14652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500" dirty="0">
                  <a:solidFill>
                    <a:srgbClr val="000000"/>
                  </a:solidFill>
                  <a:latin typeface="Nimbus Roman No9 L"/>
                </a:rPr>
                <a:t>(          , MFC, etc.)</a:t>
              </a:r>
              <a:endParaRPr lang="en-CA" altLang="en-US" sz="2400" dirty="0">
                <a:latin typeface="Corbel" panose="020B0503020204020204" pitchFamily="34" charset="0"/>
              </a:endParaRPr>
            </a:p>
          </p:txBody>
        </p:sp>
        <p:sp>
          <p:nvSpPr>
            <p:cNvPr id="10271" name="Rectangle 30"/>
            <p:cNvSpPr>
              <a:spLocks noChangeArrowheads="1"/>
            </p:cNvSpPr>
            <p:nvPr/>
          </p:nvSpPr>
          <p:spPr bwMode="auto">
            <a:xfrm>
              <a:off x="1808163" y="3535363"/>
              <a:ext cx="7921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500" b="1" dirty="0">
                  <a:solidFill>
                    <a:srgbClr val="000000"/>
                  </a:solidFill>
                  <a:latin typeface="Nimbus Roman No9 L"/>
                </a:rPr>
                <a:t>Processor</a:t>
              </a:r>
              <a:endParaRPr lang="en-CA" altLang="en-US" sz="2400" dirty="0">
                <a:latin typeface="Corbel" panose="020B0503020204020204" pitchFamily="34" charset="0"/>
              </a:endParaRPr>
            </a:p>
          </p:txBody>
        </p:sp>
        <p:sp>
          <p:nvSpPr>
            <p:cNvPr id="10272" name="Rectangle 31"/>
            <p:cNvSpPr>
              <a:spLocks noChangeArrowheads="1"/>
            </p:cNvSpPr>
            <p:nvPr/>
          </p:nvSpPr>
          <p:spPr bwMode="auto">
            <a:xfrm>
              <a:off x="6281738" y="3471863"/>
              <a:ext cx="74453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500" b="1" dirty="0">
                  <a:solidFill>
                    <a:srgbClr val="000000"/>
                  </a:solidFill>
                  <a:latin typeface="Nimbus Roman No9 L"/>
                </a:rPr>
                <a:t> Memory</a:t>
              </a:r>
              <a:endParaRPr lang="en-CA" altLang="en-US" sz="2400" dirty="0">
                <a:latin typeface="Corbel" panose="020B0503020204020204" pitchFamily="34" charset="0"/>
              </a:endParaRPr>
            </a:p>
          </p:txBody>
        </p:sp>
        <p:sp>
          <p:nvSpPr>
            <p:cNvPr id="10273" name="Rectangle 32"/>
            <p:cNvSpPr>
              <a:spLocks noChangeArrowheads="1"/>
            </p:cNvSpPr>
            <p:nvPr/>
          </p:nvSpPr>
          <p:spPr bwMode="auto">
            <a:xfrm>
              <a:off x="6303963" y="4884738"/>
              <a:ext cx="685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500" dirty="0">
                  <a:solidFill>
                    <a:srgbClr val="000000"/>
                  </a:solidFill>
                  <a:latin typeface="Nimbus Roman No9 L"/>
                </a:rPr>
                <a:t>locations</a:t>
              </a:r>
              <a:endParaRPr lang="en-CA" altLang="en-US" sz="2400" dirty="0">
                <a:latin typeface="Corbel" panose="020B0503020204020204" pitchFamily="34" charset="0"/>
              </a:endParaRPr>
            </a:p>
          </p:txBody>
        </p:sp>
        <p:sp>
          <p:nvSpPr>
            <p:cNvPr id="10274" name="Rectangle 33"/>
            <p:cNvSpPr>
              <a:spLocks noChangeArrowheads="1"/>
            </p:cNvSpPr>
            <p:nvPr/>
          </p:nvSpPr>
          <p:spPr bwMode="auto">
            <a:xfrm>
              <a:off x="5754022" y="5376863"/>
              <a:ext cx="1111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500" dirty="0">
                  <a:solidFill>
                    <a:srgbClr val="000000"/>
                  </a:solidFill>
                  <a:latin typeface="Nimbus Roman No9 L"/>
                </a:rPr>
                <a:t>Word length =</a:t>
              </a:r>
              <a:endParaRPr lang="en-CA" altLang="en-US" sz="2400" dirty="0">
                <a:latin typeface="Corbel" panose="020B0503020204020204" pitchFamily="34" charset="0"/>
              </a:endParaRPr>
            </a:p>
          </p:txBody>
        </p:sp>
        <p:sp>
          <p:nvSpPr>
            <p:cNvPr id="10275" name="Rectangle 34"/>
            <p:cNvSpPr>
              <a:spLocks noChangeArrowheads="1"/>
            </p:cNvSpPr>
            <p:nvPr/>
          </p:nvSpPr>
          <p:spPr bwMode="auto">
            <a:xfrm>
              <a:off x="7072000" y="5376863"/>
              <a:ext cx="95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500" i="1" dirty="0">
                  <a:solidFill>
                    <a:srgbClr val="000000"/>
                  </a:solidFill>
                  <a:latin typeface="Nimbus Roman No9 L"/>
                </a:rPr>
                <a:t>n</a:t>
              </a:r>
              <a:endParaRPr lang="en-CA" altLang="en-US" sz="2400" dirty="0">
                <a:latin typeface="Corbel" panose="020B0503020204020204" pitchFamily="34" charset="0"/>
              </a:endParaRPr>
            </a:p>
          </p:txBody>
        </p:sp>
        <p:sp>
          <p:nvSpPr>
            <p:cNvPr id="10276" name="Rectangle 35"/>
            <p:cNvSpPr>
              <a:spLocks noChangeArrowheads="1"/>
            </p:cNvSpPr>
            <p:nvPr/>
          </p:nvSpPr>
          <p:spPr bwMode="auto">
            <a:xfrm>
              <a:off x="7167249" y="5376863"/>
              <a:ext cx="3222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500" dirty="0">
                  <a:solidFill>
                    <a:srgbClr val="000000"/>
                  </a:solidFill>
                  <a:latin typeface="Nimbus Roman No9 L"/>
                </a:rPr>
                <a:t> bits</a:t>
              </a:r>
              <a:endParaRPr lang="en-CA" altLang="en-US" sz="2400" dirty="0">
                <a:latin typeface="Corbel" panose="020B0503020204020204" pitchFamily="34" charset="0"/>
              </a:endParaRPr>
            </a:p>
          </p:txBody>
        </p:sp>
        <p:sp>
          <p:nvSpPr>
            <p:cNvPr id="10277" name="Rectangle 36"/>
            <p:cNvSpPr>
              <a:spLocks noChangeArrowheads="1"/>
            </p:cNvSpPr>
            <p:nvPr/>
          </p:nvSpPr>
          <p:spPr bwMode="auto">
            <a:xfrm>
              <a:off x="3970338" y="6126163"/>
              <a:ext cx="17938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500" dirty="0">
                  <a:solidFill>
                    <a:srgbClr val="000000"/>
                  </a:solidFill>
                  <a:latin typeface="Nimbus Roman No9 L"/>
                </a:rPr>
                <a:t>W</a:t>
              </a:r>
              <a:endParaRPr lang="en-CA" altLang="en-US" sz="2400" dirty="0">
                <a:latin typeface="Corbel" panose="020B0503020204020204" pitchFamily="34" charset="0"/>
              </a:endParaRPr>
            </a:p>
          </p:txBody>
        </p:sp>
        <p:sp>
          <p:nvSpPr>
            <p:cNvPr id="10278" name="Line 37"/>
            <p:cNvSpPr>
              <a:spLocks noChangeShapeType="1"/>
            </p:cNvSpPr>
            <p:nvPr/>
          </p:nvSpPr>
          <p:spPr bwMode="auto">
            <a:xfrm flipH="1">
              <a:off x="3990975" y="6146800"/>
              <a:ext cx="1508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0279" name="Rectangle 38"/>
            <p:cNvSpPr>
              <a:spLocks noChangeArrowheads="1"/>
            </p:cNvSpPr>
            <p:nvPr/>
          </p:nvSpPr>
          <p:spPr bwMode="auto">
            <a:xfrm>
              <a:off x="3713163" y="6126163"/>
              <a:ext cx="127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500" dirty="0">
                  <a:solidFill>
                    <a:srgbClr val="000000"/>
                  </a:solidFill>
                  <a:latin typeface="Nimbus Roman No9 L"/>
                </a:rPr>
                <a:t>R</a:t>
              </a:r>
              <a:endParaRPr lang="en-CA" altLang="en-US" sz="2400" dirty="0">
                <a:latin typeface="Corbel" panose="020B0503020204020204" pitchFamily="34" charset="0"/>
              </a:endParaRPr>
            </a:p>
          </p:txBody>
        </p:sp>
        <p:sp>
          <p:nvSpPr>
            <p:cNvPr id="10280" name="Rectangle 39"/>
            <p:cNvSpPr>
              <a:spLocks noChangeArrowheads="1"/>
            </p:cNvSpPr>
            <p:nvPr/>
          </p:nvSpPr>
          <p:spPr bwMode="auto">
            <a:xfrm>
              <a:off x="3884613" y="6126163"/>
              <a:ext cx="5238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500" dirty="0">
                  <a:solidFill>
                    <a:srgbClr val="000000"/>
                  </a:solidFill>
                  <a:latin typeface="Nimbus Roman No9 L"/>
                </a:rPr>
                <a:t>/</a:t>
              </a:r>
              <a:endParaRPr lang="en-CA" altLang="en-US" sz="2400" dirty="0">
                <a:latin typeface="Corbel" panose="020B0503020204020204" pitchFamily="34" charset="0"/>
              </a:endParaRPr>
            </a:p>
          </p:txBody>
        </p:sp>
      </p:grpSp>
    </p:spTree>
    <p:extLst>
      <p:ext uri="{BB962C8B-B14F-4D97-AF65-F5344CB8AC3E}">
        <p14:creationId xmlns:p14="http://schemas.microsoft.com/office/powerpoint/2010/main" val="2271531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703996"/>
          </a:xfrm>
        </p:spPr>
        <p:txBody>
          <a:bodyPr>
            <a:normAutofit/>
          </a:bodyPr>
          <a:lstStyle/>
          <a:p>
            <a:pPr eaLnBrk="1" fontAlgn="auto" hangingPunct="1">
              <a:spcAft>
                <a:spcPts val="0"/>
              </a:spcAft>
              <a:defRPr/>
            </a:pPr>
            <a:r>
              <a:rPr lang="en-US" sz="3400" b="1" dirty="0">
                <a:solidFill>
                  <a:schemeClr val="accent1">
                    <a:satMod val="150000"/>
                  </a:schemeClr>
                </a:solidFill>
              </a:rPr>
              <a:t>Memory Basic Concepts</a:t>
            </a:r>
          </a:p>
        </p:txBody>
      </p:sp>
      <p:sp>
        <p:nvSpPr>
          <p:cNvPr id="3" name="Content Placeholder 2"/>
          <p:cNvSpPr>
            <a:spLocks noGrp="1"/>
          </p:cNvSpPr>
          <p:nvPr>
            <p:ph idx="1"/>
          </p:nvPr>
        </p:nvSpPr>
        <p:spPr>
          <a:xfrm>
            <a:off x="783203" y="1194021"/>
            <a:ext cx="8016241" cy="4511039"/>
          </a:xfrm>
        </p:spPr>
        <p:txBody>
          <a:bodyPr rtlCol="0">
            <a:noAutofit/>
          </a:bodyPr>
          <a:lstStyle/>
          <a:p>
            <a:pPr marL="438912" indent="-320040" eaLnBrk="1" fontAlgn="auto" hangingPunct="1">
              <a:lnSpc>
                <a:spcPct val="200000"/>
              </a:lnSpc>
              <a:spcBef>
                <a:spcPts val="0"/>
              </a:spcBef>
              <a:spcAft>
                <a:spcPts val="0"/>
              </a:spcAft>
              <a:buFont typeface="Wingdings 2"/>
              <a:buChar char=""/>
              <a:defRPr/>
            </a:pPr>
            <a:r>
              <a:rPr lang="en-US" sz="2000" dirty="0"/>
              <a:t>Measures for the speed of a memory:</a:t>
            </a:r>
          </a:p>
          <a:p>
            <a:pPr marL="731520" lvl="1" indent="-274320" eaLnBrk="1" fontAlgn="auto" hangingPunct="1">
              <a:lnSpc>
                <a:spcPct val="200000"/>
              </a:lnSpc>
              <a:spcAft>
                <a:spcPts val="0"/>
              </a:spcAft>
              <a:buFont typeface="Wingdings"/>
              <a:buChar char=""/>
              <a:defRPr/>
            </a:pPr>
            <a:r>
              <a:rPr lang="en-US" sz="2000" dirty="0">
                <a:solidFill>
                  <a:schemeClr val="accent2"/>
                </a:solidFill>
              </a:rPr>
              <a:t>Memory access time.</a:t>
            </a:r>
          </a:p>
          <a:p>
            <a:pPr marL="731520" lvl="1" indent="-274320" eaLnBrk="1" fontAlgn="auto" hangingPunct="1">
              <a:lnSpc>
                <a:spcPct val="200000"/>
              </a:lnSpc>
              <a:spcAft>
                <a:spcPts val="0"/>
              </a:spcAft>
              <a:buFont typeface="Wingdings"/>
              <a:buChar char=""/>
              <a:defRPr/>
            </a:pPr>
            <a:r>
              <a:rPr lang="en-US" sz="2000" dirty="0">
                <a:solidFill>
                  <a:schemeClr val="accent2"/>
                </a:solidFill>
              </a:rPr>
              <a:t>Memory cycle time.</a:t>
            </a:r>
          </a:p>
          <a:p>
            <a:pPr marL="438912" indent="-320040" eaLnBrk="1" fontAlgn="auto" hangingPunct="1">
              <a:lnSpc>
                <a:spcPct val="200000"/>
              </a:lnSpc>
              <a:spcBef>
                <a:spcPts val="0"/>
              </a:spcBef>
              <a:spcAft>
                <a:spcPts val="0"/>
              </a:spcAft>
              <a:buFont typeface="Wingdings 2"/>
              <a:buChar char=""/>
              <a:defRPr/>
            </a:pPr>
            <a:r>
              <a:rPr lang="en-US" sz="2000" dirty="0"/>
              <a:t>An important design issue is to </a:t>
            </a:r>
            <a:r>
              <a:rPr lang="en-US" sz="2000" dirty="0">
                <a:solidFill>
                  <a:schemeClr val="tx1"/>
                </a:solidFill>
              </a:rPr>
              <a:t>provide a computer system with as large and fast a memory as possible, within a given cost target.</a:t>
            </a:r>
          </a:p>
          <a:p>
            <a:pPr marL="438912" indent="-320040" eaLnBrk="1" fontAlgn="auto" hangingPunct="1">
              <a:lnSpc>
                <a:spcPct val="200000"/>
              </a:lnSpc>
              <a:spcBef>
                <a:spcPts val="0"/>
              </a:spcBef>
              <a:spcAft>
                <a:spcPts val="0"/>
              </a:spcAft>
              <a:buFont typeface="Wingdings 2"/>
              <a:buChar char=""/>
              <a:defRPr/>
            </a:pPr>
            <a:r>
              <a:rPr lang="en-US" sz="2000" dirty="0">
                <a:solidFill>
                  <a:schemeClr val="tx1"/>
                </a:solidFill>
              </a:rPr>
              <a:t>Several techniques to increase the effective size and speed of the memory:</a:t>
            </a:r>
          </a:p>
          <a:p>
            <a:pPr marL="731520" lvl="1" indent="-274320" eaLnBrk="1" fontAlgn="auto" hangingPunct="1">
              <a:lnSpc>
                <a:spcPct val="200000"/>
              </a:lnSpc>
              <a:spcAft>
                <a:spcPts val="0"/>
              </a:spcAft>
              <a:buFont typeface="Wingdings"/>
              <a:buChar char=""/>
              <a:defRPr/>
            </a:pPr>
            <a:r>
              <a:rPr lang="en-US" sz="2000" dirty="0"/>
              <a:t>Cache memory (to increase the effective speed).</a:t>
            </a:r>
          </a:p>
          <a:p>
            <a:pPr marL="731520" lvl="1" indent="-274320" eaLnBrk="1" fontAlgn="auto" hangingPunct="1">
              <a:lnSpc>
                <a:spcPct val="200000"/>
              </a:lnSpc>
              <a:spcAft>
                <a:spcPts val="0"/>
              </a:spcAft>
              <a:buFont typeface="Wingdings"/>
              <a:buChar char=""/>
              <a:defRPr/>
            </a:pPr>
            <a:r>
              <a:rPr lang="en-US" sz="2000" dirty="0"/>
              <a:t>Virtual memory (to increase the effective size).</a:t>
            </a:r>
          </a:p>
          <a:p>
            <a:pPr marL="731520" lvl="1" indent="-274320" eaLnBrk="1" fontAlgn="auto" hangingPunct="1">
              <a:spcAft>
                <a:spcPts val="0"/>
              </a:spcAft>
              <a:buFont typeface="Wingdings"/>
              <a:buChar char=""/>
              <a:defRPr/>
            </a:pPr>
            <a:endParaRPr lang="en-US" sz="2000" dirty="0">
              <a:solidFill>
                <a:schemeClr val="accent2"/>
              </a:solidFill>
            </a:endParaRPr>
          </a:p>
          <a:p>
            <a:pPr marL="438912" indent="-320040" eaLnBrk="1" fontAlgn="auto" hangingPunct="1">
              <a:spcBef>
                <a:spcPts val="0"/>
              </a:spcBef>
              <a:spcAft>
                <a:spcPts val="0"/>
              </a:spcAft>
              <a:buFont typeface="Wingdings 2"/>
              <a:buChar char=""/>
              <a:defRPr/>
            </a:pPr>
            <a:endParaRPr lang="en-US" sz="2000" dirty="0"/>
          </a:p>
        </p:txBody>
      </p:sp>
    </p:spTree>
    <p:extLst>
      <p:ext uri="{BB962C8B-B14F-4D97-AF65-F5344CB8AC3E}">
        <p14:creationId xmlns:p14="http://schemas.microsoft.com/office/powerpoint/2010/main" val="4213777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782" y="228600"/>
            <a:ext cx="8534400" cy="762000"/>
          </a:xfrm>
        </p:spPr>
        <p:txBody>
          <a:bodyPr>
            <a:normAutofit/>
          </a:bodyPr>
          <a:lstStyle/>
          <a:p>
            <a:r>
              <a:rPr lang="en-US" sz="3600" b="1"/>
              <a:t>Memory Hierarchy / Multilevel Memory</a:t>
            </a:r>
          </a:p>
        </p:txBody>
      </p:sp>
      <p:sp>
        <p:nvSpPr>
          <p:cNvPr id="3" name="Content Placeholder 2"/>
          <p:cNvSpPr>
            <a:spLocks noGrp="1"/>
          </p:cNvSpPr>
          <p:nvPr>
            <p:ph sz="quarter" idx="1"/>
          </p:nvPr>
        </p:nvSpPr>
        <p:spPr>
          <a:xfrm>
            <a:off x="152400" y="1066800"/>
            <a:ext cx="8839200" cy="5715000"/>
          </a:xfrm>
        </p:spPr>
        <p:txBody>
          <a:bodyPr>
            <a:normAutofit/>
          </a:bodyPr>
          <a:lstStyle/>
          <a:p>
            <a:pPr algn="just"/>
            <a:r>
              <a:rPr lang="en-US"/>
              <a:t>Memory unit is essential component of digital computer since it is needed for storing programs and data. </a:t>
            </a:r>
          </a:p>
          <a:p>
            <a:pPr algn="just"/>
            <a:r>
              <a:rPr lang="en-US"/>
              <a:t>Memory unit that communicates directly with CPU is called Main memory.</a:t>
            </a:r>
          </a:p>
          <a:p>
            <a:pPr algn="just"/>
            <a:r>
              <a:rPr lang="en-US"/>
              <a:t>Devices that provide backup storage is called auxiliary memory.</a:t>
            </a:r>
          </a:p>
          <a:p>
            <a:pPr algn="just"/>
            <a:r>
              <a:rPr lang="en-US"/>
              <a:t>Only programs and data currently needed by processor reside in the main memory. </a:t>
            </a:r>
          </a:p>
          <a:p>
            <a:pPr algn="just"/>
            <a:r>
              <a:rPr lang="en-US"/>
              <a:t>All other information is stored in auxiliary memory and transferred to main memory when needed.</a:t>
            </a:r>
          </a:p>
        </p:txBody>
      </p:sp>
    </p:spTree>
    <p:extLst>
      <p:ext uri="{BB962C8B-B14F-4D97-AF65-F5344CB8AC3E}">
        <p14:creationId xmlns:p14="http://schemas.microsoft.com/office/powerpoint/2010/main" val="665132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Main Memory</a:t>
            </a:r>
          </a:p>
        </p:txBody>
      </p:sp>
      <p:sp>
        <p:nvSpPr>
          <p:cNvPr id="3" name="Content Placeholder 2"/>
          <p:cNvSpPr>
            <a:spLocks noGrp="1"/>
          </p:cNvSpPr>
          <p:nvPr>
            <p:ph sz="quarter" idx="1"/>
          </p:nvPr>
        </p:nvSpPr>
        <p:spPr>
          <a:xfrm>
            <a:off x="0" y="1295400"/>
            <a:ext cx="8991600" cy="5562600"/>
          </a:xfrm>
        </p:spPr>
        <p:txBody>
          <a:bodyPr/>
          <a:lstStyle/>
          <a:p>
            <a:pPr algn="just"/>
            <a:r>
              <a:rPr lang="en-US"/>
              <a:t>It is the memory used to store programs and data during the computer operation. </a:t>
            </a:r>
          </a:p>
          <a:p>
            <a:pPr algn="just"/>
            <a:r>
              <a:rPr lang="en-US"/>
              <a:t>The principal technology is based on semiconductor integrated circuits. </a:t>
            </a:r>
          </a:p>
          <a:p>
            <a:pPr algn="just"/>
            <a:r>
              <a:rPr lang="en-US"/>
              <a:t>It consists of RAM and ROM chips. </a:t>
            </a:r>
          </a:p>
          <a:p>
            <a:pPr algn="just"/>
            <a:r>
              <a:rPr lang="en-US"/>
              <a:t>RAM chips are available in two form static and dynamic.</a:t>
            </a:r>
          </a:p>
        </p:txBody>
      </p:sp>
    </p:spTree>
    <p:extLst>
      <p:ext uri="{BB962C8B-B14F-4D97-AF65-F5344CB8AC3E}">
        <p14:creationId xmlns:p14="http://schemas.microsoft.com/office/powerpoint/2010/main" val="86115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374" y="781879"/>
            <a:ext cx="7447722" cy="5539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9826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Main Memory</a:t>
            </a:r>
          </a:p>
        </p:txBody>
      </p:sp>
      <p:sp>
        <p:nvSpPr>
          <p:cNvPr id="3" name="Content Placeholder 2"/>
          <p:cNvSpPr>
            <a:spLocks noGrp="1"/>
          </p:cNvSpPr>
          <p:nvPr>
            <p:ph sz="quarter" idx="1"/>
          </p:nvPr>
        </p:nvSpPr>
        <p:spPr>
          <a:xfrm>
            <a:off x="0" y="1295400"/>
            <a:ext cx="8991600" cy="5562600"/>
          </a:xfrm>
        </p:spPr>
        <p:txBody>
          <a:bodyPr/>
          <a:lstStyle/>
          <a:p>
            <a:pPr algn="just"/>
            <a:r>
              <a:rPr lang="en-US" dirty="0"/>
              <a:t>ROM  uses Read Only Mode. </a:t>
            </a:r>
          </a:p>
          <a:p>
            <a:pPr algn="just"/>
            <a:r>
              <a:rPr lang="en-US" dirty="0"/>
              <a:t>It is used for storing programs that are permanent and the tables of constants that do not change.</a:t>
            </a:r>
          </a:p>
          <a:p>
            <a:pPr algn="just"/>
            <a:r>
              <a:rPr lang="en-US" dirty="0"/>
              <a:t>ROM store program called bootstrap loader whose function is to start the computer software when the power is turned on. </a:t>
            </a:r>
          </a:p>
          <a:p>
            <a:pPr algn="just"/>
            <a:r>
              <a:rPr lang="en-US" dirty="0"/>
              <a:t>When the power is turned on, the hardware of the computer sets the program counter to the first address of the bootstrap loader</a:t>
            </a:r>
          </a:p>
        </p:txBody>
      </p:sp>
    </p:spTree>
    <p:extLst>
      <p:ext uri="{BB962C8B-B14F-4D97-AF65-F5344CB8AC3E}">
        <p14:creationId xmlns:p14="http://schemas.microsoft.com/office/powerpoint/2010/main" val="875538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p:cNvPicPr>
            <a:picLocks noGrp="1" noChangeAspect="1" noChangeArrowheads="1"/>
          </p:cNvPicPr>
          <p:nvPr>
            <p:ph sz="quarter" idx="1"/>
          </p:nvPr>
        </p:nvPicPr>
        <p:blipFill rotWithShape="1">
          <a:blip r:embed="rId2">
            <a:extLst>
              <a:ext uri="{28A0092B-C50C-407E-A947-70E740481C1C}">
                <a14:useLocalDpi xmlns:a14="http://schemas.microsoft.com/office/drawing/2010/main" val="0"/>
              </a:ext>
            </a:extLst>
          </a:blip>
          <a:srcRect l="35888" t="44233" r="17988" b="28217"/>
          <a:stretch/>
        </p:blipFill>
        <p:spPr bwMode="auto">
          <a:xfrm>
            <a:off x="381000" y="381000"/>
            <a:ext cx="8478058" cy="5562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9644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Hierarchy</a:t>
            </a:r>
          </a:p>
        </p:txBody>
      </p:sp>
      <p:pic>
        <p:nvPicPr>
          <p:cNvPr id="4"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245704" y="1904744"/>
            <a:ext cx="5383951" cy="4350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75958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t> Memory  Hierarchy(Levels of memory) </a:t>
            </a:r>
            <a:endParaRPr lang="en-US" dirty="0"/>
          </a:p>
        </p:txBody>
      </p:sp>
      <p:sp>
        <p:nvSpPr>
          <p:cNvPr id="3" name="Content Placeholder 2"/>
          <p:cNvSpPr>
            <a:spLocks noGrp="1"/>
          </p:cNvSpPr>
          <p:nvPr>
            <p:ph sz="quarter" idx="1"/>
          </p:nvPr>
        </p:nvSpPr>
        <p:spPr>
          <a:xfrm>
            <a:off x="152400" y="1143000"/>
            <a:ext cx="8839200" cy="5410200"/>
          </a:xfrm>
        </p:spPr>
        <p:txBody>
          <a:bodyPr>
            <a:normAutofit/>
          </a:bodyPr>
          <a:lstStyle/>
          <a:p>
            <a:pPr lvl="0" algn="just" fontAlgn="base"/>
            <a:r>
              <a:rPr lang="en-US" b="1" dirty="0"/>
              <a:t>Level 1 or Register : </a:t>
            </a:r>
            <a:r>
              <a:rPr lang="en-US" dirty="0"/>
              <a:t>Data is stored and accepted that are immediately stored in CPU. Most commonly used registers are accumulator, Program counter, address register etc.</a:t>
            </a:r>
          </a:p>
          <a:p>
            <a:pPr lvl="0" algn="just" fontAlgn="base"/>
            <a:r>
              <a:rPr lang="en-US" b="1" dirty="0"/>
              <a:t>Level 2 or Cache memory:  </a:t>
            </a:r>
            <a:r>
              <a:rPr lang="en-US" dirty="0"/>
              <a:t>Fastest memory which has faster access time where data is temporarily stored.</a:t>
            </a:r>
          </a:p>
          <a:p>
            <a:pPr lvl="0" algn="just" fontAlgn="base"/>
            <a:r>
              <a:rPr lang="en-US" b="1" dirty="0"/>
              <a:t>Level 3 or Main Memory: M</a:t>
            </a:r>
            <a:r>
              <a:rPr lang="en-US" dirty="0"/>
              <a:t>emory on which computer works currently. It is small in size and once power is off data no longer stays in this memory.</a:t>
            </a:r>
          </a:p>
          <a:p>
            <a:pPr lvl="0" algn="just" fontAlgn="base"/>
            <a:r>
              <a:rPr lang="en-US" b="1" dirty="0"/>
              <a:t>Level 4 or Secondary Memory: E</a:t>
            </a:r>
            <a:r>
              <a:rPr lang="en-US" dirty="0"/>
              <a:t>xternal memory which is not as fast as main memory but larger and data stays permanently in this memory.</a:t>
            </a:r>
          </a:p>
          <a:p>
            <a:endParaRPr lang="en-US" dirty="0"/>
          </a:p>
        </p:txBody>
      </p:sp>
    </p:spTree>
    <p:extLst>
      <p:ext uri="{BB962C8B-B14F-4D97-AF65-F5344CB8AC3E}">
        <p14:creationId xmlns:p14="http://schemas.microsoft.com/office/powerpoint/2010/main" val="3827052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a:t>Cache Memory (Levels of memory) </a:t>
            </a:r>
            <a:endParaRPr lang="en-US"/>
          </a:p>
        </p:txBody>
      </p:sp>
      <p:pic>
        <p:nvPicPr>
          <p:cNvPr id="2050" name="Picture 2"/>
          <p:cNvPicPr>
            <a:picLocks noGrp="1" noChangeAspect="1" noChangeArrowheads="1"/>
          </p:cNvPicPr>
          <p:nvPr>
            <p:ph sz="quarter" idx="1"/>
          </p:nvPr>
        </p:nvPicPr>
        <p:blipFill>
          <a:blip r:embed="rId2">
            <a:duotone>
              <a:prstClr val="black"/>
              <a:schemeClr val="accent3">
                <a:tint val="45000"/>
                <a:satMod val="400000"/>
              </a:schemeClr>
            </a:duotone>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bwMode="auto">
          <a:xfrm>
            <a:off x="1304437" y="2414403"/>
            <a:ext cx="6992326" cy="2638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1086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a:t>Cache Memory </a:t>
            </a:r>
            <a:endParaRPr lang="en-US"/>
          </a:p>
        </p:txBody>
      </p:sp>
      <p:sp>
        <p:nvSpPr>
          <p:cNvPr id="3" name="Content Placeholder 2"/>
          <p:cNvSpPr>
            <a:spLocks noGrp="1"/>
          </p:cNvSpPr>
          <p:nvPr>
            <p:ph sz="quarter" idx="1"/>
          </p:nvPr>
        </p:nvSpPr>
        <p:spPr>
          <a:xfrm>
            <a:off x="76200" y="914400"/>
            <a:ext cx="8839200" cy="5943600"/>
          </a:xfrm>
        </p:spPr>
        <p:txBody>
          <a:bodyPr>
            <a:normAutofit/>
          </a:bodyPr>
          <a:lstStyle/>
          <a:p>
            <a:pPr algn="just" fontAlgn="base"/>
            <a:r>
              <a:rPr lang="en-US"/>
              <a:t>A special very high-speed memory. </a:t>
            </a:r>
          </a:p>
          <a:p>
            <a:pPr algn="just" fontAlgn="base"/>
            <a:r>
              <a:rPr lang="en-US"/>
              <a:t>Used to speed up and synchronizing with high-speed CPU.</a:t>
            </a:r>
          </a:p>
          <a:p>
            <a:pPr algn="just" fontAlgn="base"/>
            <a:r>
              <a:rPr lang="en-US"/>
              <a:t>Costlier than main memory or disk memory but economical than CPU registers. </a:t>
            </a:r>
          </a:p>
          <a:p>
            <a:pPr algn="just" fontAlgn="base"/>
            <a:r>
              <a:rPr lang="en-US"/>
              <a:t>Extremely fast memory type that acts as a buffer between RAM and the CPU. It holds frequently requested data and instructions so that they are immediately available to the CPU when needed.</a:t>
            </a:r>
          </a:p>
          <a:p>
            <a:pPr algn="just" fontAlgn="base"/>
            <a:r>
              <a:rPr lang="en-US"/>
              <a:t>Used to reduce the average time to access data from the Main memory. </a:t>
            </a:r>
          </a:p>
          <a:p>
            <a:pPr algn="just" fontAlgn="base"/>
            <a:r>
              <a:rPr lang="en-US"/>
              <a:t>Smaller and faster memory which stores copies of the data from frequently used main memory locations. </a:t>
            </a:r>
          </a:p>
          <a:p>
            <a:pPr algn="just" fontAlgn="base"/>
            <a:r>
              <a:rPr lang="en-US"/>
              <a:t>Various different independent caches in a CPU, which store instructions and data.</a:t>
            </a:r>
          </a:p>
        </p:txBody>
      </p:sp>
    </p:spTree>
    <p:extLst>
      <p:ext uri="{BB962C8B-B14F-4D97-AF65-F5344CB8AC3E}">
        <p14:creationId xmlns:p14="http://schemas.microsoft.com/office/powerpoint/2010/main" val="3386916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chemeClr val="tx1"/>
                </a:solidFill>
              </a:rPr>
              <a:t>Cache Memory Management</a:t>
            </a:r>
          </a:p>
        </p:txBody>
      </p:sp>
      <p:sp>
        <p:nvSpPr>
          <p:cNvPr id="3" name="Content Placeholder 2"/>
          <p:cNvSpPr>
            <a:spLocks noGrp="1"/>
          </p:cNvSpPr>
          <p:nvPr>
            <p:ph sz="quarter" idx="1"/>
          </p:nvPr>
        </p:nvSpPr>
        <p:spPr>
          <a:xfrm>
            <a:off x="381000" y="3810000"/>
            <a:ext cx="8458200" cy="2590800"/>
          </a:xfrm>
        </p:spPr>
        <p:txBody>
          <a:bodyPr rtlCol="0">
            <a:noAutofit/>
          </a:bodyPr>
          <a:lstStyle/>
          <a:p>
            <a:pPr marL="438912" indent="-320040" eaLnBrk="1" fontAlgn="auto" hangingPunct="1">
              <a:spcBef>
                <a:spcPts val="0"/>
              </a:spcBef>
              <a:spcAft>
                <a:spcPts val="0"/>
              </a:spcAft>
              <a:buFontTx/>
              <a:buChar char="•"/>
              <a:defRPr/>
            </a:pPr>
            <a:r>
              <a:rPr lang="en-US" sz="2000" i="1" dirty="0">
                <a:solidFill>
                  <a:schemeClr val="tx1"/>
                </a:solidFill>
              </a:rPr>
              <a:t>Processor issues a Read request, a block of words is transferred from the main memory  to the cache, one word at a time.</a:t>
            </a:r>
          </a:p>
          <a:p>
            <a:pPr marL="438912" indent="-320040" eaLnBrk="1" fontAlgn="auto" hangingPunct="1">
              <a:spcBef>
                <a:spcPts val="0"/>
              </a:spcBef>
              <a:spcAft>
                <a:spcPts val="0"/>
              </a:spcAft>
              <a:buFontTx/>
              <a:buChar char="•"/>
              <a:defRPr/>
            </a:pPr>
            <a:r>
              <a:rPr lang="en-US" sz="2000" i="1" dirty="0">
                <a:solidFill>
                  <a:schemeClr val="tx1"/>
                </a:solidFill>
              </a:rPr>
              <a:t>Subsequent references to the data in this block of words are found in the cache.</a:t>
            </a:r>
          </a:p>
          <a:p>
            <a:pPr marL="438912" indent="-320040" eaLnBrk="1" fontAlgn="auto" hangingPunct="1">
              <a:spcBef>
                <a:spcPts val="0"/>
              </a:spcBef>
              <a:spcAft>
                <a:spcPts val="0"/>
              </a:spcAft>
              <a:buFontTx/>
              <a:buChar char="•"/>
              <a:defRPr/>
            </a:pPr>
            <a:r>
              <a:rPr lang="en-US" sz="2000" i="1" dirty="0">
                <a:solidFill>
                  <a:schemeClr val="tx1"/>
                </a:solidFill>
              </a:rPr>
              <a:t>At any given time, only some blocks in the main memory are held in the cache. Which  blocks in the main memory are in the cache is determined by </a:t>
            </a:r>
            <a:r>
              <a:rPr lang="en-US" sz="2000" i="1" dirty="0">
                <a:solidFill>
                  <a:schemeClr val="accent2"/>
                </a:solidFill>
              </a:rPr>
              <a:t>a “</a:t>
            </a:r>
            <a:r>
              <a:rPr lang="en-US" sz="2000" i="1" u="sng" dirty="0">
                <a:solidFill>
                  <a:schemeClr val="accent2"/>
                </a:solidFill>
              </a:rPr>
              <a:t>mapping function”.</a:t>
            </a:r>
            <a:endParaRPr lang="en-US" sz="2000" i="1" dirty="0">
              <a:solidFill>
                <a:schemeClr val="accent2"/>
              </a:solidFill>
            </a:endParaRPr>
          </a:p>
          <a:p>
            <a:pPr marL="438912" indent="-320040" eaLnBrk="1" fontAlgn="auto" hangingPunct="1">
              <a:spcBef>
                <a:spcPts val="0"/>
              </a:spcBef>
              <a:spcAft>
                <a:spcPts val="0"/>
              </a:spcAft>
              <a:buFontTx/>
              <a:buChar char="•"/>
              <a:defRPr/>
            </a:pPr>
            <a:r>
              <a:rPr lang="en-US" sz="2000" i="1" dirty="0">
                <a:solidFill>
                  <a:schemeClr val="tx1"/>
                </a:solidFill>
              </a:rPr>
              <a:t>When the cache is full, and a block of words needs to be transferred </a:t>
            </a:r>
          </a:p>
          <a:p>
            <a:pPr marL="438912" indent="-320040" eaLnBrk="1" fontAlgn="auto" hangingPunct="1">
              <a:spcBef>
                <a:spcPts val="0"/>
              </a:spcBef>
              <a:spcAft>
                <a:spcPts val="0"/>
              </a:spcAft>
              <a:buFont typeface="Wingdings 2"/>
              <a:buNone/>
              <a:defRPr/>
            </a:pPr>
            <a:r>
              <a:rPr lang="en-US" sz="2000" i="1" dirty="0">
                <a:solidFill>
                  <a:schemeClr val="tx1"/>
                </a:solidFill>
              </a:rPr>
              <a:t>	from the main  memory, some block of words in the cache must be </a:t>
            </a:r>
          </a:p>
          <a:p>
            <a:pPr marL="438912" indent="-320040" eaLnBrk="1" fontAlgn="auto" hangingPunct="1">
              <a:spcBef>
                <a:spcPts val="0"/>
              </a:spcBef>
              <a:spcAft>
                <a:spcPts val="0"/>
              </a:spcAft>
              <a:buFont typeface="Wingdings 2"/>
              <a:buNone/>
              <a:defRPr/>
            </a:pPr>
            <a:r>
              <a:rPr lang="en-US" sz="2000" i="1" dirty="0">
                <a:solidFill>
                  <a:schemeClr val="tx1"/>
                </a:solidFill>
              </a:rPr>
              <a:t>	replaced. This is determined by a </a:t>
            </a:r>
            <a:r>
              <a:rPr lang="en-US" sz="2000" i="1" u="sng" dirty="0">
                <a:solidFill>
                  <a:schemeClr val="accent2"/>
                </a:solidFill>
              </a:rPr>
              <a:t>“replacement algorithm”.</a:t>
            </a:r>
            <a:endParaRPr lang="en-US" sz="2000" dirty="0"/>
          </a:p>
        </p:txBody>
      </p:sp>
      <p:grpSp>
        <p:nvGrpSpPr>
          <p:cNvPr id="34820" name="Group 20"/>
          <p:cNvGrpSpPr>
            <a:grpSpLocks/>
          </p:cNvGrpSpPr>
          <p:nvPr/>
        </p:nvGrpSpPr>
        <p:grpSpPr bwMode="auto">
          <a:xfrm>
            <a:off x="1752600" y="1774825"/>
            <a:ext cx="5705475" cy="1882775"/>
            <a:chOff x="1263650" y="1622425"/>
            <a:chExt cx="6499225" cy="2263775"/>
          </a:xfrm>
        </p:grpSpPr>
        <p:sp>
          <p:nvSpPr>
            <p:cNvPr id="34821" name="Freeform 4"/>
            <p:cNvSpPr>
              <a:spLocks/>
            </p:cNvSpPr>
            <p:nvPr/>
          </p:nvSpPr>
          <p:spPr bwMode="auto">
            <a:xfrm>
              <a:off x="2701925" y="2714625"/>
              <a:ext cx="160338" cy="79375"/>
            </a:xfrm>
            <a:custGeom>
              <a:avLst/>
              <a:gdLst>
                <a:gd name="T0" fmla="*/ 2147483647 w 6"/>
                <a:gd name="T1" fmla="*/ 0 h 3"/>
                <a:gd name="T2" fmla="*/ 0 w 6"/>
                <a:gd name="T3" fmla="*/ 700034568 h 3"/>
                <a:gd name="T4" fmla="*/ 2147483647 w 6"/>
                <a:gd name="T5" fmla="*/ 2100130368 h 3"/>
                <a:gd name="T6" fmla="*/ 2147483647 w 6"/>
                <a:gd name="T7" fmla="*/ 700034568 h 3"/>
                <a:gd name="T8" fmla="*/ 2147483647 w 6"/>
                <a:gd name="T9" fmla="*/ 0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6" y="0"/>
                  </a:moveTo>
                  <a:lnTo>
                    <a:pt x="0" y="1"/>
                  </a:lnTo>
                  <a:lnTo>
                    <a:pt x="6" y="3"/>
                  </a:lnTo>
                  <a:lnTo>
                    <a:pt x="6" y="1"/>
                  </a:lnTo>
                  <a:lnTo>
                    <a:pt x="6" y="0"/>
                  </a:lnTo>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822" name="Freeform 5"/>
            <p:cNvSpPr>
              <a:spLocks/>
            </p:cNvSpPr>
            <p:nvPr/>
          </p:nvSpPr>
          <p:spPr bwMode="auto">
            <a:xfrm>
              <a:off x="2701925" y="2714625"/>
              <a:ext cx="160338" cy="79375"/>
            </a:xfrm>
            <a:custGeom>
              <a:avLst/>
              <a:gdLst>
                <a:gd name="T0" fmla="*/ 254537391 w 101"/>
                <a:gd name="T1" fmla="*/ 0 h 50"/>
                <a:gd name="T2" fmla="*/ 0 w 101"/>
                <a:gd name="T3" fmla="*/ 40322500 h 50"/>
                <a:gd name="T4" fmla="*/ 254537391 w 101"/>
                <a:gd name="T5" fmla="*/ 126007824 h 50"/>
                <a:gd name="T6" fmla="*/ 254537391 w 101"/>
                <a:gd name="T7" fmla="*/ 40322500 h 50"/>
                <a:gd name="T8" fmla="*/ 254537391 w 101"/>
                <a:gd name="T9" fmla="*/ 0 h 50"/>
                <a:gd name="T10" fmla="*/ 0 60000 65536"/>
                <a:gd name="T11" fmla="*/ 0 60000 65536"/>
                <a:gd name="T12" fmla="*/ 0 60000 65536"/>
                <a:gd name="T13" fmla="*/ 0 60000 65536"/>
                <a:gd name="T14" fmla="*/ 0 60000 65536"/>
                <a:gd name="T15" fmla="*/ 0 w 101"/>
                <a:gd name="T16" fmla="*/ 0 h 50"/>
                <a:gd name="T17" fmla="*/ 101 w 101"/>
                <a:gd name="T18" fmla="*/ 50 h 50"/>
              </a:gdLst>
              <a:ahLst/>
              <a:cxnLst>
                <a:cxn ang="T10">
                  <a:pos x="T0" y="T1"/>
                </a:cxn>
                <a:cxn ang="T11">
                  <a:pos x="T2" y="T3"/>
                </a:cxn>
                <a:cxn ang="T12">
                  <a:pos x="T4" y="T5"/>
                </a:cxn>
                <a:cxn ang="T13">
                  <a:pos x="T6" y="T7"/>
                </a:cxn>
                <a:cxn ang="T14">
                  <a:pos x="T8" y="T9"/>
                </a:cxn>
              </a:cxnLst>
              <a:rect l="T15" t="T16" r="T17" b="T18"/>
              <a:pathLst>
                <a:path w="101" h="50">
                  <a:moveTo>
                    <a:pt x="101" y="0"/>
                  </a:moveTo>
                  <a:lnTo>
                    <a:pt x="0" y="16"/>
                  </a:lnTo>
                  <a:lnTo>
                    <a:pt x="101" y="50"/>
                  </a:lnTo>
                  <a:lnTo>
                    <a:pt x="101" y="16"/>
                  </a:lnTo>
                  <a:lnTo>
                    <a:pt x="101" y="0"/>
                  </a:lnTo>
                  <a:close/>
                </a:path>
              </a:pathLst>
            </a:cu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823" name="Freeform 6"/>
            <p:cNvSpPr>
              <a:spLocks/>
            </p:cNvSpPr>
            <p:nvPr/>
          </p:nvSpPr>
          <p:spPr bwMode="auto">
            <a:xfrm>
              <a:off x="3687763" y="2714625"/>
              <a:ext cx="185737" cy="79375"/>
            </a:xfrm>
            <a:custGeom>
              <a:avLst/>
              <a:gdLst>
                <a:gd name="T0" fmla="*/ 0 w 7"/>
                <a:gd name="T1" fmla="*/ 2100130368 h 3"/>
                <a:gd name="T2" fmla="*/ 2147483647 w 7"/>
                <a:gd name="T3" fmla="*/ 700034568 h 3"/>
                <a:gd name="T4" fmla="*/ 0 w 7"/>
                <a:gd name="T5" fmla="*/ 0 h 3"/>
                <a:gd name="T6" fmla="*/ 0 w 7"/>
                <a:gd name="T7" fmla="*/ 700034568 h 3"/>
                <a:gd name="T8" fmla="*/ 0 w 7"/>
                <a:gd name="T9" fmla="*/ 2100130368 h 3"/>
                <a:gd name="T10" fmla="*/ 0 60000 65536"/>
                <a:gd name="T11" fmla="*/ 0 60000 65536"/>
                <a:gd name="T12" fmla="*/ 0 60000 65536"/>
                <a:gd name="T13" fmla="*/ 0 60000 65536"/>
                <a:gd name="T14" fmla="*/ 0 60000 65536"/>
                <a:gd name="T15" fmla="*/ 0 w 7"/>
                <a:gd name="T16" fmla="*/ 0 h 3"/>
                <a:gd name="T17" fmla="*/ 7 w 7"/>
                <a:gd name="T18" fmla="*/ 3 h 3"/>
              </a:gdLst>
              <a:ahLst/>
              <a:cxnLst>
                <a:cxn ang="T10">
                  <a:pos x="T0" y="T1"/>
                </a:cxn>
                <a:cxn ang="T11">
                  <a:pos x="T2" y="T3"/>
                </a:cxn>
                <a:cxn ang="T12">
                  <a:pos x="T4" y="T5"/>
                </a:cxn>
                <a:cxn ang="T13">
                  <a:pos x="T6" y="T7"/>
                </a:cxn>
                <a:cxn ang="T14">
                  <a:pos x="T8" y="T9"/>
                </a:cxn>
              </a:cxnLst>
              <a:rect l="T15" t="T16" r="T17" b="T18"/>
              <a:pathLst>
                <a:path w="7" h="3">
                  <a:moveTo>
                    <a:pt x="0" y="3"/>
                  </a:moveTo>
                  <a:lnTo>
                    <a:pt x="7" y="1"/>
                  </a:lnTo>
                  <a:lnTo>
                    <a:pt x="0" y="0"/>
                  </a:lnTo>
                  <a:lnTo>
                    <a:pt x="0" y="1"/>
                  </a:lnTo>
                  <a:lnTo>
                    <a:pt x="0" y="3"/>
                  </a:lnTo>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824" name="Freeform 7"/>
            <p:cNvSpPr>
              <a:spLocks/>
            </p:cNvSpPr>
            <p:nvPr/>
          </p:nvSpPr>
          <p:spPr bwMode="auto">
            <a:xfrm>
              <a:off x="3687763" y="2714625"/>
              <a:ext cx="185737" cy="79375"/>
            </a:xfrm>
            <a:custGeom>
              <a:avLst/>
              <a:gdLst>
                <a:gd name="T0" fmla="*/ 0 w 117"/>
                <a:gd name="T1" fmla="*/ 126007824 h 50"/>
                <a:gd name="T2" fmla="*/ 294856716 w 117"/>
                <a:gd name="T3" fmla="*/ 40322500 h 50"/>
                <a:gd name="T4" fmla="*/ 0 w 117"/>
                <a:gd name="T5" fmla="*/ 0 h 50"/>
                <a:gd name="T6" fmla="*/ 0 w 117"/>
                <a:gd name="T7" fmla="*/ 40322500 h 50"/>
                <a:gd name="T8" fmla="*/ 0 w 117"/>
                <a:gd name="T9" fmla="*/ 126007824 h 50"/>
                <a:gd name="T10" fmla="*/ 0 60000 65536"/>
                <a:gd name="T11" fmla="*/ 0 60000 65536"/>
                <a:gd name="T12" fmla="*/ 0 60000 65536"/>
                <a:gd name="T13" fmla="*/ 0 60000 65536"/>
                <a:gd name="T14" fmla="*/ 0 60000 65536"/>
                <a:gd name="T15" fmla="*/ 0 w 117"/>
                <a:gd name="T16" fmla="*/ 0 h 50"/>
                <a:gd name="T17" fmla="*/ 117 w 117"/>
                <a:gd name="T18" fmla="*/ 50 h 50"/>
              </a:gdLst>
              <a:ahLst/>
              <a:cxnLst>
                <a:cxn ang="T10">
                  <a:pos x="T0" y="T1"/>
                </a:cxn>
                <a:cxn ang="T11">
                  <a:pos x="T2" y="T3"/>
                </a:cxn>
                <a:cxn ang="T12">
                  <a:pos x="T4" y="T5"/>
                </a:cxn>
                <a:cxn ang="T13">
                  <a:pos x="T6" y="T7"/>
                </a:cxn>
                <a:cxn ang="T14">
                  <a:pos x="T8" y="T9"/>
                </a:cxn>
              </a:cxnLst>
              <a:rect l="T15" t="T16" r="T17" b="T18"/>
              <a:pathLst>
                <a:path w="117" h="50">
                  <a:moveTo>
                    <a:pt x="0" y="50"/>
                  </a:moveTo>
                  <a:lnTo>
                    <a:pt x="117" y="16"/>
                  </a:lnTo>
                  <a:lnTo>
                    <a:pt x="0" y="0"/>
                  </a:lnTo>
                  <a:lnTo>
                    <a:pt x="0" y="16"/>
                  </a:lnTo>
                  <a:lnTo>
                    <a:pt x="0" y="50"/>
                  </a:lnTo>
                  <a:close/>
                </a:path>
              </a:pathLst>
            </a:cu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825" name="Line 8"/>
            <p:cNvSpPr>
              <a:spLocks noChangeShapeType="1"/>
            </p:cNvSpPr>
            <p:nvPr/>
          </p:nvSpPr>
          <p:spPr bwMode="auto">
            <a:xfrm flipH="1">
              <a:off x="2887663" y="2740025"/>
              <a:ext cx="800100" cy="158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6" name="Freeform 9"/>
            <p:cNvSpPr>
              <a:spLocks/>
            </p:cNvSpPr>
            <p:nvPr/>
          </p:nvSpPr>
          <p:spPr bwMode="auto">
            <a:xfrm>
              <a:off x="5180013" y="2714625"/>
              <a:ext cx="158750" cy="79375"/>
            </a:xfrm>
            <a:custGeom>
              <a:avLst/>
              <a:gdLst>
                <a:gd name="T0" fmla="*/ 2147483647 w 6"/>
                <a:gd name="T1" fmla="*/ 0 h 3"/>
                <a:gd name="T2" fmla="*/ 0 w 6"/>
                <a:gd name="T3" fmla="*/ 700034568 h 3"/>
                <a:gd name="T4" fmla="*/ 2147483647 w 6"/>
                <a:gd name="T5" fmla="*/ 2100130368 h 3"/>
                <a:gd name="T6" fmla="*/ 2147483647 w 6"/>
                <a:gd name="T7" fmla="*/ 700034568 h 3"/>
                <a:gd name="T8" fmla="*/ 2147483647 w 6"/>
                <a:gd name="T9" fmla="*/ 0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6" y="0"/>
                  </a:moveTo>
                  <a:lnTo>
                    <a:pt x="0" y="1"/>
                  </a:lnTo>
                  <a:lnTo>
                    <a:pt x="6" y="3"/>
                  </a:lnTo>
                  <a:lnTo>
                    <a:pt x="6" y="1"/>
                  </a:lnTo>
                  <a:lnTo>
                    <a:pt x="6" y="0"/>
                  </a:lnTo>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827" name="Freeform 10"/>
            <p:cNvSpPr>
              <a:spLocks/>
            </p:cNvSpPr>
            <p:nvPr/>
          </p:nvSpPr>
          <p:spPr bwMode="auto">
            <a:xfrm>
              <a:off x="5180013" y="2714625"/>
              <a:ext cx="158750" cy="79375"/>
            </a:xfrm>
            <a:custGeom>
              <a:avLst/>
              <a:gdLst>
                <a:gd name="T0" fmla="*/ 252015647 w 100"/>
                <a:gd name="T1" fmla="*/ 0 h 50"/>
                <a:gd name="T2" fmla="*/ 0 w 100"/>
                <a:gd name="T3" fmla="*/ 40322500 h 50"/>
                <a:gd name="T4" fmla="*/ 252015647 w 100"/>
                <a:gd name="T5" fmla="*/ 126007824 h 50"/>
                <a:gd name="T6" fmla="*/ 252015647 w 100"/>
                <a:gd name="T7" fmla="*/ 40322500 h 50"/>
                <a:gd name="T8" fmla="*/ 252015647 w 100"/>
                <a:gd name="T9" fmla="*/ 0 h 50"/>
                <a:gd name="T10" fmla="*/ 0 60000 65536"/>
                <a:gd name="T11" fmla="*/ 0 60000 65536"/>
                <a:gd name="T12" fmla="*/ 0 60000 65536"/>
                <a:gd name="T13" fmla="*/ 0 60000 65536"/>
                <a:gd name="T14" fmla="*/ 0 60000 65536"/>
                <a:gd name="T15" fmla="*/ 0 w 100"/>
                <a:gd name="T16" fmla="*/ 0 h 50"/>
                <a:gd name="T17" fmla="*/ 100 w 100"/>
                <a:gd name="T18" fmla="*/ 50 h 50"/>
              </a:gdLst>
              <a:ahLst/>
              <a:cxnLst>
                <a:cxn ang="T10">
                  <a:pos x="T0" y="T1"/>
                </a:cxn>
                <a:cxn ang="T11">
                  <a:pos x="T2" y="T3"/>
                </a:cxn>
                <a:cxn ang="T12">
                  <a:pos x="T4" y="T5"/>
                </a:cxn>
                <a:cxn ang="T13">
                  <a:pos x="T6" y="T7"/>
                </a:cxn>
                <a:cxn ang="T14">
                  <a:pos x="T8" y="T9"/>
                </a:cxn>
              </a:cxnLst>
              <a:rect l="T15" t="T16" r="T17" b="T18"/>
              <a:pathLst>
                <a:path w="100" h="50">
                  <a:moveTo>
                    <a:pt x="100" y="0"/>
                  </a:moveTo>
                  <a:lnTo>
                    <a:pt x="0" y="16"/>
                  </a:lnTo>
                  <a:lnTo>
                    <a:pt x="100" y="50"/>
                  </a:lnTo>
                  <a:lnTo>
                    <a:pt x="100" y="16"/>
                  </a:lnTo>
                  <a:lnTo>
                    <a:pt x="100" y="0"/>
                  </a:lnTo>
                  <a:close/>
                </a:path>
              </a:pathLst>
            </a:cu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828" name="Freeform 11"/>
            <p:cNvSpPr>
              <a:spLocks/>
            </p:cNvSpPr>
            <p:nvPr/>
          </p:nvSpPr>
          <p:spPr bwMode="auto">
            <a:xfrm>
              <a:off x="6164263" y="2714625"/>
              <a:ext cx="160337" cy="79375"/>
            </a:xfrm>
            <a:custGeom>
              <a:avLst/>
              <a:gdLst>
                <a:gd name="T0" fmla="*/ 0 w 6"/>
                <a:gd name="T1" fmla="*/ 2100130368 h 3"/>
                <a:gd name="T2" fmla="*/ 2147483647 w 6"/>
                <a:gd name="T3" fmla="*/ 700034568 h 3"/>
                <a:gd name="T4" fmla="*/ 0 w 6"/>
                <a:gd name="T5" fmla="*/ 0 h 3"/>
                <a:gd name="T6" fmla="*/ 0 w 6"/>
                <a:gd name="T7" fmla="*/ 700034568 h 3"/>
                <a:gd name="T8" fmla="*/ 0 w 6"/>
                <a:gd name="T9" fmla="*/ 2100130368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3"/>
                  </a:moveTo>
                  <a:lnTo>
                    <a:pt x="6" y="1"/>
                  </a:lnTo>
                  <a:lnTo>
                    <a:pt x="0" y="0"/>
                  </a:lnTo>
                  <a:lnTo>
                    <a:pt x="0" y="1"/>
                  </a:lnTo>
                  <a:lnTo>
                    <a:pt x="0" y="3"/>
                  </a:lnTo>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829" name="Freeform 12"/>
            <p:cNvSpPr>
              <a:spLocks/>
            </p:cNvSpPr>
            <p:nvPr/>
          </p:nvSpPr>
          <p:spPr bwMode="auto">
            <a:xfrm>
              <a:off x="6164263" y="2714625"/>
              <a:ext cx="160337" cy="79375"/>
            </a:xfrm>
            <a:custGeom>
              <a:avLst/>
              <a:gdLst>
                <a:gd name="T0" fmla="*/ 0 w 101"/>
                <a:gd name="T1" fmla="*/ 126007824 h 50"/>
                <a:gd name="T2" fmla="*/ 254534216 w 101"/>
                <a:gd name="T3" fmla="*/ 40322500 h 50"/>
                <a:gd name="T4" fmla="*/ 0 w 101"/>
                <a:gd name="T5" fmla="*/ 0 h 50"/>
                <a:gd name="T6" fmla="*/ 0 w 101"/>
                <a:gd name="T7" fmla="*/ 40322500 h 50"/>
                <a:gd name="T8" fmla="*/ 0 w 101"/>
                <a:gd name="T9" fmla="*/ 126007824 h 50"/>
                <a:gd name="T10" fmla="*/ 0 60000 65536"/>
                <a:gd name="T11" fmla="*/ 0 60000 65536"/>
                <a:gd name="T12" fmla="*/ 0 60000 65536"/>
                <a:gd name="T13" fmla="*/ 0 60000 65536"/>
                <a:gd name="T14" fmla="*/ 0 60000 65536"/>
                <a:gd name="T15" fmla="*/ 0 w 101"/>
                <a:gd name="T16" fmla="*/ 0 h 50"/>
                <a:gd name="T17" fmla="*/ 101 w 101"/>
                <a:gd name="T18" fmla="*/ 50 h 50"/>
              </a:gdLst>
              <a:ahLst/>
              <a:cxnLst>
                <a:cxn ang="T10">
                  <a:pos x="T0" y="T1"/>
                </a:cxn>
                <a:cxn ang="T11">
                  <a:pos x="T2" y="T3"/>
                </a:cxn>
                <a:cxn ang="T12">
                  <a:pos x="T4" y="T5"/>
                </a:cxn>
                <a:cxn ang="T13">
                  <a:pos x="T6" y="T7"/>
                </a:cxn>
                <a:cxn ang="T14">
                  <a:pos x="T8" y="T9"/>
                </a:cxn>
              </a:cxnLst>
              <a:rect l="T15" t="T16" r="T17" b="T18"/>
              <a:pathLst>
                <a:path w="101" h="50">
                  <a:moveTo>
                    <a:pt x="0" y="50"/>
                  </a:moveTo>
                  <a:lnTo>
                    <a:pt x="101" y="16"/>
                  </a:lnTo>
                  <a:lnTo>
                    <a:pt x="0" y="0"/>
                  </a:lnTo>
                  <a:lnTo>
                    <a:pt x="0" y="16"/>
                  </a:lnTo>
                  <a:lnTo>
                    <a:pt x="0" y="50"/>
                  </a:lnTo>
                  <a:close/>
                </a:path>
              </a:pathLst>
            </a:cu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830" name="Line 13"/>
            <p:cNvSpPr>
              <a:spLocks noChangeShapeType="1"/>
            </p:cNvSpPr>
            <p:nvPr/>
          </p:nvSpPr>
          <p:spPr bwMode="auto">
            <a:xfrm flipH="1">
              <a:off x="5338763" y="2740025"/>
              <a:ext cx="800100" cy="158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1" name="Rectangle 14"/>
            <p:cNvSpPr>
              <a:spLocks noChangeArrowheads="1"/>
            </p:cNvSpPr>
            <p:nvPr/>
          </p:nvSpPr>
          <p:spPr bwMode="auto">
            <a:xfrm>
              <a:off x="4219575" y="2581275"/>
              <a:ext cx="6000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Nimbus Roman No9 L"/>
                </a:rPr>
                <a:t>Cache</a:t>
              </a:r>
              <a:endParaRPr lang="en-CA" altLang="en-US" sz="2400">
                <a:latin typeface="Corbel" panose="020B0503020204020204" pitchFamily="34" charset="0"/>
              </a:endParaRPr>
            </a:p>
          </p:txBody>
        </p:sp>
        <p:sp>
          <p:nvSpPr>
            <p:cNvPr id="34832" name="Rectangle 15"/>
            <p:cNvSpPr>
              <a:spLocks noChangeArrowheads="1"/>
            </p:cNvSpPr>
            <p:nvPr/>
          </p:nvSpPr>
          <p:spPr bwMode="auto">
            <a:xfrm>
              <a:off x="1263650" y="1622425"/>
              <a:ext cx="1411288" cy="2263775"/>
            </a:xfrm>
            <a:prstGeom prst="rect">
              <a:avLst/>
            </a:prstGeom>
            <a:noFill/>
            <a:ln w="269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34833" name="Rectangle 16"/>
            <p:cNvSpPr>
              <a:spLocks noChangeArrowheads="1"/>
            </p:cNvSpPr>
            <p:nvPr/>
          </p:nvSpPr>
          <p:spPr bwMode="auto">
            <a:xfrm>
              <a:off x="6804025" y="2420937"/>
              <a:ext cx="5080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Nimbus Roman No9 L"/>
                </a:rPr>
                <a:t>Main</a:t>
              </a:r>
              <a:endParaRPr lang="en-CA" altLang="en-US" sz="2400">
                <a:latin typeface="Corbel" panose="020B0503020204020204" pitchFamily="34" charset="0"/>
              </a:endParaRPr>
            </a:p>
          </p:txBody>
        </p:sp>
        <p:sp>
          <p:nvSpPr>
            <p:cNvPr id="34834" name="Rectangle 17"/>
            <p:cNvSpPr>
              <a:spLocks noChangeArrowheads="1"/>
            </p:cNvSpPr>
            <p:nvPr/>
          </p:nvSpPr>
          <p:spPr bwMode="auto">
            <a:xfrm>
              <a:off x="6670675" y="2714625"/>
              <a:ext cx="8032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Nimbus Roman No9 L"/>
                </a:rPr>
                <a:t>memory</a:t>
              </a:r>
              <a:endParaRPr lang="en-CA" altLang="en-US" sz="2400">
                <a:latin typeface="Corbel" panose="020B0503020204020204" pitchFamily="34" charset="0"/>
              </a:endParaRPr>
            </a:p>
          </p:txBody>
        </p:sp>
        <p:sp>
          <p:nvSpPr>
            <p:cNvPr id="34835" name="Rectangle 18"/>
            <p:cNvSpPr>
              <a:spLocks noChangeArrowheads="1"/>
            </p:cNvSpPr>
            <p:nvPr/>
          </p:nvSpPr>
          <p:spPr bwMode="auto">
            <a:xfrm>
              <a:off x="1350451" y="2581275"/>
              <a:ext cx="93821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Nimbus Roman No9 L"/>
                </a:rPr>
                <a:t>Processor</a:t>
              </a:r>
              <a:endParaRPr lang="en-CA" altLang="en-US" sz="2400">
                <a:latin typeface="Corbel" panose="020B0503020204020204" pitchFamily="34" charset="0"/>
              </a:endParaRPr>
            </a:p>
          </p:txBody>
        </p:sp>
        <p:sp>
          <p:nvSpPr>
            <p:cNvPr id="34836" name="Rectangle 19"/>
            <p:cNvSpPr>
              <a:spLocks noChangeArrowheads="1"/>
            </p:cNvSpPr>
            <p:nvPr/>
          </p:nvSpPr>
          <p:spPr bwMode="auto">
            <a:xfrm>
              <a:off x="3900488" y="2128837"/>
              <a:ext cx="1225550" cy="1223963"/>
            </a:xfrm>
            <a:prstGeom prst="rect">
              <a:avLst/>
            </a:prstGeom>
            <a:noFill/>
            <a:ln w="269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34837" name="Rectangle 20"/>
            <p:cNvSpPr>
              <a:spLocks noChangeArrowheads="1"/>
            </p:cNvSpPr>
            <p:nvPr/>
          </p:nvSpPr>
          <p:spPr bwMode="auto">
            <a:xfrm>
              <a:off x="6351588" y="1622425"/>
              <a:ext cx="1411287" cy="2263775"/>
            </a:xfrm>
            <a:prstGeom prst="rect">
              <a:avLst/>
            </a:prstGeom>
            <a:noFill/>
            <a:ln w="269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grpSp>
    </p:spTree>
    <p:extLst>
      <p:ext uri="{BB962C8B-B14F-4D97-AF65-F5344CB8AC3E}">
        <p14:creationId xmlns:p14="http://schemas.microsoft.com/office/powerpoint/2010/main" val="160267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sz="4800" dirty="0">
                <a:solidFill>
                  <a:schemeClr val="tx1"/>
                </a:solidFill>
              </a:rPr>
              <a:t>Locality of Reference</a:t>
            </a:r>
          </a:p>
        </p:txBody>
      </p:sp>
      <p:sp>
        <p:nvSpPr>
          <p:cNvPr id="3" name="Content Placeholder 2"/>
          <p:cNvSpPr>
            <a:spLocks noGrp="1"/>
          </p:cNvSpPr>
          <p:nvPr>
            <p:ph sz="quarter" idx="1"/>
          </p:nvPr>
        </p:nvSpPr>
        <p:spPr>
          <a:xfrm>
            <a:off x="822959" y="1845734"/>
            <a:ext cx="8016241" cy="4023360"/>
          </a:xfrm>
        </p:spPr>
        <p:txBody>
          <a:bodyPr rtlCol="0">
            <a:normAutofit fontScale="92500" lnSpcReduction="10000"/>
          </a:bodyPr>
          <a:lstStyle/>
          <a:p>
            <a:pPr marL="438912" indent="-320040" eaLnBrk="1" fontAlgn="auto" hangingPunct="1">
              <a:lnSpc>
                <a:spcPct val="150000"/>
              </a:lnSpc>
              <a:spcBef>
                <a:spcPts val="0"/>
              </a:spcBef>
              <a:spcAft>
                <a:spcPts val="0"/>
              </a:spcAft>
              <a:buFont typeface="Wingdings 2"/>
              <a:buChar char=""/>
              <a:defRPr/>
            </a:pPr>
            <a:r>
              <a:rPr lang="en-US" dirty="0">
                <a:solidFill>
                  <a:schemeClr val="tx1"/>
                </a:solidFill>
              </a:rPr>
              <a:t>Analysis of programs indicates that many instructions in localized areas of a program are executed repeatedly during some period of time, while the others are accessed relatively less frequently. </a:t>
            </a:r>
          </a:p>
          <a:p>
            <a:pPr marL="438912" indent="-320040" eaLnBrk="1" fontAlgn="auto" hangingPunct="1">
              <a:lnSpc>
                <a:spcPct val="150000"/>
              </a:lnSpc>
              <a:spcBef>
                <a:spcPts val="0"/>
              </a:spcBef>
              <a:spcAft>
                <a:spcPts val="0"/>
              </a:spcAft>
              <a:buFont typeface="Wingdings 2"/>
              <a:buChar char=""/>
              <a:defRPr/>
            </a:pPr>
            <a:r>
              <a:rPr lang="en-US" dirty="0">
                <a:solidFill>
                  <a:schemeClr val="accent2"/>
                </a:solidFill>
              </a:rPr>
              <a:t>Temporal locality of reference:</a:t>
            </a:r>
            <a:endParaRPr lang="en-US" dirty="0"/>
          </a:p>
          <a:p>
            <a:pPr marL="731520" lvl="1" indent="-274320" eaLnBrk="1" fontAlgn="auto" hangingPunct="1">
              <a:lnSpc>
                <a:spcPct val="150000"/>
              </a:lnSpc>
              <a:spcAft>
                <a:spcPts val="0"/>
              </a:spcAft>
              <a:buFont typeface="Wingdings"/>
              <a:buChar char=""/>
              <a:defRPr/>
            </a:pPr>
            <a:r>
              <a:rPr lang="en-US" sz="1800" dirty="0"/>
              <a:t>Recently executed instruction is likely to be executed again very soon.</a:t>
            </a:r>
          </a:p>
          <a:p>
            <a:pPr marL="438912" indent="-320040" eaLnBrk="1" fontAlgn="auto" hangingPunct="1">
              <a:lnSpc>
                <a:spcPct val="150000"/>
              </a:lnSpc>
              <a:spcBef>
                <a:spcPts val="0"/>
              </a:spcBef>
              <a:spcAft>
                <a:spcPts val="0"/>
              </a:spcAft>
              <a:buFont typeface="Wingdings 2"/>
              <a:buChar char=""/>
              <a:defRPr/>
            </a:pPr>
            <a:r>
              <a:rPr lang="en-US" dirty="0">
                <a:solidFill>
                  <a:schemeClr val="accent2"/>
                </a:solidFill>
              </a:rPr>
              <a:t>Spatial locality of reference:</a:t>
            </a:r>
            <a:endParaRPr lang="en-US" dirty="0"/>
          </a:p>
          <a:p>
            <a:pPr marL="731520" lvl="1" indent="-274320" eaLnBrk="1" fontAlgn="auto" hangingPunct="1">
              <a:lnSpc>
                <a:spcPct val="150000"/>
              </a:lnSpc>
              <a:spcAft>
                <a:spcPts val="0"/>
              </a:spcAft>
              <a:buFont typeface="Wingdings"/>
              <a:buChar char=""/>
              <a:defRPr/>
            </a:pPr>
            <a:r>
              <a:rPr lang="en-US" sz="1800" dirty="0"/>
              <a:t>Instructions with addresses close to a recently instruction are likely </a:t>
            </a:r>
          </a:p>
          <a:p>
            <a:pPr marL="731520" lvl="1" indent="-274320" eaLnBrk="1" fontAlgn="auto" hangingPunct="1">
              <a:lnSpc>
                <a:spcPct val="150000"/>
              </a:lnSpc>
              <a:spcAft>
                <a:spcPts val="0"/>
              </a:spcAft>
              <a:buFont typeface="Wingdings"/>
              <a:buNone/>
              <a:defRPr/>
            </a:pPr>
            <a:r>
              <a:rPr lang="en-US" sz="1800" dirty="0"/>
              <a:t>	to be executed soon.</a:t>
            </a:r>
          </a:p>
          <a:p>
            <a:pPr marL="438912" indent="-320040" eaLnBrk="1" fontAlgn="auto" hangingPunct="1">
              <a:spcBef>
                <a:spcPts val="0"/>
              </a:spcBef>
              <a:spcAft>
                <a:spcPts val="0"/>
              </a:spcAft>
              <a:buFont typeface="Wingdings 2"/>
              <a:buChar char=""/>
              <a:defRPr/>
            </a:pPr>
            <a:endParaRPr lang="en-US" dirty="0"/>
          </a:p>
        </p:txBody>
      </p:sp>
    </p:spTree>
    <p:extLst>
      <p:ext uri="{BB962C8B-B14F-4D97-AF65-F5344CB8AC3E}">
        <p14:creationId xmlns:p14="http://schemas.microsoft.com/office/powerpoint/2010/main" val="3934472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Terminology</a:t>
            </a:r>
          </a:p>
        </p:txBody>
      </p:sp>
      <p:sp>
        <p:nvSpPr>
          <p:cNvPr id="3" name="Content Placeholder 2"/>
          <p:cNvSpPr>
            <a:spLocks noGrp="1"/>
          </p:cNvSpPr>
          <p:nvPr>
            <p:ph sz="quarter" idx="1"/>
          </p:nvPr>
        </p:nvSpPr>
        <p:spPr>
          <a:xfrm>
            <a:off x="152400" y="1295400"/>
            <a:ext cx="8839200" cy="5410200"/>
          </a:xfrm>
        </p:spPr>
        <p:txBody>
          <a:bodyPr>
            <a:normAutofit/>
          </a:bodyPr>
          <a:lstStyle/>
          <a:p>
            <a:pPr algn="just"/>
            <a:r>
              <a:rPr lang="en-US" dirty="0"/>
              <a:t>Cache: memory closest to the processor in a memory hierarchy </a:t>
            </a:r>
          </a:p>
          <a:p>
            <a:pPr algn="just"/>
            <a:r>
              <a:rPr lang="en-US" dirty="0"/>
              <a:t>Caching: any storage management technique exploiting locality </a:t>
            </a:r>
          </a:p>
          <a:p>
            <a:pPr algn="just"/>
            <a:r>
              <a:rPr lang="en-US" dirty="0"/>
              <a:t>Upper/lower level: memory closer/further from the processor </a:t>
            </a:r>
          </a:p>
          <a:p>
            <a:pPr algn="just"/>
            <a:r>
              <a:rPr lang="en-US" dirty="0"/>
              <a:t>Block: unit of memory transfer (block </a:t>
            </a:r>
            <a:r>
              <a:rPr lang="en-US"/>
              <a:t>of words) </a:t>
            </a:r>
            <a:r>
              <a:rPr lang="en-US" dirty="0"/>
              <a:t>between two levels in a memory hierarchy. Also called a </a:t>
            </a:r>
            <a:r>
              <a:rPr lang="en-US" b="1" dirty="0"/>
              <a:t>cache line /index</a:t>
            </a:r>
          </a:p>
        </p:txBody>
      </p:sp>
    </p:spTree>
    <p:extLst>
      <p:ext uri="{BB962C8B-B14F-4D97-AF65-F5344CB8AC3E}">
        <p14:creationId xmlns:p14="http://schemas.microsoft.com/office/powerpoint/2010/main" val="3122181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a:t>Cache Performance</a:t>
            </a:r>
            <a:endParaRPr lang="en-US"/>
          </a:p>
        </p:txBody>
      </p:sp>
      <p:sp>
        <p:nvSpPr>
          <p:cNvPr id="3" name="Content Placeholder 2"/>
          <p:cNvSpPr>
            <a:spLocks noGrp="1"/>
          </p:cNvSpPr>
          <p:nvPr>
            <p:ph sz="quarter" idx="1"/>
          </p:nvPr>
        </p:nvSpPr>
        <p:spPr>
          <a:xfrm>
            <a:off x="152400" y="990600"/>
            <a:ext cx="8839200" cy="5715000"/>
          </a:xfrm>
        </p:spPr>
        <p:txBody>
          <a:bodyPr>
            <a:normAutofit/>
          </a:bodyPr>
          <a:lstStyle/>
          <a:p>
            <a:pPr lvl="0" fontAlgn="base"/>
            <a:r>
              <a:rPr lang="en-US" b="1" dirty="0"/>
              <a:t>Cache hit: </a:t>
            </a:r>
            <a:r>
              <a:rPr lang="en-US" dirty="0"/>
              <a:t>If the processor finds  the memory location it is searching</a:t>
            </a:r>
          </a:p>
          <a:p>
            <a:pPr lvl="0" fontAlgn="base"/>
            <a:r>
              <a:rPr lang="en-US" b="1" dirty="0"/>
              <a:t>Cache miss: </a:t>
            </a:r>
            <a:r>
              <a:rPr lang="en-US" dirty="0"/>
              <a:t>If the processor </a:t>
            </a:r>
            <a:r>
              <a:rPr lang="en-US" b="1" dirty="0"/>
              <a:t>does not</a:t>
            </a:r>
            <a:r>
              <a:rPr lang="en-US" dirty="0"/>
              <a:t> find the intended memory location </a:t>
            </a:r>
          </a:p>
          <a:p>
            <a:pPr lvl="0" fontAlgn="base"/>
            <a:r>
              <a:rPr lang="en-US" dirty="0"/>
              <a:t>The performance of cache memory is frequently measured in terms of a quantity called </a:t>
            </a:r>
            <a:r>
              <a:rPr lang="en-US" b="1" dirty="0"/>
              <a:t>Hit ratio.</a:t>
            </a:r>
          </a:p>
          <a:p>
            <a:pPr lvl="0" fontAlgn="base"/>
            <a:endParaRPr lang="en-US" b="1" dirty="0"/>
          </a:p>
          <a:p>
            <a:pPr marL="0" lvl="0" indent="0" fontAlgn="base">
              <a:buNone/>
            </a:pPr>
            <a:r>
              <a:rPr lang="en-US" sz="2800" b="1" dirty="0"/>
              <a:t>Hit ratio = hit / (hit + miss)=  Number of hits/total accesses</a:t>
            </a:r>
          </a:p>
          <a:p>
            <a:pPr marL="0" lvl="0" indent="0" fontAlgn="base">
              <a:buNone/>
            </a:pPr>
            <a:endParaRPr lang="en-US" sz="2800" b="1" dirty="0"/>
          </a:p>
          <a:p>
            <a:pPr fontAlgn="base"/>
            <a:r>
              <a:rPr lang="en-US" sz="2800" b="1" dirty="0"/>
              <a:t>Miss penalty :</a:t>
            </a:r>
            <a:r>
              <a:rPr lang="en-US" sz="2800" dirty="0"/>
              <a:t> time to move a block from a lower level in the hierarchy and satisfy the processor’s request</a:t>
            </a:r>
          </a:p>
          <a:p>
            <a:pPr fontAlgn="base"/>
            <a:endParaRPr lang="en-US" sz="2800" b="1" dirty="0"/>
          </a:p>
          <a:p>
            <a:endParaRPr lang="en-US" dirty="0"/>
          </a:p>
        </p:txBody>
      </p:sp>
    </p:spTree>
    <p:extLst>
      <p:ext uri="{BB962C8B-B14F-4D97-AF65-F5344CB8AC3E}">
        <p14:creationId xmlns:p14="http://schemas.microsoft.com/office/powerpoint/2010/main" val="11282067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fontScale="90000"/>
          </a:bodyPr>
          <a:lstStyle/>
          <a:p>
            <a:r>
              <a:rPr lang="en-US" b="1"/>
              <a:t>Cache Access Time</a:t>
            </a:r>
          </a:p>
        </p:txBody>
      </p:sp>
      <p:sp>
        <p:nvSpPr>
          <p:cNvPr id="3" name="Content Placeholder 2"/>
          <p:cNvSpPr>
            <a:spLocks noGrp="1"/>
          </p:cNvSpPr>
          <p:nvPr>
            <p:ph sz="quarter" idx="1"/>
          </p:nvPr>
        </p:nvSpPr>
        <p:spPr>
          <a:xfrm>
            <a:off x="152400" y="990600"/>
            <a:ext cx="8839200" cy="5715000"/>
          </a:xfrm>
        </p:spPr>
        <p:txBody>
          <a:bodyPr>
            <a:normAutofit/>
          </a:bodyPr>
          <a:lstStyle/>
          <a:p>
            <a:pPr fontAlgn="base"/>
            <a:endParaRPr lang="en-US" sz="2800" b="1"/>
          </a:p>
          <a:p>
            <a:endParaRPr lang="en-US"/>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7402" t="21627" r="46455" b="48215"/>
          <a:stretch/>
        </p:blipFill>
        <p:spPr bwMode="auto">
          <a:xfrm>
            <a:off x="1854200" y="685800"/>
            <a:ext cx="5522491"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a:spLocks noChangeArrowheads="1"/>
          </p:cNvSpPr>
          <p:nvPr/>
        </p:nvSpPr>
        <p:spPr bwMode="auto">
          <a:xfrm>
            <a:off x="233945" y="3367464"/>
            <a:ext cx="8763000" cy="3570208"/>
          </a:xfrm>
          <a:prstGeom prst="rect">
            <a:avLst/>
          </a:prstGeom>
          <a:solidFill>
            <a:srgbClr val="EBEB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000000"/>
                </a:solidFill>
                <a:effectLst/>
                <a:latin typeface="Times New Roman" pitchFamily="18" charset="0"/>
                <a:cs typeface="Times New Roman" pitchFamily="18" charset="0"/>
              </a:rPr>
              <a:t>Effective access time is a standard effective average.</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000000"/>
              </a:solidFill>
              <a:effectLst/>
              <a:latin typeface="Arial Unicode MS" pitchFamily="34" charset="-128"/>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00"/>
                </a:solidFill>
                <a:effectLst/>
                <a:latin typeface="Arial Unicode MS" pitchFamily="34" charset="-128"/>
                <a:cs typeface="Arial" pitchFamily="34" charset="0"/>
              </a:rPr>
              <a:t>effective-access-time = hit-rate * cache-access-time + miss-rate * lower-level-access-time</a:t>
            </a:r>
            <a:endParaRPr kumimoji="0" lang="en-US" altLang="en-US" sz="1200" b="1" i="0" u="none" strike="noStrike" cap="none" normalizeH="0" baseline="0" dirty="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1" u="none" strike="noStrike" cap="none" normalizeH="0" baseline="0" dirty="0">
              <a:ln>
                <a:noFill/>
              </a:ln>
              <a:solidFill>
                <a:srgbClr val="000000"/>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1" u="none" strike="noStrike" cap="none" normalizeH="0" baseline="0" dirty="0">
                <a:ln>
                  <a:noFill/>
                </a:ln>
                <a:solidFill>
                  <a:srgbClr val="000000"/>
                </a:solidFill>
                <a:effectLst/>
                <a:latin typeface="Times New Roman" pitchFamily="18" charset="0"/>
                <a:cs typeface="Times New Roman" pitchFamily="18" charset="0"/>
              </a:rPr>
              <a:t>Miss penalty</a:t>
            </a:r>
            <a:r>
              <a:rPr kumimoji="0" lang="en-US" altLang="en-US" sz="3200" b="0" i="0" u="none" strike="noStrike" cap="none" normalizeH="0" baseline="0" dirty="0">
                <a:ln>
                  <a:noFill/>
                </a:ln>
                <a:solidFill>
                  <a:srgbClr val="000000"/>
                </a:solidFill>
                <a:effectLst/>
                <a:latin typeface="Times New Roman" pitchFamily="18" charset="0"/>
                <a:cs typeface="Times New Roman" pitchFamily="18" charset="0"/>
              </a:rPr>
              <a:t> is defined as the difference between lower level access time and cache access time. </a:t>
            </a:r>
            <a:endParaRPr lang="en-US" altLang="en-US" sz="3200" dirty="0">
              <a:solidFill>
                <a:srgbClr val="000000"/>
              </a:solidFill>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b="1" dirty="0">
              <a:solidFill>
                <a:srgbClr val="000000"/>
              </a:solidFill>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Arial Unicode MS" pitchFamily="34" charset="-128"/>
              </a:rPr>
              <a:t>effective-access-time = hit rate * cache-access-time + miss-rate * miss-penalty</a:t>
            </a:r>
            <a:r>
              <a:rPr kumimoji="0" lang="en-US" altLang="en-US" sz="1600" b="1"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1106691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sz="quarter" idx="1"/>
          </p:nvPr>
        </p:nvPicPr>
        <p:blipFill>
          <a:blip r:embed="rId2">
            <a:lum bright="-20000" contrast="40000"/>
            <a:extLst>
              <a:ext uri="{28A0092B-C50C-407E-A947-70E740481C1C}">
                <a14:useLocalDpi xmlns:a14="http://schemas.microsoft.com/office/drawing/2010/main" val="0"/>
              </a:ext>
            </a:extLst>
          </a:blip>
          <a:stretch>
            <a:fillRect/>
          </a:stretch>
        </p:blipFill>
        <p:spPr bwMode="auto">
          <a:xfrm>
            <a:off x="914400" y="1762540"/>
            <a:ext cx="7772400" cy="2239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46951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a:t>Cache Mapping</a:t>
            </a:r>
            <a:endParaRPr lang="en-US"/>
          </a:p>
        </p:txBody>
      </p:sp>
      <p:sp>
        <p:nvSpPr>
          <p:cNvPr id="3" name="Content Placeholder 2"/>
          <p:cNvSpPr>
            <a:spLocks noGrp="1"/>
          </p:cNvSpPr>
          <p:nvPr>
            <p:ph sz="quarter" idx="1"/>
          </p:nvPr>
        </p:nvSpPr>
        <p:spPr>
          <a:xfrm>
            <a:off x="152400" y="1143000"/>
            <a:ext cx="8839200" cy="5410200"/>
          </a:xfrm>
        </p:spPr>
        <p:txBody>
          <a:bodyPr>
            <a:normAutofit/>
          </a:bodyPr>
          <a:lstStyle/>
          <a:p>
            <a:pPr lvl="0" fontAlgn="base"/>
            <a:r>
              <a:rPr lang="en-US"/>
              <a:t>Direct mapping, Associative mapping, and Set-Associative mapping</a:t>
            </a:r>
          </a:p>
        </p:txBody>
      </p:sp>
    </p:spTree>
    <p:extLst>
      <p:ext uri="{BB962C8B-B14F-4D97-AF65-F5344CB8AC3E}">
        <p14:creationId xmlns:p14="http://schemas.microsoft.com/office/powerpoint/2010/main" val="3255901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849" y="1905000"/>
            <a:ext cx="8815551" cy="290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3"/>
          <p:cNvSpPr>
            <a:spLocks noGrp="1"/>
          </p:cNvSpPr>
          <p:nvPr>
            <p:ph type="title"/>
          </p:nvPr>
        </p:nvSpPr>
        <p:spPr/>
        <p:txBody>
          <a:bodyPr>
            <a:normAutofit fontScale="90000"/>
          </a:bodyPr>
          <a:lstStyle/>
          <a:p>
            <a:r>
              <a:rPr lang="en-US"/>
              <a:t>Three types of cache memory mapping</a:t>
            </a:r>
          </a:p>
        </p:txBody>
      </p:sp>
      <p:sp>
        <p:nvSpPr>
          <p:cNvPr id="5" name="Content Placeholder 4"/>
          <p:cNvSpPr>
            <a:spLocks noGrp="1"/>
          </p:cNvSpPr>
          <p:nvPr>
            <p:ph sz="quarter" idx="1"/>
          </p:nvPr>
        </p:nvSpPr>
        <p:spPr/>
        <p:txBody>
          <a:bodyPr/>
          <a:lstStyle/>
          <a:p>
            <a:endParaRPr lang="en-US"/>
          </a:p>
        </p:txBody>
      </p:sp>
    </p:spTree>
    <p:extLst>
      <p:ext uri="{BB962C8B-B14F-4D97-AF65-F5344CB8AC3E}">
        <p14:creationId xmlns:p14="http://schemas.microsoft.com/office/powerpoint/2010/main" val="6869971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a:t>Three types of cache memory mapping</a:t>
            </a:r>
          </a:p>
        </p:txBody>
      </p:sp>
      <p:sp>
        <p:nvSpPr>
          <p:cNvPr id="5" name="Content Placeholder 4"/>
          <p:cNvSpPr>
            <a:spLocks noGrp="1"/>
          </p:cNvSpPr>
          <p:nvPr>
            <p:ph sz="quarter" idx="1"/>
          </p:nvPr>
        </p:nvSpPr>
        <p:spPr>
          <a:xfrm>
            <a:off x="228600" y="1143000"/>
            <a:ext cx="8763000" cy="5562600"/>
          </a:xfrm>
        </p:spPr>
        <p:txBody>
          <a:bodyPr>
            <a:normAutofit fontScale="92500"/>
          </a:bodyPr>
          <a:lstStyle/>
          <a:p>
            <a:pPr algn="just"/>
            <a:r>
              <a:rPr lang="en-US" sz="3300"/>
              <a:t>In a fully associative cache every memory location can be cached in any cache line. This memory type significantly decreases amount of cache-line misses, considered as complex type of cache memory implementation.</a:t>
            </a:r>
          </a:p>
          <a:p>
            <a:pPr algn="just"/>
            <a:r>
              <a:rPr lang="en-US" sz="3300"/>
              <a:t>In direct-mapped cache memory location maps to a single cache line. It can be used once per address per amount of time. Performance of this cache memory type is lower than others.</a:t>
            </a:r>
          </a:p>
          <a:p>
            <a:pPr algn="just"/>
            <a:r>
              <a:rPr lang="en-US" sz="3300"/>
              <a:t>In N-way-set-associative cache, the most common cache implementation, memory address can be stored in any N lines of cache.</a:t>
            </a:r>
          </a:p>
        </p:txBody>
      </p:sp>
    </p:spTree>
    <p:extLst>
      <p:ext uri="{BB962C8B-B14F-4D97-AF65-F5344CB8AC3E}">
        <p14:creationId xmlns:p14="http://schemas.microsoft.com/office/powerpoint/2010/main" val="90379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p>
            <a:r>
              <a:rPr lang="en-US" b="1"/>
              <a:t>Cache Mapping: Direct mapping</a:t>
            </a:r>
          </a:p>
        </p:txBody>
      </p:sp>
      <p:sp>
        <p:nvSpPr>
          <p:cNvPr id="3" name="Content Placeholder 2"/>
          <p:cNvSpPr>
            <a:spLocks noGrp="1"/>
          </p:cNvSpPr>
          <p:nvPr>
            <p:ph sz="quarter" idx="1"/>
          </p:nvPr>
        </p:nvSpPr>
        <p:spPr>
          <a:xfrm>
            <a:off x="152400" y="1143000"/>
            <a:ext cx="8839200" cy="5410200"/>
          </a:xfrm>
        </p:spPr>
        <p:txBody>
          <a:bodyPr>
            <a:normAutofit/>
          </a:bodyPr>
          <a:lstStyle/>
          <a:p>
            <a:pPr lvl="0" algn="just" fontAlgn="base"/>
            <a:r>
              <a:rPr lang="en-US" dirty="0"/>
              <a:t>Maps each block of main memory into only one possible cache line.</a:t>
            </a:r>
          </a:p>
          <a:p>
            <a:pPr lvl="0" algn="just" fontAlgn="base"/>
            <a:r>
              <a:rPr lang="en-US" dirty="0"/>
              <a:t>Index =Line number = block number </a:t>
            </a:r>
          </a:p>
          <a:p>
            <a:pPr lvl="0" algn="just" fontAlgn="base"/>
            <a:endParaRPr lang="en-US" dirty="0"/>
          </a:p>
        </p:txBody>
      </p:sp>
      <p:pic>
        <p:nvPicPr>
          <p:cNvPr id="3074" name="Picture 2"/>
          <p:cNvPicPr>
            <a:picLocks noChangeAspect="1" noChangeArrowheads="1"/>
          </p:cNvPicPr>
          <p:nvPr/>
        </p:nvPicPr>
        <p:blipFill>
          <a:blip r:embed="rId2">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152400" y="2819400"/>
            <a:ext cx="8897994"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102854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Blocks in a Direct-Mapped cache</a:t>
            </a:r>
            <a:endParaRPr lang="en-US"/>
          </a:p>
        </p:txBody>
      </p:sp>
      <p:sp>
        <p:nvSpPr>
          <p:cNvPr id="3" name="Content Placeholder 2"/>
          <p:cNvSpPr>
            <a:spLocks noGrp="1"/>
          </p:cNvSpPr>
          <p:nvPr>
            <p:ph sz="quarter" idx="1"/>
          </p:nvPr>
        </p:nvSpPr>
        <p:spPr/>
        <p:txBody>
          <a:bodyPr>
            <a:normAutofit fontScale="92500" lnSpcReduction="20000"/>
          </a:bodyPr>
          <a:lstStyle/>
          <a:p>
            <a:pPr marL="0" indent="0">
              <a:buNone/>
            </a:pPr>
            <a:r>
              <a:rPr lang="en-US" sz="2000" b="1" dirty="0"/>
              <a:t>One block</a:t>
            </a:r>
            <a:r>
              <a:rPr lang="en-US" sz="2000" dirty="0"/>
              <a:t> = the </a:t>
            </a:r>
            <a:r>
              <a:rPr lang="en-US" sz="2000" b="1" i="1" dirty="0"/>
              <a:t>whole</a:t>
            </a:r>
            <a:r>
              <a:rPr lang="en-US" sz="2000" b="1" dirty="0"/>
              <a:t> cache</a:t>
            </a:r>
            <a:r>
              <a:rPr lang="en-US" sz="2000" dirty="0"/>
              <a:t> </a:t>
            </a:r>
          </a:p>
        </p:txBody>
      </p:sp>
      <p:sp>
        <p:nvSpPr>
          <p:cNvPr id="4" name="Content Placeholder 3"/>
          <p:cNvSpPr>
            <a:spLocks noGrp="1"/>
          </p:cNvSpPr>
          <p:nvPr>
            <p:ph sz="quarter" idx="2"/>
          </p:nvPr>
        </p:nvSpPr>
        <p:spPr/>
        <p:txBody>
          <a:bodyPr>
            <a:normAutofit fontScale="92500" lnSpcReduction="20000"/>
          </a:bodyPr>
          <a:lstStyle/>
          <a:p>
            <a:pPr marL="438912" indent="-320040">
              <a:lnSpc>
                <a:spcPct val="150000"/>
              </a:lnSpc>
              <a:spcBef>
                <a:spcPts val="0"/>
              </a:spcBef>
              <a:buFont typeface="Wingdings 2"/>
              <a:buChar char=""/>
              <a:defRPr/>
            </a:pPr>
            <a:r>
              <a:rPr lang="en-US" dirty="0"/>
              <a:t>A simple processor example:</a:t>
            </a:r>
          </a:p>
          <a:p>
            <a:pPr marL="731520" lvl="1" indent="-274320">
              <a:lnSpc>
                <a:spcPct val="150000"/>
              </a:lnSpc>
              <a:buFont typeface="Wingdings"/>
              <a:buChar char=""/>
              <a:defRPr/>
            </a:pPr>
            <a:r>
              <a:rPr lang="en-US" sz="1800" dirty="0"/>
              <a:t>Cache consisting of 128 blocks of 16 words each.</a:t>
            </a:r>
          </a:p>
          <a:p>
            <a:pPr marL="731520" lvl="1" indent="-274320">
              <a:lnSpc>
                <a:spcPct val="150000"/>
              </a:lnSpc>
              <a:buFont typeface="Wingdings"/>
              <a:buChar char=""/>
              <a:defRPr/>
            </a:pPr>
            <a:r>
              <a:rPr lang="en-US" sz="1800" dirty="0"/>
              <a:t>Total size of cache is 2048 (2K) words.</a:t>
            </a:r>
          </a:p>
          <a:p>
            <a:pPr marL="731520" lvl="1" indent="-274320">
              <a:lnSpc>
                <a:spcPct val="150000"/>
              </a:lnSpc>
              <a:buFont typeface="Wingdings"/>
              <a:buChar char=""/>
              <a:defRPr/>
            </a:pPr>
            <a:r>
              <a:rPr lang="en-US" sz="1800" dirty="0"/>
              <a:t>Main memory is addressable by a 16-bit address.</a:t>
            </a:r>
          </a:p>
          <a:p>
            <a:pPr marL="731520" lvl="1" indent="-274320">
              <a:lnSpc>
                <a:spcPct val="150000"/>
              </a:lnSpc>
              <a:buFont typeface="Wingdings"/>
              <a:buChar char=""/>
              <a:defRPr/>
            </a:pPr>
            <a:r>
              <a:rPr lang="en-US" sz="1800" dirty="0"/>
              <a:t>Main memory has 64K words. </a:t>
            </a:r>
          </a:p>
          <a:p>
            <a:pPr marL="731520" lvl="1" indent="-274320">
              <a:lnSpc>
                <a:spcPct val="150000"/>
              </a:lnSpc>
              <a:buFont typeface="Wingdings"/>
              <a:buChar char=""/>
              <a:defRPr/>
            </a:pPr>
            <a:r>
              <a:rPr lang="en-US" sz="1800" dirty="0"/>
              <a:t>Main memory has 4K blocks of 16 words each. </a:t>
            </a:r>
          </a:p>
          <a:p>
            <a:endParaRPr lang="en-US" dirty="0"/>
          </a:p>
        </p:txBody>
      </p:sp>
      <p:grpSp>
        <p:nvGrpSpPr>
          <p:cNvPr id="5" name="Group 120"/>
          <p:cNvGrpSpPr>
            <a:grpSpLocks/>
          </p:cNvGrpSpPr>
          <p:nvPr/>
        </p:nvGrpSpPr>
        <p:grpSpPr bwMode="auto">
          <a:xfrm>
            <a:off x="533400" y="1892298"/>
            <a:ext cx="3365500" cy="4737101"/>
            <a:chOff x="715963" y="1600200"/>
            <a:chExt cx="3365500" cy="5137150"/>
          </a:xfrm>
        </p:grpSpPr>
        <p:sp>
          <p:nvSpPr>
            <p:cNvPr id="6" name="Rectangle 116"/>
            <p:cNvSpPr>
              <a:spLocks noChangeArrowheads="1"/>
            </p:cNvSpPr>
            <p:nvPr/>
          </p:nvSpPr>
          <p:spPr bwMode="auto">
            <a:xfrm>
              <a:off x="1228726" y="2297113"/>
              <a:ext cx="1027112" cy="347662"/>
            </a:xfrm>
            <a:prstGeom prst="rect">
              <a:avLst/>
            </a:prstGeom>
            <a:solidFill>
              <a:schemeClr val="accent1">
                <a:lumMod val="20000"/>
                <a:lumOff val="80000"/>
              </a:schemeClr>
            </a:solidFill>
            <a:ln w="15875">
              <a:solidFill>
                <a:srgbClr val="000000"/>
              </a:solidFill>
              <a:miter lim="800000"/>
              <a:headEnd/>
              <a:tailEnd/>
            </a:ln>
          </p:spPr>
          <p:txBody>
            <a:bodyPr/>
            <a:lstStyle/>
            <a:p>
              <a:pPr fontAlgn="auto">
                <a:spcBef>
                  <a:spcPts val="0"/>
                </a:spcBef>
                <a:spcAft>
                  <a:spcPts val="0"/>
                </a:spcAft>
                <a:defRPr/>
              </a:pPr>
              <a:endParaRPr lang="en-US">
                <a:latin typeface="+mn-lt"/>
              </a:endParaRPr>
            </a:p>
          </p:txBody>
        </p:sp>
        <p:sp>
          <p:nvSpPr>
            <p:cNvPr id="7" name="Rectangle 4"/>
            <p:cNvSpPr>
              <a:spLocks noChangeArrowheads="1"/>
            </p:cNvSpPr>
            <p:nvPr/>
          </p:nvSpPr>
          <p:spPr bwMode="auto">
            <a:xfrm>
              <a:off x="3009901" y="1931988"/>
              <a:ext cx="1027112" cy="347662"/>
            </a:xfrm>
            <a:prstGeom prst="rect">
              <a:avLst/>
            </a:prstGeom>
            <a:solidFill>
              <a:schemeClr val="accent1">
                <a:lumMod val="40000"/>
                <a:lumOff val="60000"/>
              </a:schemeClr>
            </a:solidFill>
            <a:ln w="0">
              <a:solidFill>
                <a:srgbClr val="B2FFFF"/>
              </a:solidFill>
              <a:miter lim="800000"/>
              <a:headEnd/>
              <a:tailEnd/>
            </a:ln>
          </p:spPr>
          <p:txBody>
            <a:bodyPr/>
            <a:lstStyle/>
            <a:p>
              <a:pPr fontAlgn="auto">
                <a:spcBef>
                  <a:spcPts val="0"/>
                </a:spcBef>
                <a:spcAft>
                  <a:spcPts val="0"/>
                </a:spcAft>
                <a:defRPr/>
              </a:pPr>
              <a:endParaRPr lang="en-US">
                <a:latin typeface="+mn-lt"/>
              </a:endParaRPr>
            </a:p>
          </p:txBody>
        </p:sp>
        <p:sp>
          <p:nvSpPr>
            <p:cNvPr id="8" name="Rectangle 5"/>
            <p:cNvSpPr>
              <a:spLocks noChangeArrowheads="1"/>
            </p:cNvSpPr>
            <p:nvPr/>
          </p:nvSpPr>
          <p:spPr bwMode="auto">
            <a:xfrm>
              <a:off x="3009901" y="1600200"/>
              <a:ext cx="1027112" cy="331788"/>
            </a:xfrm>
            <a:prstGeom prst="rect">
              <a:avLst/>
            </a:prstGeom>
            <a:solidFill>
              <a:schemeClr val="accent1">
                <a:lumMod val="75000"/>
              </a:schemeClr>
            </a:solidFill>
            <a:ln w="0">
              <a:solidFill>
                <a:schemeClr val="accent1">
                  <a:lumMod val="50000"/>
                </a:schemeClr>
              </a:solidFill>
              <a:miter lim="800000"/>
              <a:headEnd/>
              <a:tailEnd/>
            </a:ln>
          </p:spPr>
          <p:txBody>
            <a:bodyPr/>
            <a:lstStyle/>
            <a:p>
              <a:pPr fontAlgn="auto">
                <a:spcBef>
                  <a:spcPts val="0"/>
                </a:spcBef>
                <a:spcAft>
                  <a:spcPts val="0"/>
                </a:spcAft>
                <a:defRPr/>
              </a:pPr>
              <a:endParaRPr lang="en-US">
                <a:latin typeface="+mn-lt"/>
              </a:endParaRPr>
            </a:p>
          </p:txBody>
        </p:sp>
        <p:sp>
          <p:nvSpPr>
            <p:cNvPr id="9" name="Rectangle 6"/>
            <p:cNvSpPr>
              <a:spLocks noChangeArrowheads="1"/>
            </p:cNvSpPr>
            <p:nvPr/>
          </p:nvSpPr>
          <p:spPr bwMode="auto">
            <a:xfrm>
              <a:off x="3009900" y="2960687"/>
              <a:ext cx="1027113" cy="347663"/>
            </a:xfrm>
            <a:prstGeom prst="rect">
              <a:avLst/>
            </a:prstGeom>
            <a:solidFill>
              <a:srgbClr val="808080"/>
            </a:solidFill>
            <a:ln w="0">
              <a:solidFill>
                <a:srgbClr val="80808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10" name="Rectangle 7"/>
            <p:cNvSpPr>
              <a:spLocks noChangeArrowheads="1"/>
            </p:cNvSpPr>
            <p:nvPr/>
          </p:nvSpPr>
          <p:spPr bwMode="auto">
            <a:xfrm>
              <a:off x="3009900" y="2960687"/>
              <a:ext cx="1027113" cy="347663"/>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11" name="Rectangle 8"/>
            <p:cNvSpPr>
              <a:spLocks noChangeArrowheads="1"/>
            </p:cNvSpPr>
            <p:nvPr/>
          </p:nvSpPr>
          <p:spPr bwMode="auto">
            <a:xfrm>
              <a:off x="3009901" y="3308350"/>
              <a:ext cx="1027112" cy="347663"/>
            </a:xfrm>
            <a:prstGeom prst="rect">
              <a:avLst/>
            </a:prstGeom>
            <a:solidFill>
              <a:schemeClr val="accent1">
                <a:lumMod val="75000"/>
              </a:schemeClr>
            </a:solidFill>
            <a:ln w="0">
              <a:solidFill>
                <a:schemeClr val="accent1">
                  <a:lumMod val="50000"/>
                </a:schemeClr>
              </a:solidFill>
              <a:miter lim="800000"/>
              <a:headEnd/>
              <a:tailEnd/>
            </a:ln>
          </p:spPr>
          <p:txBody>
            <a:bodyPr/>
            <a:lstStyle/>
            <a:p>
              <a:pPr fontAlgn="auto">
                <a:spcBef>
                  <a:spcPts val="0"/>
                </a:spcBef>
                <a:spcAft>
                  <a:spcPts val="0"/>
                </a:spcAft>
                <a:defRPr/>
              </a:pPr>
              <a:endParaRPr lang="en-US">
                <a:latin typeface="+mn-lt"/>
              </a:endParaRPr>
            </a:p>
          </p:txBody>
        </p:sp>
        <p:sp>
          <p:nvSpPr>
            <p:cNvPr id="12" name="Rectangle 9"/>
            <p:cNvSpPr>
              <a:spLocks noChangeArrowheads="1"/>
            </p:cNvSpPr>
            <p:nvPr/>
          </p:nvSpPr>
          <p:spPr bwMode="auto">
            <a:xfrm>
              <a:off x="3009901" y="3656013"/>
              <a:ext cx="1027112" cy="346075"/>
            </a:xfrm>
            <a:prstGeom prst="rect">
              <a:avLst/>
            </a:prstGeom>
            <a:solidFill>
              <a:schemeClr val="accent1">
                <a:lumMod val="40000"/>
                <a:lumOff val="60000"/>
              </a:schemeClr>
            </a:solidFill>
            <a:ln w="0">
              <a:solidFill>
                <a:schemeClr val="accent1">
                  <a:lumMod val="50000"/>
                </a:schemeClr>
              </a:solidFill>
              <a:miter lim="800000"/>
              <a:headEnd/>
              <a:tailEnd/>
            </a:ln>
          </p:spPr>
          <p:txBody>
            <a:bodyPr/>
            <a:lstStyle/>
            <a:p>
              <a:pPr fontAlgn="auto">
                <a:spcBef>
                  <a:spcPts val="0"/>
                </a:spcBef>
                <a:spcAft>
                  <a:spcPts val="0"/>
                </a:spcAft>
                <a:defRPr/>
              </a:pPr>
              <a:endParaRPr lang="en-US">
                <a:latin typeface="+mn-lt"/>
              </a:endParaRPr>
            </a:p>
          </p:txBody>
        </p:sp>
        <p:sp>
          <p:nvSpPr>
            <p:cNvPr id="13" name="Rectangle 10"/>
            <p:cNvSpPr>
              <a:spLocks noChangeArrowheads="1"/>
            </p:cNvSpPr>
            <p:nvPr/>
          </p:nvSpPr>
          <p:spPr bwMode="auto">
            <a:xfrm>
              <a:off x="3009900" y="4683125"/>
              <a:ext cx="1027113" cy="347662"/>
            </a:xfrm>
            <a:prstGeom prst="rect">
              <a:avLst/>
            </a:prstGeom>
            <a:solidFill>
              <a:srgbClr val="808080"/>
            </a:solidFill>
            <a:ln w="0">
              <a:solidFill>
                <a:srgbClr val="80808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14" name="Rectangle 11"/>
            <p:cNvSpPr>
              <a:spLocks noChangeArrowheads="1"/>
            </p:cNvSpPr>
            <p:nvPr/>
          </p:nvSpPr>
          <p:spPr bwMode="auto">
            <a:xfrm>
              <a:off x="3009900" y="4683125"/>
              <a:ext cx="1027113" cy="347662"/>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15" name="Rectangle 12"/>
            <p:cNvSpPr>
              <a:spLocks noChangeArrowheads="1"/>
            </p:cNvSpPr>
            <p:nvPr/>
          </p:nvSpPr>
          <p:spPr bwMode="auto">
            <a:xfrm>
              <a:off x="3009901" y="5030788"/>
              <a:ext cx="1027112" cy="331787"/>
            </a:xfrm>
            <a:prstGeom prst="rect">
              <a:avLst/>
            </a:prstGeom>
            <a:solidFill>
              <a:schemeClr val="accent1">
                <a:lumMod val="75000"/>
              </a:schemeClr>
            </a:solidFill>
            <a:ln w="0">
              <a:solidFill>
                <a:schemeClr val="accent1">
                  <a:lumMod val="50000"/>
                </a:schemeClr>
              </a:solidFill>
              <a:miter lim="800000"/>
              <a:headEnd/>
              <a:tailEnd/>
            </a:ln>
          </p:spPr>
          <p:txBody>
            <a:bodyPr/>
            <a:lstStyle/>
            <a:p>
              <a:pPr fontAlgn="auto">
                <a:spcBef>
                  <a:spcPts val="0"/>
                </a:spcBef>
                <a:spcAft>
                  <a:spcPts val="0"/>
                </a:spcAft>
                <a:defRPr/>
              </a:pPr>
              <a:endParaRPr lang="en-US">
                <a:latin typeface="+mn-lt"/>
              </a:endParaRPr>
            </a:p>
          </p:txBody>
        </p:sp>
        <p:sp>
          <p:nvSpPr>
            <p:cNvPr id="16" name="Rectangle 13"/>
            <p:cNvSpPr>
              <a:spLocks noChangeArrowheads="1"/>
            </p:cNvSpPr>
            <p:nvPr/>
          </p:nvSpPr>
          <p:spPr bwMode="auto">
            <a:xfrm>
              <a:off x="3009901" y="5362575"/>
              <a:ext cx="1027112" cy="347663"/>
            </a:xfrm>
            <a:prstGeom prst="rect">
              <a:avLst/>
            </a:prstGeom>
            <a:solidFill>
              <a:schemeClr val="accent1">
                <a:lumMod val="40000"/>
                <a:lumOff val="60000"/>
              </a:schemeClr>
            </a:solidFill>
            <a:ln w="0">
              <a:solidFill>
                <a:schemeClr val="accent1">
                  <a:lumMod val="50000"/>
                </a:schemeClr>
              </a:solidFill>
              <a:miter lim="800000"/>
              <a:headEnd/>
              <a:tailEnd/>
            </a:ln>
          </p:spPr>
          <p:txBody>
            <a:bodyPr/>
            <a:lstStyle/>
            <a:p>
              <a:pPr fontAlgn="auto">
                <a:spcBef>
                  <a:spcPts val="0"/>
                </a:spcBef>
                <a:spcAft>
                  <a:spcPts val="0"/>
                </a:spcAft>
                <a:defRPr/>
              </a:pPr>
              <a:endParaRPr lang="en-US">
                <a:latin typeface="+mn-lt"/>
              </a:endParaRPr>
            </a:p>
          </p:txBody>
        </p:sp>
        <p:sp>
          <p:nvSpPr>
            <p:cNvPr id="17" name="Rectangle 14"/>
            <p:cNvSpPr>
              <a:spLocks noChangeArrowheads="1"/>
            </p:cNvSpPr>
            <p:nvPr/>
          </p:nvSpPr>
          <p:spPr bwMode="auto">
            <a:xfrm>
              <a:off x="3009900" y="6389687"/>
              <a:ext cx="1027113" cy="347663"/>
            </a:xfrm>
            <a:prstGeom prst="rect">
              <a:avLst/>
            </a:prstGeom>
            <a:solidFill>
              <a:srgbClr val="808080"/>
            </a:solidFill>
            <a:ln w="0">
              <a:solidFill>
                <a:srgbClr val="80808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18" name="Rectangle 15"/>
            <p:cNvSpPr>
              <a:spLocks noChangeArrowheads="1"/>
            </p:cNvSpPr>
            <p:nvPr/>
          </p:nvSpPr>
          <p:spPr bwMode="auto">
            <a:xfrm>
              <a:off x="3009900" y="6389687"/>
              <a:ext cx="1027113" cy="347663"/>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grpSp>
          <p:nvGrpSpPr>
            <p:cNvPr id="19" name="Group 121"/>
            <p:cNvGrpSpPr>
              <a:grpSpLocks/>
            </p:cNvGrpSpPr>
            <p:nvPr/>
          </p:nvGrpSpPr>
          <p:grpSpPr bwMode="auto">
            <a:xfrm>
              <a:off x="2495550" y="1630362"/>
              <a:ext cx="463550" cy="288925"/>
              <a:chOff x="2827" y="530"/>
              <a:chExt cx="292" cy="182"/>
            </a:xfrm>
          </p:grpSpPr>
          <p:sp>
            <p:nvSpPr>
              <p:cNvPr id="115" name="Rectangle 27"/>
              <p:cNvSpPr>
                <a:spLocks noChangeArrowheads="1"/>
              </p:cNvSpPr>
              <p:nvPr/>
            </p:nvSpPr>
            <p:spPr bwMode="auto">
              <a:xfrm>
                <a:off x="2874" y="530"/>
                <a:ext cx="185"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Main</a:t>
                </a:r>
                <a:endParaRPr lang="en-CA" altLang="en-US" sz="2400">
                  <a:latin typeface="Corbel" panose="020B0503020204020204" pitchFamily="34" charset="0"/>
                </a:endParaRPr>
              </a:p>
            </p:txBody>
          </p:sp>
          <p:sp>
            <p:nvSpPr>
              <p:cNvPr id="116" name="Rectangle 28"/>
              <p:cNvSpPr>
                <a:spLocks noChangeArrowheads="1"/>
              </p:cNvSpPr>
              <p:nvPr/>
            </p:nvSpPr>
            <p:spPr bwMode="auto">
              <a:xfrm>
                <a:off x="2827" y="606"/>
                <a:ext cx="29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memory</a:t>
                </a:r>
                <a:endParaRPr lang="en-CA" altLang="en-US" sz="2400">
                  <a:latin typeface="Corbel" panose="020B0503020204020204" pitchFamily="34" charset="0"/>
                </a:endParaRPr>
              </a:p>
            </p:txBody>
          </p:sp>
        </p:grpSp>
        <p:sp>
          <p:nvSpPr>
            <p:cNvPr id="20" name="Rectangle 30"/>
            <p:cNvSpPr>
              <a:spLocks noChangeArrowheads="1"/>
            </p:cNvSpPr>
            <p:nvPr/>
          </p:nvSpPr>
          <p:spPr bwMode="auto">
            <a:xfrm>
              <a:off x="3084513" y="1676400"/>
              <a:ext cx="862012" cy="180975"/>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21" name="Rectangle 29"/>
            <p:cNvSpPr>
              <a:spLocks noChangeArrowheads="1"/>
            </p:cNvSpPr>
            <p:nvPr/>
          </p:nvSpPr>
          <p:spPr bwMode="auto">
            <a:xfrm>
              <a:off x="3084513" y="1676400"/>
              <a:ext cx="862012" cy="180975"/>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22" name="Rectangle 31"/>
            <p:cNvSpPr>
              <a:spLocks noChangeArrowheads="1"/>
            </p:cNvSpPr>
            <p:nvPr/>
          </p:nvSpPr>
          <p:spPr bwMode="auto">
            <a:xfrm>
              <a:off x="3084513" y="2024062"/>
              <a:ext cx="862012" cy="16510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23" name="Rectangle 32"/>
            <p:cNvSpPr>
              <a:spLocks noChangeArrowheads="1"/>
            </p:cNvSpPr>
            <p:nvPr/>
          </p:nvSpPr>
          <p:spPr bwMode="auto">
            <a:xfrm>
              <a:off x="3084513" y="2024062"/>
              <a:ext cx="862012" cy="165100"/>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24" name="Rectangle 33"/>
            <p:cNvSpPr>
              <a:spLocks noChangeArrowheads="1"/>
            </p:cNvSpPr>
            <p:nvPr/>
          </p:nvSpPr>
          <p:spPr bwMode="auto">
            <a:xfrm>
              <a:off x="3084513" y="3051175"/>
              <a:ext cx="862012" cy="180975"/>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25" name="Rectangle 34"/>
            <p:cNvSpPr>
              <a:spLocks noChangeArrowheads="1"/>
            </p:cNvSpPr>
            <p:nvPr/>
          </p:nvSpPr>
          <p:spPr bwMode="auto">
            <a:xfrm>
              <a:off x="3084513" y="3051175"/>
              <a:ext cx="862012" cy="180975"/>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26" name="Rectangle 35"/>
            <p:cNvSpPr>
              <a:spLocks noChangeArrowheads="1"/>
            </p:cNvSpPr>
            <p:nvPr/>
          </p:nvSpPr>
          <p:spPr bwMode="auto">
            <a:xfrm>
              <a:off x="3084513" y="3398837"/>
              <a:ext cx="862012" cy="16510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27" name="Rectangle 36"/>
            <p:cNvSpPr>
              <a:spLocks noChangeArrowheads="1"/>
            </p:cNvSpPr>
            <p:nvPr/>
          </p:nvSpPr>
          <p:spPr bwMode="auto">
            <a:xfrm>
              <a:off x="3084513" y="3398837"/>
              <a:ext cx="862012" cy="165100"/>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28" name="Rectangle 37"/>
            <p:cNvSpPr>
              <a:spLocks noChangeArrowheads="1"/>
            </p:cNvSpPr>
            <p:nvPr/>
          </p:nvSpPr>
          <p:spPr bwMode="auto">
            <a:xfrm>
              <a:off x="3084513" y="3746500"/>
              <a:ext cx="862012" cy="16510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29" name="Rectangle 38"/>
            <p:cNvSpPr>
              <a:spLocks noChangeArrowheads="1"/>
            </p:cNvSpPr>
            <p:nvPr/>
          </p:nvSpPr>
          <p:spPr bwMode="auto">
            <a:xfrm>
              <a:off x="3084513" y="3746500"/>
              <a:ext cx="862012" cy="165100"/>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30" name="Rectangle 39"/>
            <p:cNvSpPr>
              <a:spLocks noChangeArrowheads="1"/>
            </p:cNvSpPr>
            <p:nvPr/>
          </p:nvSpPr>
          <p:spPr bwMode="auto">
            <a:xfrm>
              <a:off x="3084513" y="4773612"/>
              <a:ext cx="862012" cy="166688"/>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31" name="Rectangle 40"/>
            <p:cNvSpPr>
              <a:spLocks noChangeArrowheads="1"/>
            </p:cNvSpPr>
            <p:nvPr/>
          </p:nvSpPr>
          <p:spPr bwMode="auto">
            <a:xfrm>
              <a:off x="3084513" y="4773612"/>
              <a:ext cx="862012" cy="166688"/>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32" name="Rectangle 41"/>
            <p:cNvSpPr>
              <a:spLocks noChangeArrowheads="1"/>
            </p:cNvSpPr>
            <p:nvPr/>
          </p:nvSpPr>
          <p:spPr bwMode="auto">
            <a:xfrm>
              <a:off x="3084513" y="5105400"/>
              <a:ext cx="862012" cy="182562"/>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33" name="Rectangle 42"/>
            <p:cNvSpPr>
              <a:spLocks noChangeArrowheads="1"/>
            </p:cNvSpPr>
            <p:nvPr/>
          </p:nvSpPr>
          <p:spPr bwMode="auto">
            <a:xfrm>
              <a:off x="3084513" y="5105400"/>
              <a:ext cx="862012" cy="182562"/>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34" name="Rectangle 43"/>
            <p:cNvSpPr>
              <a:spLocks noChangeArrowheads="1"/>
            </p:cNvSpPr>
            <p:nvPr/>
          </p:nvSpPr>
          <p:spPr bwMode="auto">
            <a:xfrm>
              <a:off x="3084513" y="5453062"/>
              <a:ext cx="862012" cy="166688"/>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35" name="Rectangle 44"/>
            <p:cNvSpPr>
              <a:spLocks noChangeArrowheads="1"/>
            </p:cNvSpPr>
            <p:nvPr/>
          </p:nvSpPr>
          <p:spPr bwMode="auto">
            <a:xfrm>
              <a:off x="3084513" y="5453062"/>
              <a:ext cx="862012" cy="166688"/>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36" name="Rectangle 45"/>
            <p:cNvSpPr>
              <a:spLocks noChangeArrowheads="1"/>
            </p:cNvSpPr>
            <p:nvPr/>
          </p:nvSpPr>
          <p:spPr bwMode="auto">
            <a:xfrm>
              <a:off x="3084513" y="6481762"/>
              <a:ext cx="862012" cy="16510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37" name="Rectangle 46"/>
            <p:cNvSpPr>
              <a:spLocks noChangeArrowheads="1"/>
            </p:cNvSpPr>
            <p:nvPr/>
          </p:nvSpPr>
          <p:spPr bwMode="auto">
            <a:xfrm>
              <a:off x="3084513" y="6481762"/>
              <a:ext cx="862012" cy="165100"/>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38" name="Rectangle 47"/>
            <p:cNvSpPr>
              <a:spLocks noChangeArrowheads="1"/>
            </p:cNvSpPr>
            <p:nvPr/>
          </p:nvSpPr>
          <p:spPr bwMode="auto">
            <a:xfrm>
              <a:off x="3311525" y="1674812"/>
              <a:ext cx="54662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0</a:t>
              </a:r>
              <a:endParaRPr lang="en-CA" altLang="en-US" sz="1200" b="1">
                <a:latin typeface="Corbel" panose="020B0503020204020204" pitchFamily="34" charset="0"/>
              </a:endParaRPr>
            </a:p>
          </p:txBody>
        </p:sp>
        <p:sp>
          <p:nvSpPr>
            <p:cNvPr id="39" name="Rectangle 48"/>
            <p:cNvSpPr>
              <a:spLocks noChangeArrowheads="1"/>
            </p:cNvSpPr>
            <p:nvPr/>
          </p:nvSpPr>
          <p:spPr bwMode="auto">
            <a:xfrm>
              <a:off x="3311525" y="2022475"/>
              <a:ext cx="54662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1</a:t>
              </a:r>
              <a:endParaRPr lang="en-CA" altLang="en-US" sz="1200" b="1">
                <a:latin typeface="Corbel" panose="020B0503020204020204" pitchFamily="34" charset="0"/>
              </a:endParaRPr>
            </a:p>
          </p:txBody>
        </p:sp>
        <p:sp>
          <p:nvSpPr>
            <p:cNvPr id="40" name="Rectangle 49"/>
            <p:cNvSpPr>
              <a:spLocks noChangeArrowheads="1"/>
            </p:cNvSpPr>
            <p:nvPr/>
          </p:nvSpPr>
          <p:spPr bwMode="auto">
            <a:xfrm>
              <a:off x="3235325" y="3049587"/>
              <a:ext cx="7165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127</a:t>
              </a:r>
              <a:endParaRPr lang="en-CA" altLang="en-US" sz="1200" b="1">
                <a:latin typeface="Corbel" panose="020B0503020204020204" pitchFamily="34" charset="0"/>
              </a:endParaRPr>
            </a:p>
          </p:txBody>
        </p:sp>
        <p:sp>
          <p:nvSpPr>
            <p:cNvPr id="41" name="Rectangle 50"/>
            <p:cNvSpPr>
              <a:spLocks noChangeArrowheads="1"/>
            </p:cNvSpPr>
            <p:nvPr/>
          </p:nvSpPr>
          <p:spPr bwMode="auto">
            <a:xfrm>
              <a:off x="3235325" y="3397250"/>
              <a:ext cx="7165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128</a:t>
              </a:r>
              <a:endParaRPr lang="en-CA" altLang="en-US" sz="1200" b="1">
                <a:latin typeface="Corbel" panose="020B0503020204020204" pitchFamily="34" charset="0"/>
              </a:endParaRPr>
            </a:p>
          </p:txBody>
        </p:sp>
        <p:sp>
          <p:nvSpPr>
            <p:cNvPr id="42" name="Rectangle 51"/>
            <p:cNvSpPr>
              <a:spLocks noChangeArrowheads="1"/>
            </p:cNvSpPr>
            <p:nvPr/>
          </p:nvSpPr>
          <p:spPr bwMode="auto">
            <a:xfrm>
              <a:off x="3235325" y="3730625"/>
              <a:ext cx="7165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129</a:t>
              </a:r>
              <a:endParaRPr lang="en-CA" altLang="en-US" sz="1200" b="1">
                <a:latin typeface="Corbel" panose="020B0503020204020204" pitchFamily="34" charset="0"/>
              </a:endParaRPr>
            </a:p>
          </p:txBody>
        </p:sp>
        <p:sp>
          <p:nvSpPr>
            <p:cNvPr id="43" name="Rectangle 52"/>
            <p:cNvSpPr>
              <a:spLocks noChangeArrowheads="1"/>
            </p:cNvSpPr>
            <p:nvPr/>
          </p:nvSpPr>
          <p:spPr bwMode="auto">
            <a:xfrm>
              <a:off x="3235325" y="4800600"/>
              <a:ext cx="7165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255</a:t>
              </a:r>
              <a:endParaRPr lang="en-CA" altLang="en-US" sz="1200" b="1">
                <a:latin typeface="Corbel" panose="020B0503020204020204" pitchFamily="34" charset="0"/>
              </a:endParaRPr>
            </a:p>
          </p:txBody>
        </p:sp>
        <p:sp>
          <p:nvSpPr>
            <p:cNvPr id="44" name="Rectangle 53"/>
            <p:cNvSpPr>
              <a:spLocks noChangeArrowheads="1"/>
            </p:cNvSpPr>
            <p:nvPr/>
          </p:nvSpPr>
          <p:spPr bwMode="auto">
            <a:xfrm>
              <a:off x="3235325" y="5105400"/>
              <a:ext cx="7165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256</a:t>
              </a:r>
              <a:endParaRPr lang="en-CA" altLang="en-US" sz="1200" b="1">
                <a:latin typeface="Corbel" panose="020B0503020204020204" pitchFamily="34" charset="0"/>
              </a:endParaRPr>
            </a:p>
          </p:txBody>
        </p:sp>
        <p:sp>
          <p:nvSpPr>
            <p:cNvPr id="45" name="Rectangle 54"/>
            <p:cNvSpPr>
              <a:spLocks noChangeArrowheads="1"/>
            </p:cNvSpPr>
            <p:nvPr/>
          </p:nvSpPr>
          <p:spPr bwMode="auto">
            <a:xfrm>
              <a:off x="3235325" y="5453062"/>
              <a:ext cx="7165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a:t>
              </a:r>
              <a:r>
                <a:rPr lang="en-CA" altLang="en-US" sz="1200">
                  <a:solidFill>
                    <a:srgbClr val="000000"/>
                  </a:solidFill>
                  <a:latin typeface="Nimbus Roman No9 L"/>
                </a:rPr>
                <a:t> </a:t>
              </a:r>
              <a:r>
                <a:rPr lang="en-CA" altLang="en-US" sz="1200" b="1">
                  <a:solidFill>
                    <a:srgbClr val="000000"/>
                  </a:solidFill>
                  <a:latin typeface="Nimbus Roman No9 L"/>
                </a:rPr>
                <a:t>257</a:t>
              </a:r>
              <a:endParaRPr lang="en-CA" altLang="en-US" sz="1200" b="1">
                <a:latin typeface="Corbel" panose="020B0503020204020204" pitchFamily="34" charset="0"/>
              </a:endParaRPr>
            </a:p>
          </p:txBody>
        </p:sp>
        <p:sp>
          <p:nvSpPr>
            <p:cNvPr id="46" name="Rectangle 55"/>
            <p:cNvSpPr>
              <a:spLocks noChangeArrowheads="1"/>
            </p:cNvSpPr>
            <p:nvPr/>
          </p:nvSpPr>
          <p:spPr bwMode="auto">
            <a:xfrm>
              <a:off x="3205163" y="6480175"/>
              <a:ext cx="737381"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b="1">
                  <a:solidFill>
                    <a:srgbClr val="000000"/>
                  </a:solidFill>
                  <a:latin typeface="Nimbus Roman No9 L"/>
                </a:rPr>
                <a:t>Block 4095</a:t>
              </a:r>
              <a:endParaRPr lang="en-CA" altLang="en-US" sz="2400" b="1">
                <a:latin typeface="Corbel" panose="020B0503020204020204" pitchFamily="34" charset="0"/>
              </a:endParaRPr>
            </a:p>
          </p:txBody>
        </p:sp>
        <p:sp>
          <p:nvSpPr>
            <p:cNvPr id="47" name="Freeform 65"/>
            <p:cNvSpPr>
              <a:spLocks/>
            </p:cNvSpPr>
            <p:nvPr/>
          </p:nvSpPr>
          <p:spPr bwMode="auto">
            <a:xfrm>
              <a:off x="2352675" y="3000375"/>
              <a:ext cx="544513" cy="271462"/>
            </a:xfrm>
            <a:custGeom>
              <a:avLst/>
              <a:gdLst>
                <a:gd name="T0" fmla="*/ 2147483647 w 36"/>
                <a:gd name="T1" fmla="*/ 2147483647 h 18"/>
                <a:gd name="T2" fmla="*/ 2147483647 w 36"/>
                <a:gd name="T3" fmla="*/ 2147483647 h 18"/>
                <a:gd name="T4" fmla="*/ 2147483647 w 36"/>
                <a:gd name="T5" fmla="*/ 2147483647 h 18"/>
                <a:gd name="T6" fmla="*/ 2147483647 w 36"/>
                <a:gd name="T7" fmla="*/ 909774581 h 18"/>
                <a:gd name="T8" fmla="*/ 2147483647 w 36"/>
                <a:gd name="T9" fmla="*/ 909774581 h 18"/>
                <a:gd name="T10" fmla="*/ 2147483647 w 36"/>
                <a:gd name="T11" fmla="*/ 0 h 18"/>
                <a:gd name="T12" fmla="*/ 0 w 36"/>
                <a:gd name="T13" fmla="*/ 2046989448 h 18"/>
                <a:gd name="T14" fmla="*/ 2147483647 w 36"/>
                <a:gd name="T15" fmla="*/ 2147483647 h 18"/>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18"/>
                <a:gd name="T26" fmla="*/ 36 w 36"/>
                <a:gd name="T27" fmla="*/ 18 h 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18">
                  <a:moveTo>
                    <a:pt x="14" y="18"/>
                  </a:moveTo>
                  <a:lnTo>
                    <a:pt x="14" y="13"/>
                  </a:lnTo>
                  <a:lnTo>
                    <a:pt x="36" y="13"/>
                  </a:lnTo>
                  <a:lnTo>
                    <a:pt x="36" y="4"/>
                  </a:lnTo>
                  <a:lnTo>
                    <a:pt x="14" y="4"/>
                  </a:lnTo>
                  <a:lnTo>
                    <a:pt x="14" y="0"/>
                  </a:lnTo>
                  <a:lnTo>
                    <a:pt x="0" y="9"/>
                  </a:lnTo>
                  <a:lnTo>
                    <a:pt x="14" y="18"/>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8" name="Line 66"/>
            <p:cNvSpPr>
              <a:spLocks noChangeShapeType="1"/>
            </p:cNvSpPr>
            <p:nvPr/>
          </p:nvSpPr>
          <p:spPr bwMode="auto">
            <a:xfrm flipV="1">
              <a:off x="3009900" y="2279650"/>
              <a:ext cx="1588" cy="30321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 name="Line 67"/>
            <p:cNvSpPr>
              <a:spLocks noChangeShapeType="1"/>
            </p:cNvSpPr>
            <p:nvPr/>
          </p:nvSpPr>
          <p:spPr bwMode="auto">
            <a:xfrm flipV="1">
              <a:off x="3009900" y="2673350"/>
              <a:ext cx="1588" cy="2873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 name="Line 68"/>
            <p:cNvSpPr>
              <a:spLocks noChangeShapeType="1"/>
            </p:cNvSpPr>
            <p:nvPr/>
          </p:nvSpPr>
          <p:spPr bwMode="auto">
            <a:xfrm flipV="1">
              <a:off x="4037013" y="2279650"/>
              <a:ext cx="1587" cy="30321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 name="Line 69"/>
            <p:cNvSpPr>
              <a:spLocks noChangeShapeType="1"/>
            </p:cNvSpPr>
            <p:nvPr/>
          </p:nvSpPr>
          <p:spPr bwMode="auto">
            <a:xfrm flipV="1">
              <a:off x="4037013" y="2673350"/>
              <a:ext cx="1587" cy="2873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 name="Line 70"/>
            <p:cNvSpPr>
              <a:spLocks noChangeShapeType="1"/>
            </p:cNvSpPr>
            <p:nvPr/>
          </p:nvSpPr>
          <p:spPr bwMode="auto">
            <a:xfrm flipH="1">
              <a:off x="2949575" y="2552700"/>
              <a:ext cx="104775" cy="603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 name="Line 71"/>
            <p:cNvSpPr>
              <a:spLocks noChangeShapeType="1"/>
            </p:cNvSpPr>
            <p:nvPr/>
          </p:nvSpPr>
          <p:spPr bwMode="auto">
            <a:xfrm flipH="1">
              <a:off x="2949575" y="2643187"/>
              <a:ext cx="104775"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 name="Line 72"/>
            <p:cNvSpPr>
              <a:spLocks noChangeShapeType="1"/>
            </p:cNvSpPr>
            <p:nvPr/>
          </p:nvSpPr>
          <p:spPr bwMode="auto">
            <a:xfrm flipH="1">
              <a:off x="3976688" y="2552700"/>
              <a:ext cx="104775" cy="603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73"/>
            <p:cNvSpPr>
              <a:spLocks noChangeShapeType="1"/>
            </p:cNvSpPr>
            <p:nvPr/>
          </p:nvSpPr>
          <p:spPr bwMode="auto">
            <a:xfrm flipH="1">
              <a:off x="3976688" y="2643187"/>
              <a:ext cx="104775"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Line 74"/>
            <p:cNvSpPr>
              <a:spLocks noChangeShapeType="1"/>
            </p:cNvSpPr>
            <p:nvPr/>
          </p:nvSpPr>
          <p:spPr bwMode="auto">
            <a:xfrm flipV="1">
              <a:off x="3009900" y="5710237"/>
              <a:ext cx="1588" cy="3032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 name="Line 75"/>
            <p:cNvSpPr>
              <a:spLocks noChangeShapeType="1"/>
            </p:cNvSpPr>
            <p:nvPr/>
          </p:nvSpPr>
          <p:spPr bwMode="auto">
            <a:xfrm flipV="1">
              <a:off x="3009900" y="6088062"/>
              <a:ext cx="1588" cy="3016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 name="Line 76"/>
            <p:cNvSpPr>
              <a:spLocks noChangeShapeType="1"/>
            </p:cNvSpPr>
            <p:nvPr/>
          </p:nvSpPr>
          <p:spPr bwMode="auto">
            <a:xfrm flipV="1">
              <a:off x="4037013" y="5710237"/>
              <a:ext cx="1587" cy="3032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 name="Line 77"/>
            <p:cNvSpPr>
              <a:spLocks noChangeShapeType="1"/>
            </p:cNvSpPr>
            <p:nvPr/>
          </p:nvSpPr>
          <p:spPr bwMode="auto">
            <a:xfrm flipV="1">
              <a:off x="4037013" y="6088062"/>
              <a:ext cx="1587" cy="3016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 name="Line 78"/>
            <p:cNvSpPr>
              <a:spLocks noChangeShapeType="1"/>
            </p:cNvSpPr>
            <p:nvPr/>
          </p:nvSpPr>
          <p:spPr bwMode="auto">
            <a:xfrm flipH="1">
              <a:off x="2949575" y="5981700"/>
              <a:ext cx="104775" cy="460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 name="Line 79"/>
            <p:cNvSpPr>
              <a:spLocks noChangeShapeType="1"/>
            </p:cNvSpPr>
            <p:nvPr/>
          </p:nvSpPr>
          <p:spPr bwMode="auto">
            <a:xfrm flipH="1">
              <a:off x="2949575" y="6057900"/>
              <a:ext cx="104775" cy="603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 name="Line 80"/>
            <p:cNvSpPr>
              <a:spLocks noChangeShapeType="1"/>
            </p:cNvSpPr>
            <p:nvPr/>
          </p:nvSpPr>
          <p:spPr bwMode="auto">
            <a:xfrm flipH="1">
              <a:off x="3976688" y="5981700"/>
              <a:ext cx="104775" cy="460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81"/>
            <p:cNvSpPr>
              <a:spLocks noChangeShapeType="1"/>
            </p:cNvSpPr>
            <p:nvPr/>
          </p:nvSpPr>
          <p:spPr bwMode="auto">
            <a:xfrm flipH="1">
              <a:off x="3976688" y="6057900"/>
              <a:ext cx="104775" cy="603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82"/>
            <p:cNvSpPr>
              <a:spLocks noChangeShapeType="1"/>
            </p:cNvSpPr>
            <p:nvPr/>
          </p:nvSpPr>
          <p:spPr bwMode="auto">
            <a:xfrm flipV="1">
              <a:off x="3009900" y="4002087"/>
              <a:ext cx="1588" cy="2873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 name="Line 83"/>
            <p:cNvSpPr>
              <a:spLocks noChangeShapeType="1"/>
            </p:cNvSpPr>
            <p:nvPr/>
          </p:nvSpPr>
          <p:spPr bwMode="auto">
            <a:xfrm flipV="1">
              <a:off x="3009900" y="4379912"/>
              <a:ext cx="1588" cy="3032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Line 84"/>
            <p:cNvSpPr>
              <a:spLocks noChangeShapeType="1"/>
            </p:cNvSpPr>
            <p:nvPr/>
          </p:nvSpPr>
          <p:spPr bwMode="auto">
            <a:xfrm flipV="1">
              <a:off x="4037013" y="4002087"/>
              <a:ext cx="1587" cy="2873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 name="Line 85"/>
            <p:cNvSpPr>
              <a:spLocks noChangeShapeType="1"/>
            </p:cNvSpPr>
            <p:nvPr/>
          </p:nvSpPr>
          <p:spPr bwMode="auto">
            <a:xfrm flipV="1">
              <a:off x="4037013" y="4379912"/>
              <a:ext cx="1587" cy="3032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Line 86"/>
            <p:cNvSpPr>
              <a:spLocks noChangeShapeType="1"/>
            </p:cNvSpPr>
            <p:nvPr/>
          </p:nvSpPr>
          <p:spPr bwMode="auto">
            <a:xfrm flipH="1">
              <a:off x="2949575" y="4275137"/>
              <a:ext cx="104775"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 name="Line 87"/>
            <p:cNvSpPr>
              <a:spLocks noChangeShapeType="1"/>
            </p:cNvSpPr>
            <p:nvPr/>
          </p:nvSpPr>
          <p:spPr bwMode="auto">
            <a:xfrm flipH="1">
              <a:off x="2949575" y="4349750"/>
              <a:ext cx="104775" cy="460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 name="Line 88"/>
            <p:cNvSpPr>
              <a:spLocks noChangeShapeType="1"/>
            </p:cNvSpPr>
            <p:nvPr/>
          </p:nvSpPr>
          <p:spPr bwMode="auto">
            <a:xfrm flipH="1">
              <a:off x="3976688" y="4275137"/>
              <a:ext cx="104775"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 name="Line 89"/>
            <p:cNvSpPr>
              <a:spLocks noChangeShapeType="1"/>
            </p:cNvSpPr>
            <p:nvPr/>
          </p:nvSpPr>
          <p:spPr bwMode="auto">
            <a:xfrm flipH="1">
              <a:off x="3976688" y="4349750"/>
              <a:ext cx="104775" cy="460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72" name="Group 120"/>
            <p:cNvGrpSpPr>
              <a:grpSpLocks/>
            </p:cNvGrpSpPr>
            <p:nvPr/>
          </p:nvGrpSpPr>
          <p:grpSpPr bwMode="auto">
            <a:xfrm>
              <a:off x="860425" y="4910137"/>
              <a:ext cx="1631950" cy="785813"/>
              <a:chOff x="634" y="2853"/>
              <a:chExt cx="1028" cy="495"/>
            </a:xfrm>
          </p:grpSpPr>
          <p:sp>
            <p:nvSpPr>
              <p:cNvPr id="103" name="Rectangle 98"/>
              <p:cNvSpPr>
                <a:spLocks noChangeArrowheads="1"/>
              </p:cNvSpPr>
              <p:nvPr/>
            </p:nvSpPr>
            <p:spPr bwMode="auto">
              <a:xfrm>
                <a:off x="634" y="2996"/>
                <a:ext cx="1028" cy="162"/>
              </a:xfrm>
              <a:prstGeom prst="rect">
                <a:avLst/>
              </a:prstGeom>
              <a:noFill/>
              <a:ln w="28575">
                <a:solidFill>
                  <a:schemeClr val="accent1">
                    <a:lumMod val="75000"/>
                  </a:schemeClr>
                </a:solidFill>
                <a:miter lim="800000"/>
                <a:headEnd/>
                <a:tailEnd/>
              </a:ln>
            </p:spPr>
            <p:txBody>
              <a:bodyPr/>
              <a:lstStyle/>
              <a:p>
                <a:pPr fontAlgn="auto">
                  <a:spcBef>
                    <a:spcPts val="0"/>
                  </a:spcBef>
                  <a:spcAft>
                    <a:spcPts val="0"/>
                  </a:spcAft>
                  <a:defRPr/>
                </a:pPr>
                <a:endParaRPr lang="en-US">
                  <a:latin typeface="+mn-lt"/>
                </a:endParaRPr>
              </a:p>
            </p:txBody>
          </p:sp>
          <p:sp>
            <p:nvSpPr>
              <p:cNvPr id="104" name="Line 99"/>
              <p:cNvSpPr>
                <a:spLocks noChangeShapeType="1"/>
              </p:cNvSpPr>
              <p:nvPr/>
            </p:nvSpPr>
            <p:spPr bwMode="auto">
              <a:xfrm flipV="1">
                <a:off x="957" y="2996"/>
                <a:ext cx="1" cy="162"/>
              </a:xfrm>
              <a:prstGeom prst="line">
                <a:avLst/>
              </a:prstGeom>
              <a:noFill/>
              <a:ln w="28575">
                <a:solidFill>
                  <a:schemeClr val="accent1">
                    <a:lumMod val="75000"/>
                  </a:schemeClr>
                </a:solidFill>
                <a:round/>
                <a:headEnd/>
                <a:tailEnd/>
              </a:ln>
            </p:spPr>
            <p:txBody>
              <a:bodyPr/>
              <a:lstStyle/>
              <a:p>
                <a:pPr fontAlgn="auto">
                  <a:spcBef>
                    <a:spcPts val="0"/>
                  </a:spcBef>
                  <a:spcAft>
                    <a:spcPts val="0"/>
                  </a:spcAft>
                  <a:defRPr/>
                </a:pPr>
                <a:endParaRPr lang="en-US">
                  <a:latin typeface="+mn-lt"/>
                </a:endParaRPr>
              </a:p>
            </p:txBody>
          </p:sp>
          <p:sp>
            <p:nvSpPr>
              <p:cNvPr id="105" name="Line 100"/>
              <p:cNvSpPr>
                <a:spLocks noChangeShapeType="1"/>
              </p:cNvSpPr>
              <p:nvPr/>
            </p:nvSpPr>
            <p:spPr bwMode="auto">
              <a:xfrm flipV="1">
                <a:off x="1386" y="2996"/>
                <a:ext cx="1" cy="162"/>
              </a:xfrm>
              <a:prstGeom prst="line">
                <a:avLst/>
              </a:prstGeom>
              <a:noFill/>
              <a:ln w="28575">
                <a:solidFill>
                  <a:schemeClr val="accent1">
                    <a:lumMod val="75000"/>
                  </a:schemeClr>
                </a:solidFill>
                <a:round/>
                <a:headEnd/>
                <a:tailEnd/>
              </a:ln>
            </p:spPr>
            <p:txBody>
              <a:bodyPr/>
              <a:lstStyle/>
              <a:p>
                <a:pPr fontAlgn="auto">
                  <a:spcBef>
                    <a:spcPts val="0"/>
                  </a:spcBef>
                  <a:spcAft>
                    <a:spcPts val="0"/>
                  </a:spcAft>
                  <a:defRPr/>
                </a:pPr>
                <a:endParaRPr lang="en-US">
                  <a:latin typeface="+mn-lt"/>
                </a:endParaRPr>
              </a:p>
            </p:txBody>
          </p:sp>
          <p:sp>
            <p:nvSpPr>
              <p:cNvPr id="106" name="Rectangle 101"/>
              <p:cNvSpPr>
                <a:spLocks noChangeArrowheads="1"/>
              </p:cNvSpPr>
              <p:nvPr/>
            </p:nvSpPr>
            <p:spPr bwMode="auto">
              <a:xfrm>
                <a:off x="1148" y="3015"/>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7</a:t>
                </a:r>
                <a:endParaRPr lang="en-CA" altLang="en-US" sz="2400">
                  <a:latin typeface="Corbel" panose="020B0503020204020204" pitchFamily="34" charset="0"/>
                </a:endParaRPr>
              </a:p>
            </p:txBody>
          </p:sp>
          <p:sp>
            <p:nvSpPr>
              <p:cNvPr id="107" name="Rectangle 102"/>
              <p:cNvSpPr>
                <a:spLocks noChangeArrowheads="1"/>
              </p:cNvSpPr>
              <p:nvPr/>
            </p:nvSpPr>
            <p:spPr bwMode="auto">
              <a:xfrm>
                <a:off x="1500" y="3015"/>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4</a:t>
                </a:r>
                <a:endParaRPr lang="en-CA" altLang="en-US" sz="2400">
                  <a:latin typeface="Corbel" panose="020B0503020204020204" pitchFamily="34" charset="0"/>
                </a:endParaRPr>
              </a:p>
            </p:txBody>
          </p:sp>
          <p:sp>
            <p:nvSpPr>
              <p:cNvPr id="108" name="Rectangle 103"/>
              <p:cNvSpPr>
                <a:spLocks noChangeArrowheads="1"/>
              </p:cNvSpPr>
              <p:nvPr/>
            </p:nvSpPr>
            <p:spPr bwMode="auto">
              <a:xfrm>
                <a:off x="787" y="3242"/>
                <a:ext cx="78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Main memory address</a:t>
                </a:r>
                <a:endParaRPr lang="en-CA" altLang="en-US" sz="2400">
                  <a:latin typeface="Corbel" panose="020B0503020204020204" pitchFamily="34" charset="0"/>
                </a:endParaRPr>
              </a:p>
            </p:txBody>
          </p:sp>
          <p:sp>
            <p:nvSpPr>
              <p:cNvPr id="109" name="Rectangle 104"/>
              <p:cNvSpPr>
                <a:spLocks noChangeArrowheads="1"/>
              </p:cNvSpPr>
              <p:nvPr/>
            </p:nvSpPr>
            <p:spPr bwMode="auto">
              <a:xfrm>
                <a:off x="729" y="2853"/>
                <a:ext cx="5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T</a:t>
                </a:r>
                <a:endParaRPr lang="en-CA" altLang="en-US" sz="2400">
                  <a:latin typeface="Corbel" panose="020B0503020204020204" pitchFamily="34" charset="0"/>
                </a:endParaRPr>
              </a:p>
            </p:txBody>
          </p:sp>
          <p:sp>
            <p:nvSpPr>
              <p:cNvPr id="110" name="Rectangle 105"/>
              <p:cNvSpPr>
                <a:spLocks noChangeArrowheads="1"/>
              </p:cNvSpPr>
              <p:nvPr/>
            </p:nvSpPr>
            <p:spPr bwMode="auto">
              <a:xfrm>
                <a:off x="776" y="2853"/>
                <a:ext cx="83"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ag</a:t>
                </a:r>
                <a:endParaRPr lang="en-CA" altLang="en-US" sz="2400">
                  <a:latin typeface="Corbel" panose="020B0503020204020204" pitchFamily="34" charset="0"/>
                </a:endParaRPr>
              </a:p>
            </p:txBody>
          </p:sp>
          <p:sp>
            <p:nvSpPr>
              <p:cNvPr id="111" name="Rectangle 106"/>
              <p:cNvSpPr>
                <a:spLocks noChangeArrowheads="1"/>
              </p:cNvSpPr>
              <p:nvPr/>
            </p:nvSpPr>
            <p:spPr bwMode="auto">
              <a:xfrm>
                <a:off x="1071" y="2853"/>
                <a:ext cx="210"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Block</a:t>
                </a:r>
                <a:endParaRPr lang="en-CA" altLang="en-US" sz="2400">
                  <a:latin typeface="Corbel" panose="020B0503020204020204" pitchFamily="34" charset="0"/>
                </a:endParaRPr>
              </a:p>
            </p:txBody>
          </p:sp>
          <p:sp>
            <p:nvSpPr>
              <p:cNvPr id="112" name="Rectangle 107"/>
              <p:cNvSpPr>
                <a:spLocks noChangeArrowheads="1"/>
              </p:cNvSpPr>
              <p:nvPr/>
            </p:nvSpPr>
            <p:spPr bwMode="auto">
              <a:xfrm>
                <a:off x="1433" y="2853"/>
                <a:ext cx="83"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W</a:t>
                </a:r>
                <a:endParaRPr lang="en-CA" altLang="en-US" sz="2400">
                  <a:latin typeface="Corbel" panose="020B0503020204020204" pitchFamily="34" charset="0"/>
                </a:endParaRPr>
              </a:p>
            </p:txBody>
          </p:sp>
          <p:sp>
            <p:nvSpPr>
              <p:cNvPr id="113" name="Rectangle 108"/>
              <p:cNvSpPr>
                <a:spLocks noChangeArrowheads="1"/>
              </p:cNvSpPr>
              <p:nvPr/>
            </p:nvSpPr>
            <p:spPr bwMode="auto">
              <a:xfrm>
                <a:off x="1500" y="2853"/>
                <a:ext cx="117"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ord</a:t>
                </a:r>
                <a:endParaRPr lang="en-CA" altLang="en-US" sz="2400">
                  <a:latin typeface="Corbel" panose="020B0503020204020204" pitchFamily="34" charset="0"/>
                </a:endParaRPr>
              </a:p>
            </p:txBody>
          </p:sp>
          <p:sp>
            <p:nvSpPr>
              <p:cNvPr id="114" name="Rectangle 109"/>
              <p:cNvSpPr>
                <a:spLocks noChangeArrowheads="1"/>
              </p:cNvSpPr>
              <p:nvPr/>
            </p:nvSpPr>
            <p:spPr bwMode="auto">
              <a:xfrm>
                <a:off x="776" y="3015"/>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5</a:t>
                </a:r>
                <a:endParaRPr lang="en-CA" altLang="en-US" sz="2400">
                  <a:latin typeface="Corbel" panose="020B0503020204020204" pitchFamily="34" charset="0"/>
                </a:endParaRPr>
              </a:p>
            </p:txBody>
          </p:sp>
        </p:grpSp>
        <p:sp>
          <p:nvSpPr>
            <p:cNvPr id="73" name="Rectangle 115"/>
            <p:cNvSpPr>
              <a:spLocks noChangeArrowheads="1"/>
            </p:cNvSpPr>
            <p:nvPr/>
          </p:nvSpPr>
          <p:spPr bwMode="auto">
            <a:xfrm>
              <a:off x="3009900" y="5362575"/>
              <a:ext cx="1027113" cy="347662"/>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74" name="Rectangle 16"/>
            <p:cNvSpPr>
              <a:spLocks noChangeArrowheads="1"/>
            </p:cNvSpPr>
            <p:nvPr/>
          </p:nvSpPr>
          <p:spPr bwMode="auto">
            <a:xfrm>
              <a:off x="1228726" y="2644775"/>
              <a:ext cx="1027112" cy="346075"/>
            </a:xfrm>
            <a:prstGeom prst="rect">
              <a:avLst/>
            </a:prstGeom>
            <a:solidFill>
              <a:schemeClr val="accent1">
                <a:lumMod val="40000"/>
                <a:lumOff val="60000"/>
              </a:schemeClr>
            </a:solidFill>
            <a:ln w="0">
              <a:solidFill>
                <a:schemeClr val="accent1">
                  <a:lumMod val="50000"/>
                </a:schemeClr>
              </a:solidFill>
              <a:miter lim="800000"/>
              <a:headEnd/>
              <a:tailEnd/>
            </a:ln>
          </p:spPr>
          <p:txBody>
            <a:bodyPr/>
            <a:lstStyle/>
            <a:p>
              <a:pPr fontAlgn="auto">
                <a:spcBef>
                  <a:spcPts val="0"/>
                </a:spcBef>
                <a:spcAft>
                  <a:spcPts val="0"/>
                </a:spcAft>
                <a:defRPr/>
              </a:pPr>
              <a:endParaRPr lang="en-US">
                <a:latin typeface="+mn-lt"/>
              </a:endParaRPr>
            </a:p>
          </p:txBody>
        </p:sp>
        <p:sp>
          <p:nvSpPr>
            <p:cNvPr id="75" name="Rectangle 17"/>
            <p:cNvSpPr>
              <a:spLocks noChangeArrowheads="1"/>
            </p:cNvSpPr>
            <p:nvPr/>
          </p:nvSpPr>
          <p:spPr bwMode="auto">
            <a:xfrm>
              <a:off x="1228726" y="2297113"/>
              <a:ext cx="1027112" cy="347662"/>
            </a:xfrm>
            <a:prstGeom prst="rect">
              <a:avLst/>
            </a:prstGeom>
            <a:solidFill>
              <a:schemeClr val="accent1">
                <a:lumMod val="75000"/>
              </a:schemeClr>
            </a:solidFill>
            <a:ln w="0">
              <a:solidFill>
                <a:schemeClr val="accent1">
                  <a:lumMod val="50000"/>
                </a:schemeClr>
              </a:solidFill>
              <a:miter lim="800000"/>
              <a:headEnd/>
              <a:tailEnd/>
            </a:ln>
          </p:spPr>
          <p:txBody>
            <a:bodyPr/>
            <a:lstStyle/>
            <a:p>
              <a:pPr fontAlgn="auto">
                <a:spcBef>
                  <a:spcPts val="0"/>
                </a:spcBef>
                <a:spcAft>
                  <a:spcPts val="0"/>
                </a:spcAft>
                <a:defRPr/>
              </a:pPr>
              <a:endParaRPr lang="en-US">
                <a:latin typeface="+mn-lt"/>
              </a:endParaRPr>
            </a:p>
          </p:txBody>
        </p:sp>
        <p:sp>
          <p:nvSpPr>
            <p:cNvPr id="76" name="Rectangle 18"/>
            <p:cNvSpPr>
              <a:spLocks noChangeArrowheads="1"/>
            </p:cNvSpPr>
            <p:nvPr/>
          </p:nvSpPr>
          <p:spPr bwMode="auto">
            <a:xfrm>
              <a:off x="1228725" y="3671887"/>
              <a:ext cx="1027113" cy="347663"/>
            </a:xfrm>
            <a:prstGeom prst="rect">
              <a:avLst/>
            </a:prstGeom>
            <a:solidFill>
              <a:srgbClr val="808080"/>
            </a:solidFill>
            <a:ln w="0">
              <a:solidFill>
                <a:srgbClr val="80808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77" name="Rectangle 19"/>
            <p:cNvSpPr>
              <a:spLocks noChangeArrowheads="1"/>
            </p:cNvSpPr>
            <p:nvPr/>
          </p:nvSpPr>
          <p:spPr bwMode="auto">
            <a:xfrm>
              <a:off x="1228725" y="3671887"/>
              <a:ext cx="1027113" cy="347663"/>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78" name="Rectangle 20"/>
            <p:cNvSpPr>
              <a:spLocks noChangeArrowheads="1"/>
            </p:cNvSpPr>
            <p:nvPr/>
          </p:nvSpPr>
          <p:spPr bwMode="auto">
            <a:xfrm>
              <a:off x="715963" y="2297112"/>
              <a:ext cx="512762" cy="180975"/>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79" name="Rectangle 21"/>
            <p:cNvSpPr>
              <a:spLocks noChangeArrowheads="1"/>
            </p:cNvSpPr>
            <p:nvPr/>
          </p:nvSpPr>
          <p:spPr bwMode="auto">
            <a:xfrm>
              <a:off x="715963" y="2644775"/>
              <a:ext cx="512762" cy="165100"/>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80" name="Rectangle 22"/>
            <p:cNvSpPr>
              <a:spLocks noChangeArrowheads="1"/>
            </p:cNvSpPr>
            <p:nvPr/>
          </p:nvSpPr>
          <p:spPr bwMode="auto">
            <a:xfrm>
              <a:off x="715963" y="3671887"/>
              <a:ext cx="512762" cy="166688"/>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81" name="Rectangle 23"/>
            <p:cNvSpPr>
              <a:spLocks noChangeArrowheads="1"/>
            </p:cNvSpPr>
            <p:nvPr/>
          </p:nvSpPr>
          <p:spPr bwMode="auto">
            <a:xfrm>
              <a:off x="881063" y="2281237"/>
              <a:ext cx="16986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tag</a:t>
              </a:r>
              <a:endParaRPr lang="en-CA" altLang="en-US" sz="2400">
                <a:latin typeface="Corbel" panose="020B0503020204020204" pitchFamily="34" charset="0"/>
              </a:endParaRPr>
            </a:p>
          </p:txBody>
        </p:sp>
        <p:sp>
          <p:nvSpPr>
            <p:cNvPr id="82" name="Rectangle 24"/>
            <p:cNvSpPr>
              <a:spLocks noChangeArrowheads="1"/>
            </p:cNvSpPr>
            <p:nvPr/>
          </p:nvSpPr>
          <p:spPr bwMode="auto">
            <a:xfrm>
              <a:off x="881063" y="2628900"/>
              <a:ext cx="16986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tag</a:t>
              </a:r>
              <a:endParaRPr lang="en-CA" altLang="en-US" sz="2400">
                <a:latin typeface="Corbel" panose="020B0503020204020204" pitchFamily="34" charset="0"/>
              </a:endParaRPr>
            </a:p>
          </p:txBody>
        </p:sp>
        <p:sp>
          <p:nvSpPr>
            <p:cNvPr id="83" name="Rectangle 25"/>
            <p:cNvSpPr>
              <a:spLocks noChangeArrowheads="1"/>
            </p:cNvSpPr>
            <p:nvPr/>
          </p:nvSpPr>
          <p:spPr bwMode="auto">
            <a:xfrm>
              <a:off x="881063" y="3656012"/>
              <a:ext cx="16986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tag</a:t>
              </a:r>
              <a:endParaRPr lang="en-CA" altLang="en-US" sz="2400">
                <a:latin typeface="Corbel" panose="020B0503020204020204" pitchFamily="34" charset="0"/>
              </a:endParaRPr>
            </a:p>
          </p:txBody>
        </p:sp>
        <p:sp>
          <p:nvSpPr>
            <p:cNvPr id="84" name="Rectangle 26"/>
            <p:cNvSpPr>
              <a:spLocks noChangeArrowheads="1"/>
            </p:cNvSpPr>
            <p:nvPr/>
          </p:nvSpPr>
          <p:spPr bwMode="auto">
            <a:xfrm>
              <a:off x="1576388" y="2054225"/>
              <a:ext cx="34925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Cache</a:t>
              </a:r>
              <a:endParaRPr lang="en-CA" altLang="en-US" sz="2400">
                <a:latin typeface="Corbel" panose="020B0503020204020204" pitchFamily="34" charset="0"/>
              </a:endParaRPr>
            </a:p>
          </p:txBody>
        </p:sp>
        <p:sp>
          <p:nvSpPr>
            <p:cNvPr id="85" name="Rectangle 58"/>
            <p:cNvSpPr>
              <a:spLocks noChangeArrowheads="1"/>
            </p:cNvSpPr>
            <p:nvPr/>
          </p:nvSpPr>
          <p:spPr bwMode="auto">
            <a:xfrm>
              <a:off x="1319213" y="2735262"/>
              <a:ext cx="846137" cy="16510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86" name="Rectangle 56"/>
            <p:cNvSpPr>
              <a:spLocks noChangeArrowheads="1"/>
            </p:cNvSpPr>
            <p:nvPr/>
          </p:nvSpPr>
          <p:spPr bwMode="auto">
            <a:xfrm>
              <a:off x="1319213" y="2387600"/>
              <a:ext cx="846137" cy="16510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87" name="Rectangle 60"/>
            <p:cNvSpPr>
              <a:spLocks noChangeArrowheads="1"/>
            </p:cNvSpPr>
            <p:nvPr/>
          </p:nvSpPr>
          <p:spPr bwMode="auto">
            <a:xfrm>
              <a:off x="1319213" y="3762375"/>
              <a:ext cx="846137" cy="166687"/>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88" name="Rectangle 61"/>
            <p:cNvSpPr>
              <a:spLocks noChangeArrowheads="1"/>
            </p:cNvSpPr>
            <p:nvPr/>
          </p:nvSpPr>
          <p:spPr bwMode="auto">
            <a:xfrm>
              <a:off x="1319213" y="3762375"/>
              <a:ext cx="846137" cy="166687"/>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89" name="Rectangle 59"/>
            <p:cNvSpPr>
              <a:spLocks noChangeArrowheads="1"/>
            </p:cNvSpPr>
            <p:nvPr/>
          </p:nvSpPr>
          <p:spPr bwMode="auto">
            <a:xfrm>
              <a:off x="1319213" y="2735262"/>
              <a:ext cx="846137" cy="165100"/>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90" name="Rectangle 62"/>
            <p:cNvSpPr>
              <a:spLocks noChangeArrowheads="1"/>
            </p:cNvSpPr>
            <p:nvPr/>
          </p:nvSpPr>
          <p:spPr bwMode="auto">
            <a:xfrm>
              <a:off x="1531938" y="2386012"/>
              <a:ext cx="43815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Block 0</a:t>
              </a:r>
              <a:endParaRPr lang="en-CA" altLang="en-US" sz="2400">
                <a:latin typeface="Corbel" panose="020B0503020204020204" pitchFamily="34" charset="0"/>
              </a:endParaRPr>
            </a:p>
          </p:txBody>
        </p:sp>
        <p:sp>
          <p:nvSpPr>
            <p:cNvPr id="91" name="Rectangle 63"/>
            <p:cNvSpPr>
              <a:spLocks noChangeArrowheads="1"/>
            </p:cNvSpPr>
            <p:nvPr/>
          </p:nvSpPr>
          <p:spPr bwMode="auto">
            <a:xfrm>
              <a:off x="1531938" y="2719387"/>
              <a:ext cx="43815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Block 1</a:t>
              </a:r>
              <a:endParaRPr lang="en-CA" altLang="en-US" sz="2400">
                <a:latin typeface="Corbel" panose="020B0503020204020204" pitchFamily="34" charset="0"/>
              </a:endParaRPr>
            </a:p>
          </p:txBody>
        </p:sp>
        <p:sp>
          <p:nvSpPr>
            <p:cNvPr id="92" name="Rectangle 64"/>
            <p:cNvSpPr>
              <a:spLocks noChangeArrowheads="1"/>
            </p:cNvSpPr>
            <p:nvPr/>
          </p:nvSpPr>
          <p:spPr bwMode="auto">
            <a:xfrm>
              <a:off x="1455738" y="3746500"/>
              <a:ext cx="57785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Block 127</a:t>
              </a:r>
              <a:endParaRPr lang="en-CA" altLang="en-US" sz="2400">
                <a:latin typeface="Corbel" panose="020B0503020204020204" pitchFamily="34" charset="0"/>
              </a:endParaRPr>
            </a:p>
          </p:txBody>
        </p:sp>
        <p:sp>
          <p:nvSpPr>
            <p:cNvPr id="93" name="Line 90"/>
            <p:cNvSpPr>
              <a:spLocks noChangeShapeType="1"/>
            </p:cNvSpPr>
            <p:nvPr/>
          </p:nvSpPr>
          <p:spPr bwMode="auto">
            <a:xfrm flipV="1">
              <a:off x="1228725" y="2990850"/>
              <a:ext cx="1588" cy="2873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 name="Line 91"/>
            <p:cNvSpPr>
              <a:spLocks noChangeShapeType="1"/>
            </p:cNvSpPr>
            <p:nvPr/>
          </p:nvSpPr>
          <p:spPr bwMode="auto">
            <a:xfrm flipV="1">
              <a:off x="1228725" y="3368675"/>
              <a:ext cx="1588" cy="30321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 name="Line 92"/>
            <p:cNvSpPr>
              <a:spLocks noChangeShapeType="1"/>
            </p:cNvSpPr>
            <p:nvPr/>
          </p:nvSpPr>
          <p:spPr bwMode="auto">
            <a:xfrm flipV="1">
              <a:off x="2255838" y="2990850"/>
              <a:ext cx="1587" cy="2873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 name="Line 93"/>
            <p:cNvSpPr>
              <a:spLocks noChangeShapeType="1"/>
            </p:cNvSpPr>
            <p:nvPr/>
          </p:nvSpPr>
          <p:spPr bwMode="auto">
            <a:xfrm flipV="1">
              <a:off x="2255838" y="3368675"/>
              <a:ext cx="1587" cy="30321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 name="Line 94"/>
            <p:cNvSpPr>
              <a:spLocks noChangeShapeType="1"/>
            </p:cNvSpPr>
            <p:nvPr/>
          </p:nvSpPr>
          <p:spPr bwMode="auto">
            <a:xfrm flipH="1">
              <a:off x="1184275" y="3263900"/>
              <a:ext cx="90488"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 name="Line 95"/>
            <p:cNvSpPr>
              <a:spLocks noChangeShapeType="1"/>
            </p:cNvSpPr>
            <p:nvPr/>
          </p:nvSpPr>
          <p:spPr bwMode="auto">
            <a:xfrm flipH="1">
              <a:off x="1184275" y="3338512"/>
              <a:ext cx="90488" cy="460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9" name="Line 96"/>
            <p:cNvSpPr>
              <a:spLocks noChangeShapeType="1"/>
            </p:cNvSpPr>
            <p:nvPr/>
          </p:nvSpPr>
          <p:spPr bwMode="auto">
            <a:xfrm flipH="1">
              <a:off x="2211388" y="3263900"/>
              <a:ext cx="90487"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 name="Line 97"/>
            <p:cNvSpPr>
              <a:spLocks noChangeShapeType="1"/>
            </p:cNvSpPr>
            <p:nvPr/>
          </p:nvSpPr>
          <p:spPr bwMode="auto">
            <a:xfrm flipH="1">
              <a:off x="2211388" y="3338512"/>
              <a:ext cx="90487" cy="460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 name="Rectangle 117"/>
            <p:cNvSpPr>
              <a:spLocks noChangeArrowheads="1"/>
            </p:cNvSpPr>
            <p:nvPr/>
          </p:nvSpPr>
          <p:spPr bwMode="auto">
            <a:xfrm>
              <a:off x="1228725" y="2644775"/>
              <a:ext cx="1027113" cy="346075"/>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102" name="Rectangle 57"/>
            <p:cNvSpPr>
              <a:spLocks noChangeArrowheads="1"/>
            </p:cNvSpPr>
            <p:nvPr/>
          </p:nvSpPr>
          <p:spPr bwMode="auto">
            <a:xfrm>
              <a:off x="1319213" y="2387600"/>
              <a:ext cx="846137" cy="165100"/>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grpSp>
    </p:spTree>
    <p:extLst>
      <p:ext uri="{BB962C8B-B14F-4D97-AF65-F5344CB8AC3E}">
        <p14:creationId xmlns:p14="http://schemas.microsoft.com/office/powerpoint/2010/main" val="938798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8991600" cy="1265238"/>
          </a:xfrm>
        </p:spPr>
        <p:txBody>
          <a:bodyPr>
            <a:normAutofit fontScale="90000"/>
          </a:bodyPr>
          <a:lstStyle/>
          <a:p>
            <a:r>
              <a:rPr lang="en-US" b="1"/>
              <a:t>Partitioning of the memory into block in Direct-Mapped cache</a:t>
            </a:r>
            <a:endParaRPr lang="en-US"/>
          </a:p>
        </p:txBody>
      </p:sp>
      <p:sp>
        <p:nvSpPr>
          <p:cNvPr id="3" name="Content Placeholder 2"/>
          <p:cNvSpPr>
            <a:spLocks noGrp="1"/>
          </p:cNvSpPr>
          <p:nvPr>
            <p:ph sz="quarter" idx="1"/>
          </p:nvPr>
        </p:nvSpPr>
        <p:spPr>
          <a:xfrm>
            <a:off x="0" y="1371600"/>
            <a:ext cx="8991600" cy="5334000"/>
          </a:xfrm>
        </p:spPr>
        <p:txBody>
          <a:bodyPr/>
          <a:lstStyle/>
          <a:p>
            <a:r>
              <a:rPr lang="en-US" b="1"/>
              <a:t>Block size</a:t>
            </a:r>
            <a:r>
              <a:rPr lang="en-US"/>
              <a:t> that are </a:t>
            </a:r>
            <a:r>
              <a:rPr lang="en-US" b="1"/>
              <a:t>equal</a:t>
            </a:r>
            <a:r>
              <a:rPr lang="en-US"/>
              <a:t> to the </a:t>
            </a:r>
            <a:r>
              <a:rPr lang="en-US" b="1"/>
              <a:t>size</a:t>
            </a:r>
            <a:r>
              <a:rPr lang="en-US"/>
              <a:t> of the </a:t>
            </a:r>
            <a:r>
              <a:rPr lang="en-US" b="1"/>
              <a:t>Direct-mapped cache</a:t>
            </a:r>
            <a:endParaRPr lang="en-US"/>
          </a:p>
        </p:txBody>
      </p:sp>
      <p:pic>
        <p:nvPicPr>
          <p:cNvPr id="1024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1426" t="11077" r="4622" b="31350"/>
          <a:stretch/>
        </p:blipFill>
        <p:spPr bwMode="auto">
          <a:xfrm>
            <a:off x="419538" y="2508469"/>
            <a:ext cx="8305800" cy="419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716953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Direct-Mapped cache</a:t>
            </a:r>
            <a:endParaRPr lang="en-US"/>
          </a:p>
        </p:txBody>
      </p:sp>
      <p:sp>
        <p:nvSpPr>
          <p:cNvPr id="3" name="Content Placeholder 2"/>
          <p:cNvSpPr>
            <a:spLocks noGrp="1"/>
          </p:cNvSpPr>
          <p:nvPr>
            <p:ph sz="quarter" idx="1"/>
          </p:nvPr>
        </p:nvSpPr>
        <p:spPr>
          <a:xfrm>
            <a:off x="152400" y="1311964"/>
            <a:ext cx="8991600" cy="5546035"/>
          </a:xfrm>
        </p:spPr>
        <p:txBody>
          <a:bodyPr/>
          <a:lstStyle/>
          <a:p>
            <a:pPr algn="just" fontAlgn="base"/>
            <a:r>
              <a:rPr lang="en-US" dirty="0"/>
              <a:t>A particular block of main memory can be mapped to one particular cache line only.</a:t>
            </a:r>
          </a:p>
          <a:p>
            <a:pPr algn="just" fontAlgn="base"/>
            <a:r>
              <a:rPr lang="en-US" dirty="0"/>
              <a:t>Block ‘j’ of main memory will map to line number (j mod number of cache lines) of the cache.</a:t>
            </a:r>
          </a:p>
          <a:p>
            <a:pPr algn="just" fontAlgn="base"/>
            <a:r>
              <a:rPr lang="en-US" dirty="0"/>
              <a:t>There is no need of any replacement algorithm.</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2793" y="3856383"/>
            <a:ext cx="4844670" cy="1978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11028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915400" cy="1295400"/>
          </a:xfrm>
        </p:spPr>
        <p:txBody>
          <a:bodyPr>
            <a:noAutofit/>
          </a:bodyPr>
          <a:lstStyle/>
          <a:p>
            <a:pPr algn="just" fontAlgn="base"/>
            <a:r>
              <a:rPr lang="en-US" sz="2800" b="1"/>
              <a:t>Consider a direct mapped cache of size 16 KB with block size 256 bytes. The size of main memory is 128 KB. Find the number of bits in tag and Tag directory size.</a:t>
            </a:r>
          </a:p>
        </p:txBody>
      </p:sp>
      <p:sp>
        <p:nvSpPr>
          <p:cNvPr id="3" name="Content Placeholder 2"/>
          <p:cNvSpPr>
            <a:spLocks noGrp="1"/>
          </p:cNvSpPr>
          <p:nvPr>
            <p:ph sz="quarter" idx="1"/>
          </p:nvPr>
        </p:nvSpPr>
        <p:spPr>
          <a:xfrm>
            <a:off x="152400" y="1447800"/>
            <a:ext cx="8763000" cy="5181600"/>
          </a:xfrm>
        </p:spPr>
        <p:txBody>
          <a:bodyPr>
            <a:normAutofit/>
          </a:bodyPr>
          <a:lstStyle/>
          <a:p>
            <a:pPr fontAlgn="base"/>
            <a:r>
              <a:rPr lang="en-US" b="1"/>
              <a:t>Solution:</a:t>
            </a:r>
          </a:p>
          <a:p>
            <a:pPr marL="0" indent="0" fontAlgn="base">
              <a:buNone/>
            </a:pPr>
            <a:r>
              <a:rPr lang="en-US"/>
              <a:t>Given:-</a:t>
            </a:r>
          </a:p>
          <a:p>
            <a:pPr lvl="1" fontAlgn="base"/>
            <a:r>
              <a:rPr lang="en-US"/>
              <a:t>Cache memory size = 16 KB</a:t>
            </a:r>
          </a:p>
          <a:p>
            <a:pPr lvl="1" fontAlgn="base"/>
            <a:r>
              <a:rPr lang="en-US"/>
              <a:t>Block size = Frame size = Line size = 256 bytes</a:t>
            </a:r>
          </a:p>
          <a:p>
            <a:pPr lvl="1" fontAlgn="base"/>
            <a:r>
              <a:rPr lang="en-US"/>
              <a:t>Main memory size = 128 KB</a:t>
            </a:r>
          </a:p>
          <a:p>
            <a:pPr fontAlgn="base"/>
            <a:r>
              <a:rPr lang="en-US"/>
              <a:t> Consider that the memory is byte addressable</a:t>
            </a:r>
          </a:p>
          <a:p>
            <a:pPr fontAlgn="base"/>
            <a:r>
              <a:rPr lang="en-US"/>
              <a:t> </a:t>
            </a:r>
            <a:r>
              <a:rPr lang="en-US" b="1" u="sng"/>
              <a:t>Number of Bits in Physical Address-</a:t>
            </a:r>
            <a:endParaRPr lang="en-US" b="1"/>
          </a:p>
          <a:p>
            <a:pPr fontAlgn="base"/>
            <a:r>
              <a:rPr lang="en-US"/>
              <a:t>Size of main memory= 128 KB = 2</a:t>
            </a:r>
            <a:r>
              <a:rPr lang="en-US" baseline="30000"/>
              <a:t>17</a:t>
            </a:r>
            <a:r>
              <a:rPr lang="en-US"/>
              <a:t> bytes</a:t>
            </a:r>
          </a:p>
          <a:p>
            <a:pPr fontAlgn="base"/>
            <a:r>
              <a:rPr lang="en-US"/>
              <a:t>Thus, Number of bits in physical address = 17 bits</a:t>
            </a:r>
          </a:p>
          <a:p>
            <a:pPr fontAlgn="base"/>
            <a:endParaRPr lang="en-US" b="1"/>
          </a:p>
        </p:txBody>
      </p:sp>
    </p:spTree>
    <p:extLst>
      <p:ext uri="{BB962C8B-B14F-4D97-AF65-F5344CB8AC3E}">
        <p14:creationId xmlns:p14="http://schemas.microsoft.com/office/powerpoint/2010/main" val="15354868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915400" cy="1295400"/>
          </a:xfrm>
        </p:spPr>
        <p:txBody>
          <a:bodyPr>
            <a:noAutofit/>
          </a:bodyPr>
          <a:lstStyle/>
          <a:p>
            <a:pPr algn="just" fontAlgn="base"/>
            <a:r>
              <a:rPr lang="en-US" sz="2800" b="1"/>
              <a:t>Consider a direct mapped cache of size 16 KB with block size 256 bytes. The size of main memory is 128 KB. Find the number of bits in tag and Tag directory size.</a:t>
            </a:r>
          </a:p>
        </p:txBody>
      </p:sp>
      <p:sp>
        <p:nvSpPr>
          <p:cNvPr id="3" name="Content Placeholder 2"/>
          <p:cNvSpPr>
            <a:spLocks noGrp="1"/>
          </p:cNvSpPr>
          <p:nvPr>
            <p:ph sz="quarter" idx="1"/>
          </p:nvPr>
        </p:nvSpPr>
        <p:spPr>
          <a:xfrm>
            <a:off x="152400" y="1447800"/>
            <a:ext cx="8763000" cy="5181600"/>
          </a:xfrm>
        </p:spPr>
        <p:txBody>
          <a:bodyPr>
            <a:normAutofit/>
          </a:bodyPr>
          <a:lstStyle/>
          <a:p>
            <a:pPr fontAlgn="base"/>
            <a:endParaRPr lang="en-US" b="1" dirty="0"/>
          </a:p>
          <a:p>
            <a:pPr fontAlgn="base"/>
            <a:r>
              <a:rPr lang="en-US" b="1" dirty="0"/>
              <a:t>Solution:</a:t>
            </a:r>
          </a:p>
          <a:p>
            <a:pPr marL="0" indent="0" fontAlgn="base">
              <a:buNone/>
            </a:pPr>
            <a:r>
              <a:rPr lang="en-US" dirty="0"/>
              <a:t>Number of bits in physical address = 17 bits</a:t>
            </a:r>
          </a:p>
          <a:p>
            <a:pPr fontAlgn="base"/>
            <a:endParaRPr lang="en-US" b="1"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3388" y="4060825"/>
            <a:ext cx="5735637"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42151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915400" cy="1295400"/>
          </a:xfrm>
        </p:spPr>
        <p:txBody>
          <a:bodyPr>
            <a:noAutofit/>
          </a:bodyPr>
          <a:lstStyle/>
          <a:p>
            <a:pPr algn="just" fontAlgn="base"/>
            <a:r>
              <a:rPr lang="en-US" sz="2800" b="1"/>
              <a:t>Consider a direct mapped cache of size 16 KB with block size 256 bytes. The size of main memory is 128 KB. Find the number of bits in tag and Tag directory size.</a:t>
            </a:r>
          </a:p>
        </p:txBody>
      </p:sp>
      <p:sp>
        <p:nvSpPr>
          <p:cNvPr id="3" name="Content Placeholder 2"/>
          <p:cNvSpPr>
            <a:spLocks noGrp="1"/>
          </p:cNvSpPr>
          <p:nvPr>
            <p:ph sz="quarter" idx="1"/>
          </p:nvPr>
        </p:nvSpPr>
        <p:spPr>
          <a:xfrm>
            <a:off x="152400" y="1905000"/>
            <a:ext cx="8763000" cy="4724400"/>
          </a:xfrm>
        </p:spPr>
        <p:txBody>
          <a:bodyPr>
            <a:normAutofit/>
          </a:bodyPr>
          <a:lstStyle/>
          <a:p>
            <a:pPr fontAlgn="base"/>
            <a:r>
              <a:rPr lang="en-US" b="1" u="sng"/>
              <a:t>Number of Bits in Block Offset-</a:t>
            </a:r>
            <a:endParaRPr lang="en-US" b="1"/>
          </a:p>
          <a:p>
            <a:pPr fontAlgn="base"/>
            <a:r>
              <a:rPr lang="en-US"/>
              <a:t> Block size = 256 bytes = 2</a:t>
            </a:r>
            <a:r>
              <a:rPr lang="en-US" baseline="30000"/>
              <a:t>8</a:t>
            </a:r>
            <a:r>
              <a:rPr lang="en-US"/>
              <a:t> bytes</a:t>
            </a:r>
          </a:p>
          <a:p>
            <a:pPr fontAlgn="base"/>
            <a:r>
              <a:rPr lang="en-US"/>
              <a:t>Thus, Number of bits in block offset = 8 bits</a:t>
            </a:r>
          </a:p>
          <a:p>
            <a:pPr fontAlgn="base"/>
            <a:endParaRPr lang="en-US"/>
          </a:p>
          <a:p>
            <a:pPr fontAlgn="base"/>
            <a:endParaRPr lang="en-US" b="1"/>
          </a:p>
        </p:txBody>
      </p:sp>
    </p:spTree>
    <p:extLst>
      <p:ext uri="{BB962C8B-B14F-4D97-AF65-F5344CB8AC3E}">
        <p14:creationId xmlns:p14="http://schemas.microsoft.com/office/powerpoint/2010/main" val="21700476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915400" cy="1295400"/>
          </a:xfrm>
        </p:spPr>
        <p:txBody>
          <a:bodyPr>
            <a:noAutofit/>
          </a:bodyPr>
          <a:lstStyle/>
          <a:p>
            <a:pPr algn="just" fontAlgn="base"/>
            <a:r>
              <a:rPr lang="en-US" sz="2800"/>
              <a:t>Consider a direct mapped cache of size 16 KB with block size 256 bytes. The size of main memory is 128 KB. Find the number of bits in tag and Tag directory size.</a:t>
            </a:r>
          </a:p>
        </p:txBody>
      </p:sp>
      <p:sp>
        <p:nvSpPr>
          <p:cNvPr id="3" name="Content Placeholder 2"/>
          <p:cNvSpPr>
            <a:spLocks noGrp="1"/>
          </p:cNvSpPr>
          <p:nvPr>
            <p:ph sz="quarter" idx="1"/>
          </p:nvPr>
        </p:nvSpPr>
        <p:spPr>
          <a:xfrm>
            <a:off x="152400" y="1447800"/>
            <a:ext cx="8915400" cy="5181600"/>
          </a:xfrm>
        </p:spPr>
        <p:txBody>
          <a:bodyPr>
            <a:normAutofit/>
          </a:bodyPr>
          <a:lstStyle/>
          <a:p>
            <a:pPr fontAlgn="base"/>
            <a:r>
              <a:rPr lang="en-US" b="1" u="sng"/>
              <a:t>Number of Bits in Line Number-</a:t>
            </a:r>
            <a:endParaRPr lang="en-US" b="1"/>
          </a:p>
          <a:p>
            <a:pPr marL="0" indent="0" fontAlgn="base">
              <a:buNone/>
            </a:pPr>
            <a:r>
              <a:rPr lang="en-US"/>
              <a:t>Total number of lines in cache = Cache size /Line size</a:t>
            </a:r>
          </a:p>
          <a:p>
            <a:pPr fontAlgn="base"/>
            <a:r>
              <a:rPr lang="en-US"/>
              <a:t>= 16 KB / 256 bytes</a:t>
            </a:r>
          </a:p>
          <a:p>
            <a:pPr fontAlgn="base"/>
            <a:r>
              <a:rPr lang="en-US"/>
              <a:t>= 2</a:t>
            </a:r>
            <a:r>
              <a:rPr lang="en-US" baseline="30000"/>
              <a:t>14</a:t>
            </a:r>
            <a:r>
              <a:rPr lang="en-US"/>
              <a:t> bytes / 2</a:t>
            </a:r>
            <a:r>
              <a:rPr lang="en-US" baseline="30000"/>
              <a:t>8</a:t>
            </a:r>
            <a:r>
              <a:rPr lang="en-US"/>
              <a:t> bytes = = 2</a:t>
            </a:r>
            <a:r>
              <a:rPr lang="en-US" baseline="30000"/>
              <a:t>6</a:t>
            </a:r>
            <a:r>
              <a:rPr lang="en-US"/>
              <a:t> lines</a:t>
            </a:r>
          </a:p>
          <a:p>
            <a:pPr fontAlgn="base"/>
            <a:r>
              <a:rPr lang="en-US"/>
              <a:t>Thus, Number of bits in line number = 6 bits</a:t>
            </a:r>
          </a:p>
          <a:p>
            <a:pPr fontAlgn="base"/>
            <a:endParaRPr lang="en-US" b="1"/>
          </a:p>
        </p:txBody>
      </p:sp>
    </p:spTree>
    <p:extLst>
      <p:ext uri="{BB962C8B-B14F-4D97-AF65-F5344CB8AC3E}">
        <p14:creationId xmlns:p14="http://schemas.microsoft.com/office/powerpoint/2010/main" val="36481022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152400"/>
            <a:ext cx="8839200" cy="6553200"/>
          </a:xfrm>
        </p:spPr>
        <p:txBody>
          <a:bodyPr>
            <a:normAutofit/>
          </a:bodyPr>
          <a:lstStyle/>
          <a:p>
            <a:pPr fontAlgn="base"/>
            <a:r>
              <a:rPr lang="en-US" b="1" u="sng" dirty="0"/>
              <a:t>Number of Bits in Tag-</a:t>
            </a:r>
            <a:endParaRPr lang="en-US" b="1" dirty="0"/>
          </a:p>
          <a:p>
            <a:pPr fontAlgn="base"/>
            <a:r>
              <a:rPr lang="en-US" dirty="0"/>
              <a:t> = Number of bits in physical address – (Number of bits in line number + Number of bits in block offset)</a:t>
            </a:r>
          </a:p>
          <a:p>
            <a:pPr fontAlgn="base"/>
            <a:r>
              <a:rPr lang="en-US" dirty="0"/>
              <a:t>= 17 bits – (6 bits + 8 bits) = 17 bits – 14 bits</a:t>
            </a:r>
          </a:p>
          <a:p>
            <a:pPr fontAlgn="base"/>
            <a:r>
              <a:rPr lang="en-US" dirty="0"/>
              <a:t>= 3 bits</a:t>
            </a:r>
          </a:p>
          <a:p>
            <a:pPr fontAlgn="base"/>
            <a:r>
              <a:rPr lang="en-US" dirty="0"/>
              <a:t>Thus, Number of bits in tag = 3 bits</a:t>
            </a:r>
          </a:p>
          <a:p>
            <a:endParaRPr lang="en-US" dirty="0"/>
          </a:p>
        </p:txBody>
      </p:sp>
      <p:sp>
        <p:nvSpPr>
          <p:cNvPr id="4" name="Rectangle 3"/>
          <p:cNvSpPr/>
          <p:nvPr/>
        </p:nvSpPr>
        <p:spPr>
          <a:xfrm>
            <a:off x="271669" y="4509468"/>
            <a:ext cx="7779026" cy="89928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p:cNvCxnSpPr/>
          <p:nvPr/>
        </p:nvCxnSpPr>
        <p:spPr>
          <a:xfrm>
            <a:off x="2173355" y="4497147"/>
            <a:ext cx="0" cy="899284"/>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4770783" y="4509468"/>
            <a:ext cx="0" cy="910672"/>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43338" y="4774444"/>
            <a:ext cx="1272209" cy="369332"/>
          </a:xfrm>
          <a:prstGeom prst="rect">
            <a:avLst/>
          </a:prstGeom>
          <a:noFill/>
        </p:spPr>
        <p:txBody>
          <a:bodyPr wrap="square" rtlCol="0">
            <a:spAutoFit/>
          </a:bodyPr>
          <a:lstStyle/>
          <a:p>
            <a:r>
              <a:rPr lang="en-US" b="1" dirty="0"/>
              <a:t>Tag</a:t>
            </a:r>
          </a:p>
        </p:txBody>
      </p:sp>
      <p:sp>
        <p:nvSpPr>
          <p:cNvPr id="11" name="TextBox 10"/>
          <p:cNvSpPr txBox="1"/>
          <p:nvPr/>
        </p:nvSpPr>
        <p:spPr>
          <a:xfrm>
            <a:off x="5884395" y="4635943"/>
            <a:ext cx="1788614" cy="646331"/>
          </a:xfrm>
          <a:prstGeom prst="rect">
            <a:avLst/>
          </a:prstGeom>
          <a:noFill/>
        </p:spPr>
        <p:txBody>
          <a:bodyPr wrap="square" rtlCol="0">
            <a:spAutoFit/>
          </a:bodyPr>
          <a:lstStyle/>
          <a:p>
            <a:r>
              <a:rPr lang="en-US" b="1" dirty="0"/>
              <a:t>Word/ Byte Offset</a:t>
            </a:r>
          </a:p>
        </p:txBody>
      </p:sp>
      <p:sp>
        <p:nvSpPr>
          <p:cNvPr id="10" name="TextBox 9"/>
          <p:cNvSpPr txBox="1"/>
          <p:nvPr/>
        </p:nvSpPr>
        <p:spPr>
          <a:xfrm>
            <a:off x="2676939" y="4635944"/>
            <a:ext cx="1815548" cy="646331"/>
          </a:xfrm>
          <a:prstGeom prst="rect">
            <a:avLst/>
          </a:prstGeom>
          <a:noFill/>
        </p:spPr>
        <p:txBody>
          <a:bodyPr wrap="square" rtlCol="0">
            <a:spAutoFit/>
          </a:bodyPr>
          <a:lstStyle/>
          <a:p>
            <a:r>
              <a:rPr lang="en-US" b="1" dirty="0"/>
              <a:t>Block/Line Offset</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669" y="3766586"/>
            <a:ext cx="789167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270" y="5548796"/>
            <a:ext cx="8044069"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18549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152400"/>
            <a:ext cx="8839200" cy="6553200"/>
          </a:xfrm>
        </p:spPr>
        <p:txBody>
          <a:bodyPr>
            <a:normAutofit/>
          </a:bodyPr>
          <a:lstStyle/>
          <a:p>
            <a:pPr fontAlgn="base"/>
            <a:r>
              <a:rPr lang="en-US" b="1" u="sng" dirty="0"/>
              <a:t>Tag Directory Size</a:t>
            </a:r>
            <a:endParaRPr lang="en-US" b="1" dirty="0"/>
          </a:p>
          <a:p>
            <a:pPr fontAlgn="base"/>
            <a:r>
              <a:rPr lang="en-US" dirty="0"/>
              <a:t> = Number of tags x Tag size</a:t>
            </a:r>
          </a:p>
          <a:p>
            <a:pPr fontAlgn="base"/>
            <a:r>
              <a:rPr lang="en-US" dirty="0"/>
              <a:t>= Number of lines in cache x Number of bits in tag</a:t>
            </a:r>
          </a:p>
          <a:p>
            <a:pPr fontAlgn="base"/>
            <a:r>
              <a:rPr lang="en-US" dirty="0"/>
              <a:t>= 2</a:t>
            </a:r>
            <a:r>
              <a:rPr lang="en-US" baseline="30000" dirty="0"/>
              <a:t>6</a:t>
            </a:r>
            <a:r>
              <a:rPr lang="en-US" dirty="0"/>
              <a:t> x 3 bits</a:t>
            </a:r>
          </a:p>
          <a:p>
            <a:pPr fontAlgn="base"/>
            <a:r>
              <a:rPr lang="en-US" dirty="0"/>
              <a:t>= 192 bits</a:t>
            </a:r>
          </a:p>
          <a:p>
            <a:pPr fontAlgn="base"/>
            <a:r>
              <a:rPr lang="en-US" dirty="0"/>
              <a:t>= 24 bytes</a:t>
            </a:r>
          </a:p>
          <a:p>
            <a:pPr fontAlgn="base"/>
            <a:r>
              <a:rPr lang="en-US" dirty="0"/>
              <a:t>Thus, size of tag directory = 24 bytes</a:t>
            </a:r>
          </a:p>
          <a:p>
            <a:pPr fontAlgn="base"/>
            <a:endParaRPr lang="en-US" b="1" dirty="0"/>
          </a:p>
          <a:p>
            <a:endParaRPr lang="en-US" dirty="0"/>
          </a:p>
        </p:txBody>
      </p:sp>
    </p:spTree>
    <p:extLst>
      <p:ext uri="{BB962C8B-B14F-4D97-AF65-F5344CB8AC3E}">
        <p14:creationId xmlns:p14="http://schemas.microsoft.com/office/powerpoint/2010/main" val="34986391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8915400" cy="1417638"/>
          </a:xfrm>
        </p:spPr>
        <p:txBody>
          <a:bodyPr>
            <a:noAutofit/>
          </a:bodyPr>
          <a:lstStyle/>
          <a:p>
            <a:pPr algn="just" fontAlgn="base"/>
            <a:r>
              <a:rPr lang="en-US" sz="2000" b="1" u="sng" dirty="0"/>
              <a:t>Problem-02: </a:t>
            </a:r>
            <a:r>
              <a:rPr lang="en-US" sz="2000" b="1" dirty="0"/>
              <a:t>Consider a direct mapped cache of size 512 KB with block size 1 KB. There are 7 bits in the tag. Find Size of main memory, Tag directory size  and find to which cache  line block 127 will be mapped to?</a:t>
            </a:r>
          </a:p>
        </p:txBody>
      </p:sp>
      <p:sp>
        <p:nvSpPr>
          <p:cNvPr id="3" name="Content Placeholder 2"/>
          <p:cNvSpPr>
            <a:spLocks noGrp="1"/>
          </p:cNvSpPr>
          <p:nvPr>
            <p:ph sz="quarter" idx="1"/>
          </p:nvPr>
        </p:nvSpPr>
        <p:spPr>
          <a:xfrm>
            <a:off x="152400" y="1600200"/>
            <a:ext cx="8839200" cy="4525963"/>
          </a:xfrm>
        </p:spPr>
        <p:txBody>
          <a:bodyPr/>
          <a:lstStyle/>
          <a:p>
            <a:r>
              <a:rPr lang="en-US" b="1" u="sng" dirty="0"/>
              <a:t>Solution</a:t>
            </a:r>
            <a:endParaRPr lang="en-US" b="1" dirty="0"/>
          </a:p>
          <a:p>
            <a:pPr fontAlgn="base"/>
            <a:r>
              <a:rPr lang="en-US" dirty="0"/>
              <a:t>Given:</a:t>
            </a:r>
          </a:p>
          <a:p>
            <a:pPr fontAlgn="base"/>
            <a:r>
              <a:rPr lang="en-US" dirty="0"/>
              <a:t>Cache memory size = 512 KB</a:t>
            </a:r>
          </a:p>
          <a:p>
            <a:pPr fontAlgn="base"/>
            <a:r>
              <a:rPr lang="en-US" dirty="0"/>
              <a:t>Block size = Frame size = Line size = 1 KB</a:t>
            </a:r>
          </a:p>
          <a:p>
            <a:pPr fontAlgn="base"/>
            <a:r>
              <a:rPr lang="en-US" dirty="0"/>
              <a:t>Number of bits in tag = 7 bits</a:t>
            </a:r>
          </a:p>
          <a:p>
            <a:r>
              <a:rPr lang="en-US" dirty="0"/>
              <a:t>Consider that the memory is byte addressable.</a:t>
            </a:r>
          </a:p>
        </p:txBody>
      </p:sp>
    </p:spTree>
    <p:extLst>
      <p:ext uri="{BB962C8B-B14F-4D97-AF65-F5344CB8AC3E}">
        <p14:creationId xmlns:p14="http://schemas.microsoft.com/office/powerpoint/2010/main" val="31677978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1447800"/>
            <a:ext cx="8763000" cy="5410200"/>
          </a:xfrm>
        </p:spPr>
        <p:txBody>
          <a:bodyPr>
            <a:normAutofit/>
          </a:bodyPr>
          <a:lstStyle/>
          <a:p>
            <a:pPr fontAlgn="base"/>
            <a:r>
              <a:rPr lang="en-US" b="1" u="sng" dirty="0"/>
              <a:t>Number of Bits needed to find Block Offset-</a:t>
            </a:r>
            <a:endParaRPr lang="en-US" b="1" dirty="0"/>
          </a:p>
          <a:p>
            <a:pPr fontAlgn="base"/>
            <a:r>
              <a:rPr lang="en-US" dirty="0"/>
              <a:t> Block size = 1 KB = 2</a:t>
            </a:r>
            <a:r>
              <a:rPr lang="en-US" baseline="30000" dirty="0"/>
              <a:t>10</a:t>
            </a:r>
            <a:r>
              <a:rPr lang="en-US" dirty="0"/>
              <a:t> bytes</a:t>
            </a:r>
          </a:p>
          <a:p>
            <a:pPr fontAlgn="base"/>
            <a:r>
              <a:rPr lang="en-US" dirty="0"/>
              <a:t>Thus, Number of bits in word offset = 10 bits</a:t>
            </a:r>
          </a:p>
          <a:p>
            <a:pPr fontAlgn="base"/>
            <a:endParaRPr lang="en-US" dirty="0"/>
          </a:p>
          <a:p>
            <a:pPr fontAlgn="base"/>
            <a:endParaRPr lang="en-US" dirty="0"/>
          </a:p>
          <a:p>
            <a:pPr marL="0" indent="0" fontAlgn="base">
              <a:buNone/>
            </a:pPr>
            <a:r>
              <a:rPr lang="en-US" b="1" u="sng" dirty="0"/>
              <a:t>Number of Bits in Line Number</a:t>
            </a:r>
            <a:endParaRPr lang="en-US" b="1" dirty="0"/>
          </a:p>
          <a:p>
            <a:pPr fontAlgn="base"/>
            <a:r>
              <a:rPr lang="en-US" dirty="0"/>
              <a:t>Cache size / Line size = 512 KB / 1 KB = 2</a:t>
            </a:r>
            <a:r>
              <a:rPr lang="en-US" baseline="30000" dirty="0"/>
              <a:t>9</a:t>
            </a:r>
            <a:r>
              <a:rPr lang="en-US" dirty="0"/>
              <a:t> lines </a:t>
            </a:r>
          </a:p>
          <a:p>
            <a:pPr fontAlgn="base"/>
            <a:r>
              <a:rPr lang="en-US" dirty="0"/>
              <a:t>Number of bits in line number = 9 bits</a:t>
            </a:r>
          </a:p>
          <a:p>
            <a:pPr fontAlgn="base"/>
            <a:endParaRPr lang="en-US" dirty="0"/>
          </a:p>
        </p:txBody>
      </p:sp>
      <p:sp>
        <p:nvSpPr>
          <p:cNvPr id="4" name="Title 3"/>
          <p:cNvSpPr>
            <a:spLocks noGrp="1"/>
          </p:cNvSpPr>
          <p:nvPr>
            <p:ph type="title"/>
          </p:nvPr>
        </p:nvSpPr>
        <p:spPr/>
        <p:txBody>
          <a:bodyPr/>
          <a:lstStyle/>
          <a:p>
            <a:endParaRPr lang="en-US"/>
          </a:p>
        </p:txBody>
      </p:sp>
    </p:spTree>
    <p:extLst>
      <p:ext uri="{BB962C8B-B14F-4D97-AF65-F5344CB8AC3E}">
        <p14:creationId xmlns:p14="http://schemas.microsoft.com/office/powerpoint/2010/main" val="34268943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76200" y="152400"/>
            <a:ext cx="9067800" cy="6553200"/>
          </a:xfrm>
        </p:spPr>
        <p:txBody>
          <a:bodyPr>
            <a:normAutofit fontScale="92500" lnSpcReduction="20000"/>
          </a:bodyPr>
          <a:lstStyle/>
          <a:p>
            <a:pPr marL="0" indent="0">
              <a:buNone/>
            </a:pPr>
            <a:r>
              <a:rPr lang="en-US" b="1" u="sng" dirty="0"/>
              <a:t>Number of bits in physical address</a:t>
            </a:r>
          </a:p>
          <a:p>
            <a:pPr marL="0" indent="0">
              <a:buNone/>
            </a:pPr>
            <a:r>
              <a:rPr lang="en-US" dirty="0"/>
              <a:t>= Number of bits in tag + Number of bits in line number + Number of bits in block offset</a:t>
            </a:r>
          </a:p>
          <a:p>
            <a:r>
              <a:rPr lang="en-US" dirty="0"/>
              <a:t>= 7 bits + 9 bits + 10 bits = 26 bits</a:t>
            </a:r>
          </a:p>
          <a:p>
            <a:pPr marL="0" indent="0">
              <a:buNone/>
            </a:pPr>
            <a:r>
              <a:rPr lang="en-US" dirty="0"/>
              <a:t>Number of bits in physical address = 26 bits</a:t>
            </a:r>
          </a:p>
          <a:p>
            <a:pPr marL="0" indent="0" fontAlgn="base">
              <a:buNone/>
            </a:pPr>
            <a:r>
              <a:rPr lang="en-US" b="1" u="sng" dirty="0"/>
              <a:t>Size of Main Memory-</a:t>
            </a:r>
            <a:endParaRPr lang="en-US" b="1" dirty="0"/>
          </a:p>
          <a:p>
            <a:pPr fontAlgn="base"/>
            <a:r>
              <a:rPr lang="en-US" dirty="0"/>
              <a:t> Number of bits in physical address = 26 bits</a:t>
            </a:r>
          </a:p>
          <a:p>
            <a:pPr fontAlgn="base"/>
            <a:r>
              <a:rPr lang="en-US" dirty="0"/>
              <a:t>Thus, Size of main memory = 2</a:t>
            </a:r>
            <a:r>
              <a:rPr lang="en-US" baseline="30000" dirty="0"/>
              <a:t>26</a:t>
            </a:r>
            <a:r>
              <a:rPr lang="en-US" dirty="0"/>
              <a:t> bytes = 64 MB</a:t>
            </a:r>
          </a:p>
          <a:p>
            <a:pPr fontAlgn="base"/>
            <a:r>
              <a:rPr lang="en-US" b="1" u="sng" dirty="0"/>
              <a:t>Tag Directory Size-</a:t>
            </a:r>
            <a:endParaRPr lang="en-US" b="1" dirty="0"/>
          </a:p>
          <a:p>
            <a:pPr fontAlgn="base"/>
            <a:r>
              <a:rPr lang="en-US" dirty="0"/>
              <a:t> Tag directory size = Number of tags x Tag size</a:t>
            </a:r>
          </a:p>
          <a:p>
            <a:pPr marL="0" indent="0" fontAlgn="base">
              <a:buNone/>
            </a:pPr>
            <a:r>
              <a:rPr lang="en-US" dirty="0"/>
              <a:t>= Number of lines in cache x Number of bits in tag = = 2</a:t>
            </a:r>
            <a:r>
              <a:rPr lang="en-US" baseline="30000" dirty="0"/>
              <a:t>9</a:t>
            </a:r>
            <a:r>
              <a:rPr lang="en-US" dirty="0"/>
              <a:t> x 7 bits</a:t>
            </a:r>
          </a:p>
          <a:p>
            <a:pPr fontAlgn="base"/>
            <a:r>
              <a:rPr lang="en-US" dirty="0"/>
              <a:t>= 3584 bits = 448 bytes</a:t>
            </a:r>
          </a:p>
          <a:p>
            <a:pPr fontAlgn="base"/>
            <a:r>
              <a:rPr lang="en-US" dirty="0"/>
              <a:t>Thus, size of tag directory = 448 bytes</a:t>
            </a:r>
          </a:p>
          <a:p>
            <a:pPr fontAlgn="base"/>
            <a:r>
              <a:rPr lang="en-US" b="1" u="sng" dirty="0"/>
              <a:t>Mapping</a:t>
            </a:r>
          </a:p>
          <a:p>
            <a:pPr fontAlgn="base"/>
            <a:r>
              <a:rPr lang="en-US" dirty="0"/>
              <a:t>Cache lines = 2</a:t>
            </a:r>
            <a:r>
              <a:rPr lang="en-US" baseline="30000" dirty="0"/>
              <a:t>9</a:t>
            </a:r>
            <a:r>
              <a:rPr lang="en-US" dirty="0"/>
              <a:t>   = 512 lines</a:t>
            </a:r>
          </a:p>
          <a:p>
            <a:pPr fontAlgn="base"/>
            <a:endParaRPr lang="en-US" baseline="30000" dirty="0"/>
          </a:p>
          <a:p>
            <a:pPr marL="0" indent="0" fontAlgn="base">
              <a:buNone/>
            </a:pPr>
            <a:r>
              <a:rPr lang="en-US" baseline="30000" dirty="0"/>
              <a:t>=</a:t>
            </a:r>
            <a:r>
              <a:rPr lang="en-US" dirty="0"/>
              <a:t> 127 modulo 512 = 127</a:t>
            </a:r>
            <a:r>
              <a:rPr lang="en-US" baseline="30000" dirty="0"/>
              <a:t>th</a:t>
            </a:r>
            <a:r>
              <a:rPr lang="en-US" dirty="0"/>
              <a:t> cache line</a:t>
            </a:r>
            <a:endParaRPr lang="en-US" baseline="30000" dirty="0"/>
          </a:p>
          <a:p>
            <a:pPr fontAlgn="base"/>
            <a:endParaRPr lang="en-US" b="1" dirty="0"/>
          </a:p>
          <a:p>
            <a:pPr fontAlgn="base"/>
            <a:endParaRPr lang="en-US" dirty="0"/>
          </a:p>
          <a:p>
            <a:pPr fontAlgn="base"/>
            <a:endParaRPr lang="en-US" dirty="0"/>
          </a:p>
          <a:p>
            <a:pPr marL="0" indent="0">
              <a:buNone/>
            </a:pPr>
            <a:endParaRPr lang="en-US" dirty="0"/>
          </a:p>
        </p:txBody>
      </p:sp>
    </p:spTree>
    <p:extLst>
      <p:ext uri="{BB962C8B-B14F-4D97-AF65-F5344CB8AC3E}">
        <p14:creationId xmlns:p14="http://schemas.microsoft.com/office/powerpoint/2010/main" val="28150045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8915400" cy="1341438"/>
          </a:xfrm>
        </p:spPr>
        <p:txBody>
          <a:bodyPr>
            <a:noAutofit/>
          </a:bodyPr>
          <a:lstStyle/>
          <a:p>
            <a:pPr algn="just" fontAlgn="base"/>
            <a:r>
              <a:rPr lang="en-US" sz="2400" b="1" dirty="0"/>
              <a:t>3. Consider a direct mapped cache with block size 4 KB. The size of main memory is 16 GB and there are 10 bits in the tag. Find the Size of cache memory and Tag directory size. </a:t>
            </a:r>
          </a:p>
        </p:txBody>
      </p:sp>
      <p:sp>
        <p:nvSpPr>
          <p:cNvPr id="3" name="Content Placeholder 2"/>
          <p:cNvSpPr>
            <a:spLocks noGrp="1"/>
          </p:cNvSpPr>
          <p:nvPr>
            <p:ph sz="quarter" idx="1"/>
          </p:nvPr>
        </p:nvSpPr>
        <p:spPr>
          <a:xfrm>
            <a:off x="152400" y="1524000"/>
            <a:ext cx="8915400" cy="5334000"/>
          </a:xfrm>
        </p:spPr>
        <p:txBody>
          <a:bodyPr>
            <a:normAutofit/>
          </a:bodyPr>
          <a:lstStyle/>
          <a:p>
            <a:pPr fontAlgn="base"/>
            <a:r>
              <a:rPr lang="en-US" dirty="0"/>
              <a:t>Block size = Frame size = Line size = 4 KB</a:t>
            </a:r>
          </a:p>
          <a:p>
            <a:pPr fontAlgn="base"/>
            <a:r>
              <a:rPr lang="en-US" dirty="0"/>
              <a:t>Size of main memory = 16 GB</a:t>
            </a:r>
          </a:p>
          <a:p>
            <a:pPr fontAlgn="base"/>
            <a:r>
              <a:rPr lang="en-US" dirty="0"/>
              <a:t>Number of bits in tag = 10 bits</a:t>
            </a:r>
          </a:p>
          <a:p>
            <a:pPr fontAlgn="base"/>
            <a:endParaRPr lang="en-US" dirty="0"/>
          </a:p>
          <a:p>
            <a:pPr marL="0" indent="0">
              <a:buNone/>
            </a:pPr>
            <a:r>
              <a:rPr lang="en-US" sz="2800" b="1" dirty="0"/>
              <a:t>Number of Bits in Physical Address ?</a:t>
            </a:r>
          </a:p>
          <a:p>
            <a:pPr marL="0" indent="0">
              <a:buNone/>
            </a:pPr>
            <a:r>
              <a:rPr lang="en-US" sz="2800" b="1" dirty="0"/>
              <a:t>Number of Bits in Block Offset </a:t>
            </a:r>
            <a:r>
              <a:rPr lang="en-US" sz="2800" b="1"/>
              <a:t>? </a:t>
            </a:r>
            <a:endParaRPr lang="en-US" sz="2800" b="1" dirty="0"/>
          </a:p>
          <a:p>
            <a:pPr marL="0" indent="0">
              <a:buNone/>
            </a:pPr>
            <a:r>
              <a:rPr lang="en-US" sz="2800" b="1" dirty="0"/>
              <a:t>Number of Bits in Line Number ?</a:t>
            </a:r>
          </a:p>
          <a:p>
            <a:pPr marL="0" indent="0">
              <a:buNone/>
            </a:pPr>
            <a:r>
              <a:rPr lang="en-US" sz="2800" b="1" dirty="0"/>
              <a:t>Number of Lines in Cache ?</a:t>
            </a:r>
          </a:p>
          <a:p>
            <a:pPr marL="0" indent="0">
              <a:buNone/>
            </a:pPr>
            <a:r>
              <a:rPr lang="en-US" sz="2800" b="1" dirty="0"/>
              <a:t>Size of Cache Memory?</a:t>
            </a:r>
          </a:p>
          <a:p>
            <a:pPr marL="0" indent="0">
              <a:buNone/>
            </a:pPr>
            <a:r>
              <a:rPr lang="en-US" sz="2800" b="1" dirty="0"/>
              <a:t>Tag Directory Size?</a:t>
            </a:r>
            <a:endParaRPr lang="en-US" dirty="0"/>
          </a:p>
        </p:txBody>
      </p:sp>
    </p:spTree>
    <p:extLst>
      <p:ext uri="{BB962C8B-B14F-4D97-AF65-F5344CB8AC3E}">
        <p14:creationId xmlns:p14="http://schemas.microsoft.com/office/powerpoint/2010/main" val="17025934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rmAutofit fontScale="90000"/>
          </a:bodyPr>
          <a:lstStyle/>
          <a:p>
            <a:r>
              <a:rPr lang="en-US" b="1"/>
              <a:t>Set Associative Mapping</a:t>
            </a:r>
            <a:endParaRPr lang="en-US"/>
          </a:p>
        </p:txBody>
      </p:sp>
      <p:sp>
        <p:nvSpPr>
          <p:cNvPr id="3" name="Content Placeholder 2"/>
          <p:cNvSpPr>
            <a:spLocks noGrp="1"/>
          </p:cNvSpPr>
          <p:nvPr>
            <p:ph sz="quarter" idx="1"/>
          </p:nvPr>
        </p:nvSpPr>
        <p:spPr>
          <a:xfrm>
            <a:off x="152400" y="685800"/>
            <a:ext cx="8915400" cy="6096000"/>
          </a:xfrm>
        </p:spPr>
        <p:txBody>
          <a:bodyPr/>
          <a:lstStyle/>
          <a:p>
            <a:pPr fontAlgn="base"/>
            <a:r>
              <a:rPr lang="en-US" dirty="0"/>
              <a:t>A particular block of main memory can be mapped to one particular cache set only.</a:t>
            </a:r>
          </a:p>
          <a:p>
            <a:pPr fontAlgn="base"/>
            <a:r>
              <a:rPr lang="en-US" dirty="0"/>
              <a:t>Block ‘j’ of main memory will map to set number (j mod number of sets in cache) of the cache.</a:t>
            </a:r>
          </a:p>
          <a:p>
            <a:pPr fontAlgn="base"/>
            <a:r>
              <a:rPr lang="en-US" dirty="0"/>
              <a:t>A replacement algorithm is needed if the cache is full.</a:t>
            </a:r>
          </a:p>
          <a:p>
            <a:pPr fontAlgn="base"/>
            <a:r>
              <a:rPr lang="en-US" dirty="0"/>
              <a:t>Set number = number of blocks in the set= index</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3799" y="3664710"/>
            <a:ext cx="6754813"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28457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ChangeArrowheads="1"/>
          </p:cNvSpPr>
          <p:nvPr>
            <p:ph type="title"/>
          </p:nvPr>
        </p:nvSpPr>
        <p:spPr/>
        <p:txBody>
          <a:bodyPr/>
          <a:lstStyle/>
          <a:p>
            <a:pPr eaLnBrk="1" fontAlgn="auto" hangingPunct="1">
              <a:spcAft>
                <a:spcPts val="0"/>
              </a:spcAft>
              <a:defRPr/>
            </a:pPr>
            <a:r>
              <a:rPr lang="en-US" dirty="0">
                <a:solidFill>
                  <a:schemeClr val="tx1"/>
                </a:solidFill>
              </a:rPr>
              <a:t>Set-Associative mapping</a:t>
            </a:r>
          </a:p>
        </p:txBody>
      </p:sp>
      <p:sp>
        <p:nvSpPr>
          <p:cNvPr id="41987" name="Text Box 192"/>
          <p:cNvSpPr txBox="1">
            <a:spLocks noChangeArrowheads="1"/>
          </p:cNvSpPr>
          <p:nvPr/>
        </p:nvSpPr>
        <p:spPr bwMode="auto">
          <a:xfrm>
            <a:off x="4181438" y="1756568"/>
            <a:ext cx="4623382"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i="1" dirty="0">
                <a:latin typeface="Corbel" panose="020B0503020204020204" pitchFamily="34" charset="0"/>
              </a:rPr>
              <a:t>Blocks of cache are grouped into sets. </a:t>
            </a:r>
          </a:p>
          <a:p>
            <a:pPr eaLnBrk="1" hangingPunct="1"/>
            <a:r>
              <a:rPr lang="en-US" altLang="en-US" sz="1600" i="1" dirty="0">
                <a:latin typeface="Corbel" panose="020B0503020204020204" pitchFamily="34" charset="0"/>
              </a:rPr>
              <a:t>Mapping function allows a block of the main </a:t>
            </a:r>
          </a:p>
          <a:p>
            <a:pPr eaLnBrk="1" hangingPunct="1"/>
            <a:r>
              <a:rPr lang="en-US" altLang="en-US" sz="1600" i="1" dirty="0">
                <a:latin typeface="Corbel" panose="020B0503020204020204" pitchFamily="34" charset="0"/>
              </a:rPr>
              <a:t>memory to reside in any block of a specific set.</a:t>
            </a:r>
          </a:p>
          <a:p>
            <a:pPr eaLnBrk="1" hangingPunct="1"/>
            <a:r>
              <a:rPr lang="en-US" altLang="en-US" sz="1600" i="1" dirty="0">
                <a:latin typeface="Corbel" panose="020B0503020204020204" pitchFamily="34" charset="0"/>
              </a:rPr>
              <a:t>Divide the cache into 64 sets, with two blocks per set. </a:t>
            </a:r>
          </a:p>
          <a:p>
            <a:pPr eaLnBrk="1" hangingPunct="1"/>
            <a:r>
              <a:rPr lang="en-US" altLang="en-US" sz="1600" i="1" dirty="0">
                <a:latin typeface="Corbel" panose="020B0503020204020204" pitchFamily="34" charset="0"/>
              </a:rPr>
              <a:t>Memory block 0, 64, 128 etc. map to block 0, and they </a:t>
            </a:r>
          </a:p>
          <a:p>
            <a:pPr eaLnBrk="1" hangingPunct="1"/>
            <a:r>
              <a:rPr lang="en-US" altLang="en-US" sz="1600" i="1" dirty="0">
                <a:latin typeface="Corbel" panose="020B0503020204020204" pitchFamily="34" charset="0"/>
              </a:rPr>
              <a:t>can occupy either of the two positions.</a:t>
            </a:r>
          </a:p>
          <a:p>
            <a:pPr eaLnBrk="1" hangingPunct="1"/>
            <a:r>
              <a:rPr lang="en-US" altLang="en-US" sz="1600" i="1" dirty="0">
                <a:latin typeface="Corbel" panose="020B0503020204020204" pitchFamily="34" charset="0"/>
              </a:rPr>
              <a:t>Memory address is divided into three fields:</a:t>
            </a:r>
          </a:p>
          <a:p>
            <a:pPr eaLnBrk="1" hangingPunct="1"/>
            <a:r>
              <a:rPr lang="en-US" altLang="en-US" sz="1600" i="1" dirty="0">
                <a:latin typeface="Corbel" panose="020B0503020204020204" pitchFamily="34" charset="0"/>
              </a:rPr>
              <a:t>      - 6 bit field determines the set number.</a:t>
            </a:r>
          </a:p>
          <a:p>
            <a:pPr eaLnBrk="1" hangingPunct="1"/>
            <a:r>
              <a:rPr lang="en-US" altLang="en-US" sz="1600" i="1" dirty="0">
                <a:latin typeface="Corbel" panose="020B0503020204020204" pitchFamily="34" charset="0"/>
              </a:rPr>
              <a:t>      - High order 6 bit fields are compared to the tag</a:t>
            </a:r>
          </a:p>
          <a:p>
            <a:pPr eaLnBrk="1" hangingPunct="1"/>
            <a:r>
              <a:rPr lang="en-US" altLang="en-US" sz="1600" i="1" dirty="0">
                <a:latin typeface="Corbel" panose="020B0503020204020204" pitchFamily="34" charset="0"/>
              </a:rPr>
              <a:t>         fields of the two blocks in a set.</a:t>
            </a:r>
          </a:p>
          <a:p>
            <a:pPr eaLnBrk="1" hangingPunct="1"/>
            <a:r>
              <a:rPr lang="en-US" altLang="en-US" sz="1600" i="1" dirty="0">
                <a:latin typeface="Corbel" panose="020B0503020204020204" pitchFamily="34" charset="0"/>
              </a:rPr>
              <a:t>Set-associative mapping combination of direct and </a:t>
            </a:r>
          </a:p>
          <a:p>
            <a:pPr eaLnBrk="1" hangingPunct="1"/>
            <a:r>
              <a:rPr lang="en-US" altLang="en-US" sz="1600" i="1" dirty="0">
                <a:latin typeface="Corbel" panose="020B0503020204020204" pitchFamily="34" charset="0"/>
              </a:rPr>
              <a:t>associative mapping. </a:t>
            </a:r>
          </a:p>
          <a:p>
            <a:pPr eaLnBrk="1" hangingPunct="1"/>
            <a:r>
              <a:rPr lang="en-US" altLang="en-US" sz="1600" i="1" dirty="0">
                <a:latin typeface="Corbel" panose="020B0503020204020204" pitchFamily="34" charset="0"/>
              </a:rPr>
              <a:t>I = j modulo 64 ( as the </a:t>
            </a:r>
            <a:r>
              <a:rPr lang="en-US" altLang="en-US" sz="1600" i="1">
                <a:latin typeface="Corbel" panose="020B0503020204020204" pitchFamily="34" charset="0"/>
              </a:rPr>
              <a:t>set size is 64)</a:t>
            </a:r>
            <a:endParaRPr lang="en-US" altLang="en-US" sz="1600" i="1" dirty="0">
              <a:latin typeface="Corbel" panose="020B0503020204020204" pitchFamily="34" charset="0"/>
            </a:endParaRPr>
          </a:p>
          <a:p>
            <a:pPr eaLnBrk="1" hangingPunct="1"/>
            <a:r>
              <a:rPr lang="en-US" altLang="en-US" sz="1600" i="1" dirty="0">
                <a:latin typeface="Corbel" panose="020B0503020204020204" pitchFamily="34" charset="0"/>
              </a:rPr>
              <a:t>Number of blocks per set is a design parameter. </a:t>
            </a:r>
          </a:p>
          <a:p>
            <a:pPr eaLnBrk="1" hangingPunct="1"/>
            <a:r>
              <a:rPr lang="en-US" altLang="en-US" sz="1600" i="1" dirty="0">
                <a:latin typeface="Corbel" panose="020B0503020204020204" pitchFamily="34" charset="0"/>
              </a:rPr>
              <a:t>     - One extreme is to have all the blocks in one set,</a:t>
            </a:r>
          </a:p>
          <a:p>
            <a:pPr eaLnBrk="1" hangingPunct="1"/>
            <a:r>
              <a:rPr lang="en-US" altLang="en-US" sz="1600" i="1" dirty="0">
                <a:latin typeface="Corbel" panose="020B0503020204020204" pitchFamily="34" charset="0"/>
              </a:rPr>
              <a:t>        requiring no set bits (fully associative mapping).</a:t>
            </a:r>
          </a:p>
          <a:p>
            <a:pPr eaLnBrk="1" hangingPunct="1"/>
            <a:r>
              <a:rPr lang="en-US" altLang="en-US" sz="1600" i="1" dirty="0">
                <a:latin typeface="Corbel" panose="020B0503020204020204" pitchFamily="34" charset="0"/>
              </a:rPr>
              <a:t>     - Other extreme is to have one block per set, is </a:t>
            </a:r>
          </a:p>
          <a:p>
            <a:pPr eaLnBrk="1" hangingPunct="1"/>
            <a:r>
              <a:rPr lang="en-US" altLang="en-US" sz="1600" i="1" dirty="0">
                <a:latin typeface="Corbel" panose="020B0503020204020204" pitchFamily="34" charset="0"/>
              </a:rPr>
              <a:t>        the same as </a:t>
            </a:r>
            <a:r>
              <a:rPr lang="en-US" altLang="en-US" sz="1600" i="1" dirty="0">
                <a:solidFill>
                  <a:srgbClr val="C00000"/>
                </a:solidFill>
                <a:latin typeface="Corbel" panose="020B0503020204020204" pitchFamily="34" charset="0"/>
              </a:rPr>
              <a:t>direct mapping. </a:t>
            </a:r>
          </a:p>
        </p:txBody>
      </p:sp>
      <p:grpSp>
        <p:nvGrpSpPr>
          <p:cNvPr id="41988" name="Group 152"/>
          <p:cNvGrpSpPr>
            <a:grpSpLocks/>
          </p:cNvGrpSpPr>
          <p:nvPr/>
        </p:nvGrpSpPr>
        <p:grpSpPr bwMode="auto">
          <a:xfrm>
            <a:off x="533400" y="1524000"/>
            <a:ext cx="3365500" cy="5181600"/>
            <a:chOff x="715963" y="1524000"/>
            <a:chExt cx="3365500" cy="5213350"/>
          </a:xfrm>
        </p:grpSpPr>
        <p:sp>
          <p:nvSpPr>
            <p:cNvPr id="154" name="Rectangle 116"/>
            <p:cNvSpPr>
              <a:spLocks noChangeArrowheads="1"/>
            </p:cNvSpPr>
            <p:nvPr/>
          </p:nvSpPr>
          <p:spPr bwMode="auto">
            <a:xfrm>
              <a:off x="1228726" y="2297113"/>
              <a:ext cx="1027112" cy="347662"/>
            </a:xfrm>
            <a:prstGeom prst="rect">
              <a:avLst/>
            </a:prstGeom>
            <a:solidFill>
              <a:schemeClr val="accent1">
                <a:lumMod val="20000"/>
                <a:lumOff val="80000"/>
              </a:schemeClr>
            </a:solidFill>
            <a:ln w="15875">
              <a:solidFill>
                <a:srgbClr val="000000"/>
              </a:solidFill>
              <a:miter lim="800000"/>
              <a:headEnd/>
              <a:tailEnd/>
            </a:ln>
          </p:spPr>
          <p:txBody>
            <a:bodyPr/>
            <a:lstStyle/>
            <a:p>
              <a:pPr fontAlgn="auto">
                <a:spcBef>
                  <a:spcPts val="0"/>
                </a:spcBef>
                <a:spcAft>
                  <a:spcPts val="0"/>
                </a:spcAft>
                <a:defRPr/>
              </a:pPr>
              <a:endParaRPr lang="en-US">
                <a:latin typeface="+mn-lt"/>
              </a:endParaRPr>
            </a:p>
          </p:txBody>
        </p:sp>
        <p:sp>
          <p:nvSpPr>
            <p:cNvPr id="155" name="Rectangle 4"/>
            <p:cNvSpPr>
              <a:spLocks noChangeArrowheads="1"/>
            </p:cNvSpPr>
            <p:nvPr/>
          </p:nvSpPr>
          <p:spPr bwMode="auto">
            <a:xfrm>
              <a:off x="3009901" y="1931988"/>
              <a:ext cx="1027112" cy="347662"/>
            </a:xfrm>
            <a:prstGeom prst="rect">
              <a:avLst/>
            </a:prstGeom>
            <a:solidFill>
              <a:schemeClr val="accent1">
                <a:lumMod val="40000"/>
                <a:lumOff val="60000"/>
              </a:schemeClr>
            </a:solidFill>
            <a:ln w="0">
              <a:solidFill>
                <a:srgbClr val="B2FFFF"/>
              </a:solidFill>
              <a:miter lim="800000"/>
              <a:headEnd/>
              <a:tailEnd/>
            </a:ln>
          </p:spPr>
          <p:txBody>
            <a:bodyPr/>
            <a:lstStyle/>
            <a:p>
              <a:pPr fontAlgn="auto">
                <a:spcBef>
                  <a:spcPts val="0"/>
                </a:spcBef>
                <a:spcAft>
                  <a:spcPts val="0"/>
                </a:spcAft>
                <a:defRPr/>
              </a:pPr>
              <a:endParaRPr lang="en-US">
                <a:latin typeface="+mn-lt"/>
              </a:endParaRPr>
            </a:p>
          </p:txBody>
        </p:sp>
        <p:sp>
          <p:nvSpPr>
            <p:cNvPr id="156" name="Rectangle 5"/>
            <p:cNvSpPr>
              <a:spLocks noChangeArrowheads="1"/>
            </p:cNvSpPr>
            <p:nvPr/>
          </p:nvSpPr>
          <p:spPr bwMode="auto">
            <a:xfrm>
              <a:off x="3009901" y="1600200"/>
              <a:ext cx="1027112" cy="331788"/>
            </a:xfrm>
            <a:prstGeom prst="rect">
              <a:avLst/>
            </a:prstGeom>
            <a:solidFill>
              <a:schemeClr val="accent1">
                <a:lumMod val="75000"/>
              </a:schemeClr>
            </a:solidFill>
            <a:ln w="0">
              <a:solidFill>
                <a:schemeClr val="accent1">
                  <a:lumMod val="50000"/>
                </a:schemeClr>
              </a:solidFill>
              <a:miter lim="800000"/>
              <a:headEnd/>
              <a:tailEnd/>
            </a:ln>
          </p:spPr>
          <p:txBody>
            <a:bodyPr/>
            <a:lstStyle/>
            <a:p>
              <a:pPr fontAlgn="auto">
                <a:spcBef>
                  <a:spcPts val="0"/>
                </a:spcBef>
                <a:spcAft>
                  <a:spcPts val="0"/>
                </a:spcAft>
                <a:defRPr/>
              </a:pPr>
              <a:endParaRPr lang="en-US">
                <a:latin typeface="+mn-lt"/>
              </a:endParaRPr>
            </a:p>
          </p:txBody>
        </p:sp>
        <p:sp>
          <p:nvSpPr>
            <p:cNvPr id="42009" name="Rectangle 6"/>
            <p:cNvSpPr>
              <a:spLocks noChangeArrowheads="1"/>
            </p:cNvSpPr>
            <p:nvPr/>
          </p:nvSpPr>
          <p:spPr bwMode="auto">
            <a:xfrm>
              <a:off x="3009900" y="2960687"/>
              <a:ext cx="1027113" cy="347663"/>
            </a:xfrm>
            <a:prstGeom prst="rect">
              <a:avLst/>
            </a:prstGeom>
            <a:solidFill>
              <a:srgbClr val="808080"/>
            </a:solidFill>
            <a:ln w="0">
              <a:solidFill>
                <a:srgbClr val="80808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10" name="Rectangle 7"/>
            <p:cNvSpPr>
              <a:spLocks noChangeArrowheads="1"/>
            </p:cNvSpPr>
            <p:nvPr/>
          </p:nvSpPr>
          <p:spPr bwMode="auto">
            <a:xfrm>
              <a:off x="3009900" y="2960687"/>
              <a:ext cx="1027113" cy="347663"/>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159" name="Rectangle 8"/>
            <p:cNvSpPr>
              <a:spLocks noChangeArrowheads="1"/>
            </p:cNvSpPr>
            <p:nvPr/>
          </p:nvSpPr>
          <p:spPr bwMode="auto">
            <a:xfrm>
              <a:off x="3009901" y="3308350"/>
              <a:ext cx="1027112" cy="347663"/>
            </a:xfrm>
            <a:prstGeom prst="rect">
              <a:avLst/>
            </a:prstGeom>
            <a:solidFill>
              <a:schemeClr val="accent1">
                <a:lumMod val="75000"/>
              </a:schemeClr>
            </a:solidFill>
            <a:ln w="0">
              <a:solidFill>
                <a:schemeClr val="accent1">
                  <a:lumMod val="50000"/>
                </a:schemeClr>
              </a:solidFill>
              <a:miter lim="800000"/>
              <a:headEnd/>
              <a:tailEnd/>
            </a:ln>
          </p:spPr>
          <p:txBody>
            <a:bodyPr/>
            <a:lstStyle/>
            <a:p>
              <a:pPr fontAlgn="auto">
                <a:spcBef>
                  <a:spcPts val="0"/>
                </a:spcBef>
                <a:spcAft>
                  <a:spcPts val="0"/>
                </a:spcAft>
                <a:defRPr/>
              </a:pPr>
              <a:endParaRPr lang="en-US">
                <a:latin typeface="+mn-lt"/>
              </a:endParaRPr>
            </a:p>
          </p:txBody>
        </p:sp>
        <p:sp>
          <p:nvSpPr>
            <p:cNvPr id="160" name="Rectangle 9"/>
            <p:cNvSpPr>
              <a:spLocks noChangeArrowheads="1"/>
            </p:cNvSpPr>
            <p:nvPr/>
          </p:nvSpPr>
          <p:spPr bwMode="auto">
            <a:xfrm>
              <a:off x="3009901" y="3656013"/>
              <a:ext cx="1027112" cy="346075"/>
            </a:xfrm>
            <a:prstGeom prst="rect">
              <a:avLst/>
            </a:prstGeom>
            <a:solidFill>
              <a:schemeClr val="accent1">
                <a:lumMod val="40000"/>
                <a:lumOff val="60000"/>
              </a:schemeClr>
            </a:solidFill>
            <a:ln w="0">
              <a:solidFill>
                <a:schemeClr val="accent1">
                  <a:lumMod val="50000"/>
                </a:schemeClr>
              </a:solidFill>
              <a:miter lim="800000"/>
              <a:headEnd/>
              <a:tailEnd/>
            </a:ln>
          </p:spPr>
          <p:txBody>
            <a:bodyPr/>
            <a:lstStyle/>
            <a:p>
              <a:pPr fontAlgn="auto">
                <a:spcBef>
                  <a:spcPts val="0"/>
                </a:spcBef>
                <a:spcAft>
                  <a:spcPts val="0"/>
                </a:spcAft>
                <a:defRPr/>
              </a:pPr>
              <a:endParaRPr lang="en-US">
                <a:latin typeface="+mn-lt"/>
              </a:endParaRPr>
            </a:p>
          </p:txBody>
        </p:sp>
        <p:sp>
          <p:nvSpPr>
            <p:cNvPr id="42013" name="Rectangle 10"/>
            <p:cNvSpPr>
              <a:spLocks noChangeArrowheads="1"/>
            </p:cNvSpPr>
            <p:nvPr/>
          </p:nvSpPr>
          <p:spPr bwMode="auto">
            <a:xfrm>
              <a:off x="3009900" y="4683125"/>
              <a:ext cx="1027113" cy="347662"/>
            </a:xfrm>
            <a:prstGeom prst="rect">
              <a:avLst/>
            </a:prstGeom>
            <a:solidFill>
              <a:srgbClr val="808080"/>
            </a:solidFill>
            <a:ln w="0">
              <a:solidFill>
                <a:srgbClr val="80808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14" name="Rectangle 11"/>
            <p:cNvSpPr>
              <a:spLocks noChangeArrowheads="1"/>
            </p:cNvSpPr>
            <p:nvPr/>
          </p:nvSpPr>
          <p:spPr bwMode="auto">
            <a:xfrm>
              <a:off x="3009900" y="4683125"/>
              <a:ext cx="1027113" cy="347662"/>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163" name="Rectangle 12"/>
            <p:cNvSpPr>
              <a:spLocks noChangeArrowheads="1"/>
            </p:cNvSpPr>
            <p:nvPr/>
          </p:nvSpPr>
          <p:spPr bwMode="auto">
            <a:xfrm>
              <a:off x="3009901" y="5030788"/>
              <a:ext cx="1027112" cy="331787"/>
            </a:xfrm>
            <a:prstGeom prst="rect">
              <a:avLst/>
            </a:prstGeom>
            <a:solidFill>
              <a:schemeClr val="accent1">
                <a:lumMod val="75000"/>
              </a:schemeClr>
            </a:solidFill>
            <a:ln w="0">
              <a:solidFill>
                <a:schemeClr val="accent1">
                  <a:lumMod val="50000"/>
                </a:schemeClr>
              </a:solidFill>
              <a:miter lim="800000"/>
              <a:headEnd/>
              <a:tailEnd/>
            </a:ln>
          </p:spPr>
          <p:txBody>
            <a:bodyPr/>
            <a:lstStyle/>
            <a:p>
              <a:pPr fontAlgn="auto">
                <a:spcBef>
                  <a:spcPts val="0"/>
                </a:spcBef>
                <a:spcAft>
                  <a:spcPts val="0"/>
                </a:spcAft>
                <a:defRPr/>
              </a:pPr>
              <a:endParaRPr lang="en-US">
                <a:latin typeface="+mn-lt"/>
              </a:endParaRPr>
            </a:p>
          </p:txBody>
        </p:sp>
        <p:sp>
          <p:nvSpPr>
            <p:cNvPr id="164" name="Rectangle 13"/>
            <p:cNvSpPr>
              <a:spLocks noChangeArrowheads="1"/>
            </p:cNvSpPr>
            <p:nvPr/>
          </p:nvSpPr>
          <p:spPr bwMode="auto">
            <a:xfrm>
              <a:off x="3009901" y="5362575"/>
              <a:ext cx="1027112" cy="347663"/>
            </a:xfrm>
            <a:prstGeom prst="rect">
              <a:avLst/>
            </a:prstGeom>
            <a:solidFill>
              <a:schemeClr val="accent1">
                <a:lumMod val="40000"/>
                <a:lumOff val="60000"/>
              </a:schemeClr>
            </a:solidFill>
            <a:ln w="0">
              <a:solidFill>
                <a:schemeClr val="accent1">
                  <a:lumMod val="50000"/>
                </a:schemeClr>
              </a:solidFill>
              <a:miter lim="800000"/>
              <a:headEnd/>
              <a:tailEnd/>
            </a:ln>
          </p:spPr>
          <p:txBody>
            <a:bodyPr/>
            <a:lstStyle/>
            <a:p>
              <a:pPr fontAlgn="auto">
                <a:spcBef>
                  <a:spcPts val="0"/>
                </a:spcBef>
                <a:spcAft>
                  <a:spcPts val="0"/>
                </a:spcAft>
                <a:defRPr/>
              </a:pPr>
              <a:endParaRPr lang="en-US">
                <a:latin typeface="+mn-lt"/>
              </a:endParaRPr>
            </a:p>
          </p:txBody>
        </p:sp>
        <p:sp>
          <p:nvSpPr>
            <p:cNvPr id="42017" name="Rectangle 14"/>
            <p:cNvSpPr>
              <a:spLocks noChangeArrowheads="1"/>
            </p:cNvSpPr>
            <p:nvPr/>
          </p:nvSpPr>
          <p:spPr bwMode="auto">
            <a:xfrm>
              <a:off x="3009900" y="6389687"/>
              <a:ext cx="1027113" cy="347663"/>
            </a:xfrm>
            <a:prstGeom prst="rect">
              <a:avLst/>
            </a:prstGeom>
            <a:solidFill>
              <a:srgbClr val="808080"/>
            </a:solidFill>
            <a:ln w="0">
              <a:solidFill>
                <a:srgbClr val="80808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18" name="Rectangle 15"/>
            <p:cNvSpPr>
              <a:spLocks noChangeArrowheads="1"/>
            </p:cNvSpPr>
            <p:nvPr/>
          </p:nvSpPr>
          <p:spPr bwMode="auto">
            <a:xfrm>
              <a:off x="3009900" y="6389687"/>
              <a:ext cx="1027113" cy="347663"/>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grpSp>
          <p:nvGrpSpPr>
            <p:cNvPr id="42019" name="Group 121"/>
            <p:cNvGrpSpPr>
              <a:grpSpLocks/>
            </p:cNvGrpSpPr>
            <p:nvPr/>
          </p:nvGrpSpPr>
          <p:grpSpPr bwMode="auto">
            <a:xfrm>
              <a:off x="2495559" y="1630362"/>
              <a:ext cx="463551" cy="288925"/>
              <a:chOff x="2827" y="530"/>
              <a:chExt cx="292" cy="182"/>
            </a:xfrm>
          </p:grpSpPr>
          <p:sp>
            <p:nvSpPr>
              <p:cNvPr id="42113" name="Rectangle 27"/>
              <p:cNvSpPr>
                <a:spLocks noChangeArrowheads="1"/>
              </p:cNvSpPr>
              <p:nvPr/>
            </p:nvSpPr>
            <p:spPr bwMode="auto">
              <a:xfrm>
                <a:off x="2874" y="530"/>
                <a:ext cx="185"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Main</a:t>
                </a:r>
                <a:endParaRPr lang="en-CA" altLang="en-US" sz="2400">
                  <a:latin typeface="Corbel" panose="020B0503020204020204" pitchFamily="34" charset="0"/>
                </a:endParaRPr>
              </a:p>
            </p:txBody>
          </p:sp>
          <p:sp>
            <p:nvSpPr>
              <p:cNvPr id="42114" name="Rectangle 28"/>
              <p:cNvSpPr>
                <a:spLocks noChangeArrowheads="1"/>
              </p:cNvSpPr>
              <p:nvPr/>
            </p:nvSpPr>
            <p:spPr bwMode="auto">
              <a:xfrm>
                <a:off x="2827" y="606"/>
                <a:ext cx="29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memory</a:t>
                </a:r>
                <a:endParaRPr lang="en-CA" altLang="en-US" sz="2400">
                  <a:latin typeface="Corbel" panose="020B0503020204020204" pitchFamily="34" charset="0"/>
                </a:endParaRPr>
              </a:p>
            </p:txBody>
          </p:sp>
        </p:grpSp>
        <p:sp>
          <p:nvSpPr>
            <p:cNvPr id="42020" name="Rectangle 30"/>
            <p:cNvSpPr>
              <a:spLocks noChangeArrowheads="1"/>
            </p:cNvSpPr>
            <p:nvPr/>
          </p:nvSpPr>
          <p:spPr bwMode="auto">
            <a:xfrm>
              <a:off x="3084513" y="1676400"/>
              <a:ext cx="862012" cy="180975"/>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21" name="Rectangle 29"/>
            <p:cNvSpPr>
              <a:spLocks noChangeArrowheads="1"/>
            </p:cNvSpPr>
            <p:nvPr/>
          </p:nvSpPr>
          <p:spPr bwMode="auto">
            <a:xfrm>
              <a:off x="3084513" y="1676400"/>
              <a:ext cx="862012" cy="180975"/>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22" name="Rectangle 31"/>
            <p:cNvSpPr>
              <a:spLocks noChangeArrowheads="1"/>
            </p:cNvSpPr>
            <p:nvPr/>
          </p:nvSpPr>
          <p:spPr bwMode="auto">
            <a:xfrm>
              <a:off x="3084513" y="2024062"/>
              <a:ext cx="862012" cy="16510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23" name="Rectangle 32"/>
            <p:cNvSpPr>
              <a:spLocks noChangeArrowheads="1"/>
            </p:cNvSpPr>
            <p:nvPr/>
          </p:nvSpPr>
          <p:spPr bwMode="auto">
            <a:xfrm>
              <a:off x="3084513" y="2024062"/>
              <a:ext cx="862012" cy="165100"/>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24" name="Rectangle 33"/>
            <p:cNvSpPr>
              <a:spLocks noChangeArrowheads="1"/>
            </p:cNvSpPr>
            <p:nvPr/>
          </p:nvSpPr>
          <p:spPr bwMode="auto">
            <a:xfrm>
              <a:off x="3084513" y="3051175"/>
              <a:ext cx="862012" cy="180975"/>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25" name="Rectangle 34"/>
            <p:cNvSpPr>
              <a:spLocks noChangeArrowheads="1"/>
            </p:cNvSpPr>
            <p:nvPr/>
          </p:nvSpPr>
          <p:spPr bwMode="auto">
            <a:xfrm>
              <a:off x="3084513" y="3051175"/>
              <a:ext cx="862012" cy="180975"/>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26" name="Rectangle 35"/>
            <p:cNvSpPr>
              <a:spLocks noChangeArrowheads="1"/>
            </p:cNvSpPr>
            <p:nvPr/>
          </p:nvSpPr>
          <p:spPr bwMode="auto">
            <a:xfrm>
              <a:off x="3084513" y="3398837"/>
              <a:ext cx="862012" cy="16510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27" name="Rectangle 36"/>
            <p:cNvSpPr>
              <a:spLocks noChangeArrowheads="1"/>
            </p:cNvSpPr>
            <p:nvPr/>
          </p:nvSpPr>
          <p:spPr bwMode="auto">
            <a:xfrm>
              <a:off x="3084513" y="3398837"/>
              <a:ext cx="862012" cy="165100"/>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28" name="Rectangle 37"/>
            <p:cNvSpPr>
              <a:spLocks noChangeArrowheads="1"/>
            </p:cNvSpPr>
            <p:nvPr/>
          </p:nvSpPr>
          <p:spPr bwMode="auto">
            <a:xfrm>
              <a:off x="3084513" y="3746500"/>
              <a:ext cx="862012" cy="16510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29" name="Rectangle 38"/>
            <p:cNvSpPr>
              <a:spLocks noChangeArrowheads="1"/>
            </p:cNvSpPr>
            <p:nvPr/>
          </p:nvSpPr>
          <p:spPr bwMode="auto">
            <a:xfrm>
              <a:off x="3084513" y="3746500"/>
              <a:ext cx="862012" cy="165100"/>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30" name="Rectangle 39"/>
            <p:cNvSpPr>
              <a:spLocks noChangeArrowheads="1"/>
            </p:cNvSpPr>
            <p:nvPr/>
          </p:nvSpPr>
          <p:spPr bwMode="auto">
            <a:xfrm>
              <a:off x="3084513" y="4773612"/>
              <a:ext cx="862012" cy="166688"/>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31" name="Rectangle 40"/>
            <p:cNvSpPr>
              <a:spLocks noChangeArrowheads="1"/>
            </p:cNvSpPr>
            <p:nvPr/>
          </p:nvSpPr>
          <p:spPr bwMode="auto">
            <a:xfrm>
              <a:off x="3084513" y="4773612"/>
              <a:ext cx="862012" cy="166688"/>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32" name="Rectangle 41"/>
            <p:cNvSpPr>
              <a:spLocks noChangeArrowheads="1"/>
            </p:cNvSpPr>
            <p:nvPr/>
          </p:nvSpPr>
          <p:spPr bwMode="auto">
            <a:xfrm>
              <a:off x="3084513" y="5105400"/>
              <a:ext cx="862012" cy="182562"/>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33" name="Rectangle 42"/>
            <p:cNvSpPr>
              <a:spLocks noChangeArrowheads="1"/>
            </p:cNvSpPr>
            <p:nvPr/>
          </p:nvSpPr>
          <p:spPr bwMode="auto">
            <a:xfrm>
              <a:off x="3084513" y="5105400"/>
              <a:ext cx="862012" cy="182562"/>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34" name="Rectangle 43"/>
            <p:cNvSpPr>
              <a:spLocks noChangeArrowheads="1"/>
            </p:cNvSpPr>
            <p:nvPr/>
          </p:nvSpPr>
          <p:spPr bwMode="auto">
            <a:xfrm>
              <a:off x="3084513" y="5453062"/>
              <a:ext cx="862012" cy="166688"/>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35" name="Rectangle 44"/>
            <p:cNvSpPr>
              <a:spLocks noChangeArrowheads="1"/>
            </p:cNvSpPr>
            <p:nvPr/>
          </p:nvSpPr>
          <p:spPr bwMode="auto">
            <a:xfrm>
              <a:off x="3084513" y="5453062"/>
              <a:ext cx="862012" cy="166688"/>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36" name="Rectangle 45"/>
            <p:cNvSpPr>
              <a:spLocks noChangeArrowheads="1"/>
            </p:cNvSpPr>
            <p:nvPr/>
          </p:nvSpPr>
          <p:spPr bwMode="auto">
            <a:xfrm>
              <a:off x="3084513" y="6481762"/>
              <a:ext cx="862012" cy="16510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37" name="Rectangle 46"/>
            <p:cNvSpPr>
              <a:spLocks noChangeArrowheads="1"/>
            </p:cNvSpPr>
            <p:nvPr/>
          </p:nvSpPr>
          <p:spPr bwMode="auto">
            <a:xfrm>
              <a:off x="3084513" y="6481762"/>
              <a:ext cx="862012" cy="165100"/>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38" name="Rectangle 47"/>
            <p:cNvSpPr>
              <a:spLocks noChangeArrowheads="1"/>
            </p:cNvSpPr>
            <p:nvPr/>
          </p:nvSpPr>
          <p:spPr bwMode="auto">
            <a:xfrm>
              <a:off x="3311525" y="1674812"/>
              <a:ext cx="54662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0</a:t>
              </a:r>
              <a:endParaRPr lang="en-CA" altLang="en-US" sz="1200" b="1">
                <a:latin typeface="Corbel" panose="020B0503020204020204" pitchFamily="34" charset="0"/>
              </a:endParaRPr>
            </a:p>
          </p:txBody>
        </p:sp>
        <p:sp>
          <p:nvSpPr>
            <p:cNvPr id="42039" name="Rectangle 48"/>
            <p:cNvSpPr>
              <a:spLocks noChangeArrowheads="1"/>
            </p:cNvSpPr>
            <p:nvPr/>
          </p:nvSpPr>
          <p:spPr bwMode="auto">
            <a:xfrm>
              <a:off x="3311525" y="2022475"/>
              <a:ext cx="54662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1</a:t>
              </a:r>
              <a:endParaRPr lang="en-CA" altLang="en-US" sz="1200" b="1">
                <a:latin typeface="Corbel" panose="020B0503020204020204" pitchFamily="34" charset="0"/>
              </a:endParaRPr>
            </a:p>
          </p:txBody>
        </p:sp>
        <p:sp>
          <p:nvSpPr>
            <p:cNvPr id="42040" name="Rectangle 49"/>
            <p:cNvSpPr>
              <a:spLocks noChangeArrowheads="1"/>
            </p:cNvSpPr>
            <p:nvPr/>
          </p:nvSpPr>
          <p:spPr bwMode="auto">
            <a:xfrm>
              <a:off x="3235325" y="3049587"/>
              <a:ext cx="63158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63</a:t>
              </a:r>
              <a:endParaRPr lang="en-CA" altLang="en-US" sz="1200" b="1">
                <a:latin typeface="Corbel" panose="020B0503020204020204" pitchFamily="34" charset="0"/>
              </a:endParaRPr>
            </a:p>
          </p:txBody>
        </p:sp>
        <p:sp>
          <p:nvSpPr>
            <p:cNvPr id="42041" name="Rectangle 50"/>
            <p:cNvSpPr>
              <a:spLocks noChangeArrowheads="1"/>
            </p:cNvSpPr>
            <p:nvPr/>
          </p:nvSpPr>
          <p:spPr bwMode="auto">
            <a:xfrm>
              <a:off x="3235325" y="3397250"/>
              <a:ext cx="63158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64</a:t>
              </a:r>
              <a:endParaRPr lang="en-CA" altLang="en-US" sz="1200" b="1">
                <a:latin typeface="Corbel" panose="020B0503020204020204" pitchFamily="34" charset="0"/>
              </a:endParaRPr>
            </a:p>
          </p:txBody>
        </p:sp>
        <p:sp>
          <p:nvSpPr>
            <p:cNvPr id="42042" name="Rectangle 51"/>
            <p:cNvSpPr>
              <a:spLocks noChangeArrowheads="1"/>
            </p:cNvSpPr>
            <p:nvPr/>
          </p:nvSpPr>
          <p:spPr bwMode="auto">
            <a:xfrm>
              <a:off x="3235325" y="3730625"/>
              <a:ext cx="63158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65</a:t>
              </a:r>
              <a:endParaRPr lang="en-CA" altLang="en-US" sz="1200" b="1">
                <a:latin typeface="Corbel" panose="020B0503020204020204" pitchFamily="34" charset="0"/>
              </a:endParaRPr>
            </a:p>
          </p:txBody>
        </p:sp>
        <p:sp>
          <p:nvSpPr>
            <p:cNvPr id="42043" name="Rectangle 52"/>
            <p:cNvSpPr>
              <a:spLocks noChangeArrowheads="1"/>
            </p:cNvSpPr>
            <p:nvPr/>
          </p:nvSpPr>
          <p:spPr bwMode="auto">
            <a:xfrm>
              <a:off x="3235325" y="4800600"/>
              <a:ext cx="7165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127</a:t>
              </a:r>
              <a:endParaRPr lang="en-CA" altLang="en-US" sz="1200" b="1">
                <a:latin typeface="Corbel" panose="020B0503020204020204" pitchFamily="34" charset="0"/>
              </a:endParaRPr>
            </a:p>
          </p:txBody>
        </p:sp>
        <p:sp>
          <p:nvSpPr>
            <p:cNvPr id="42044" name="Rectangle 53"/>
            <p:cNvSpPr>
              <a:spLocks noChangeArrowheads="1"/>
            </p:cNvSpPr>
            <p:nvPr/>
          </p:nvSpPr>
          <p:spPr bwMode="auto">
            <a:xfrm>
              <a:off x="3235325" y="5105400"/>
              <a:ext cx="7165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128</a:t>
              </a:r>
              <a:endParaRPr lang="en-CA" altLang="en-US" sz="1200" b="1">
                <a:latin typeface="Corbel" panose="020B0503020204020204" pitchFamily="34" charset="0"/>
              </a:endParaRPr>
            </a:p>
          </p:txBody>
        </p:sp>
        <p:sp>
          <p:nvSpPr>
            <p:cNvPr id="42045" name="Rectangle 54"/>
            <p:cNvSpPr>
              <a:spLocks noChangeArrowheads="1"/>
            </p:cNvSpPr>
            <p:nvPr/>
          </p:nvSpPr>
          <p:spPr bwMode="auto">
            <a:xfrm>
              <a:off x="3235325" y="5453062"/>
              <a:ext cx="7165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a:t>
              </a:r>
              <a:r>
                <a:rPr lang="en-CA" altLang="en-US" sz="1200">
                  <a:solidFill>
                    <a:srgbClr val="000000"/>
                  </a:solidFill>
                  <a:latin typeface="Nimbus Roman No9 L"/>
                </a:rPr>
                <a:t> </a:t>
              </a:r>
              <a:r>
                <a:rPr lang="en-CA" altLang="en-US" sz="1200" b="1">
                  <a:solidFill>
                    <a:srgbClr val="000000"/>
                  </a:solidFill>
                  <a:latin typeface="Nimbus Roman No9 L"/>
                </a:rPr>
                <a:t>129</a:t>
              </a:r>
              <a:endParaRPr lang="en-CA" altLang="en-US" sz="1200" b="1">
                <a:latin typeface="Corbel" panose="020B0503020204020204" pitchFamily="34" charset="0"/>
              </a:endParaRPr>
            </a:p>
          </p:txBody>
        </p:sp>
        <p:sp>
          <p:nvSpPr>
            <p:cNvPr id="42046" name="Rectangle 55"/>
            <p:cNvSpPr>
              <a:spLocks noChangeArrowheads="1"/>
            </p:cNvSpPr>
            <p:nvPr/>
          </p:nvSpPr>
          <p:spPr bwMode="auto">
            <a:xfrm>
              <a:off x="3205163" y="6480175"/>
              <a:ext cx="737381"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b="1">
                  <a:solidFill>
                    <a:srgbClr val="000000"/>
                  </a:solidFill>
                  <a:latin typeface="Nimbus Roman No9 L"/>
                </a:rPr>
                <a:t>Block 4095</a:t>
              </a:r>
              <a:endParaRPr lang="en-CA" altLang="en-US" sz="2400" b="1">
                <a:latin typeface="Corbel" panose="020B0503020204020204" pitchFamily="34" charset="0"/>
              </a:endParaRPr>
            </a:p>
          </p:txBody>
        </p:sp>
        <p:sp>
          <p:nvSpPr>
            <p:cNvPr id="42047" name="Freeform 65"/>
            <p:cNvSpPr>
              <a:spLocks/>
            </p:cNvSpPr>
            <p:nvPr/>
          </p:nvSpPr>
          <p:spPr bwMode="auto">
            <a:xfrm>
              <a:off x="2352675" y="3000375"/>
              <a:ext cx="544513" cy="271462"/>
            </a:xfrm>
            <a:custGeom>
              <a:avLst/>
              <a:gdLst>
                <a:gd name="T0" fmla="*/ 2147483647 w 36"/>
                <a:gd name="T1" fmla="*/ 2147483647 h 18"/>
                <a:gd name="T2" fmla="*/ 2147483647 w 36"/>
                <a:gd name="T3" fmla="*/ 2147483647 h 18"/>
                <a:gd name="T4" fmla="*/ 2147483647 w 36"/>
                <a:gd name="T5" fmla="*/ 2147483647 h 18"/>
                <a:gd name="T6" fmla="*/ 2147483647 w 36"/>
                <a:gd name="T7" fmla="*/ 909774581 h 18"/>
                <a:gd name="T8" fmla="*/ 2147483647 w 36"/>
                <a:gd name="T9" fmla="*/ 909774581 h 18"/>
                <a:gd name="T10" fmla="*/ 2147483647 w 36"/>
                <a:gd name="T11" fmla="*/ 0 h 18"/>
                <a:gd name="T12" fmla="*/ 0 w 36"/>
                <a:gd name="T13" fmla="*/ 2046989448 h 18"/>
                <a:gd name="T14" fmla="*/ 2147483647 w 36"/>
                <a:gd name="T15" fmla="*/ 2147483647 h 18"/>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18"/>
                <a:gd name="T26" fmla="*/ 36 w 36"/>
                <a:gd name="T27" fmla="*/ 18 h 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18">
                  <a:moveTo>
                    <a:pt x="14" y="18"/>
                  </a:moveTo>
                  <a:lnTo>
                    <a:pt x="14" y="13"/>
                  </a:lnTo>
                  <a:lnTo>
                    <a:pt x="36" y="13"/>
                  </a:lnTo>
                  <a:lnTo>
                    <a:pt x="36" y="4"/>
                  </a:lnTo>
                  <a:lnTo>
                    <a:pt x="14" y="4"/>
                  </a:lnTo>
                  <a:lnTo>
                    <a:pt x="14" y="0"/>
                  </a:lnTo>
                  <a:lnTo>
                    <a:pt x="0" y="9"/>
                  </a:lnTo>
                  <a:lnTo>
                    <a:pt x="14" y="18"/>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2048" name="Line 66"/>
            <p:cNvSpPr>
              <a:spLocks noChangeShapeType="1"/>
            </p:cNvSpPr>
            <p:nvPr/>
          </p:nvSpPr>
          <p:spPr bwMode="auto">
            <a:xfrm flipV="1">
              <a:off x="3009900" y="2279650"/>
              <a:ext cx="1588" cy="30321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49" name="Line 67"/>
            <p:cNvSpPr>
              <a:spLocks noChangeShapeType="1"/>
            </p:cNvSpPr>
            <p:nvPr/>
          </p:nvSpPr>
          <p:spPr bwMode="auto">
            <a:xfrm flipV="1">
              <a:off x="3009900" y="2673350"/>
              <a:ext cx="1588" cy="2873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50" name="Line 68"/>
            <p:cNvSpPr>
              <a:spLocks noChangeShapeType="1"/>
            </p:cNvSpPr>
            <p:nvPr/>
          </p:nvSpPr>
          <p:spPr bwMode="auto">
            <a:xfrm flipV="1">
              <a:off x="4037013" y="2279650"/>
              <a:ext cx="1587" cy="30321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51" name="Line 69"/>
            <p:cNvSpPr>
              <a:spLocks noChangeShapeType="1"/>
            </p:cNvSpPr>
            <p:nvPr/>
          </p:nvSpPr>
          <p:spPr bwMode="auto">
            <a:xfrm flipV="1">
              <a:off x="4037013" y="2673350"/>
              <a:ext cx="1587" cy="2873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52" name="Line 70"/>
            <p:cNvSpPr>
              <a:spLocks noChangeShapeType="1"/>
            </p:cNvSpPr>
            <p:nvPr/>
          </p:nvSpPr>
          <p:spPr bwMode="auto">
            <a:xfrm flipH="1">
              <a:off x="2949575" y="2552700"/>
              <a:ext cx="104775" cy="603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53" name="Line 71"/>
            <p:cNvSpPr>
              <a:spLocks noChangeShapeType="1"/>
            </p:cNvSpPr>
            <p:nvPr/>
          </p:nvSpPr>
          <p:spPr bwMode="auto">
            <a:xfrm flipH="1">
              <a:off x="2949575" y="2643187"/>
              <a:ext cx="104775"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54" name="Line 72"/>
            <p:cNvSpPr>
              <a:spLocks noChangeShapeType="1"/>
            </p:cNvSpPr>
            <p:nvPr/>
          </p:nvSpPr>
          <p:spPr bwMode="auto">
            <a:xfrm flipH="1">
              <a:off x="3976688" y="2552700"/>
              <a:ext cx="104775" cy="603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55" name="Line 73"/>
            <p:cNvSpPr>
              <a:spLocks noChangeShapeType="1"/>
            </p:cNvSpPr>
            <p:nvPr/>
          </p:nvSpPr>
          <p:spPr bwMode="auto">
            <a:xfrm flipH="1">
              <a:off x="3976688" y="2643187"/>
              <a:ext cx="104775"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56" name="Line 74"/>
            <p:cNvSpPr>
              <a:spLocks noChangeShapeType="1"/>
            </p:cNvSpPr>
            <p:nvPr/>
          </p:nvSpPr>
          <p:spPr bwMode="auto">
            <a:xfrm flipV="1">
              <a:off x="3009900" y="5710237"/>
              <a:ext cx="1588" cy="3032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57" name="Line 75"/>
            <p:cNvSpPr>
              <a:spLocks noChangeShapeType="1"/>
            </p:cNvSpPr>
            <p:nvPr/>
          </p:nvSpPr>
          <p:spPr bwMode="auto">
            <a:xfrm flipV="1">
              <a:off x="3009900" y="6088062"/>
              <a:ext cx="1588" cy="3016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58" name="Line 76"/>
            <p:cNvSpPr>
              <a:spLocks noChangeShapeType="1"/>
            </p:cNvSpPr>
            <p:nvPr/>
          </p:nvSpPr>
          <p:spPr bwMode="auto">
            <a:xfrm flipV="1">
              <a:off x="4037013" y="5710237"/>
              <a:ext cx="1587" cy="3032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59" name="Line 77"/>
            <p:cNvSpPr>
              <a:spLocks noChangeShapeType="1"/>
            </p:cNvSpPr>
            <p:nvPr/>
          </p:nvSpPr>
          <p:spPr bwMode="auto">
            <a:xfrm flipV="1">
              <a:off x="4037013" y="6088062"/>
              <a:ext cx="1587" cy="3016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60" name="Line 78"/>
            <p:cNvSpPr>
              <a:spLocks noChangeShapeType="1"/>
            </p:cNvSpPr>
            <p:nvPr/>
          </p:nvSpPr>
          <p:spPr bwMode="auto">
            <a:xfrm flipH="1">
              <a:off x="2949575" y="5981700"/>
              <a:ext cx="104775" cy="460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61" name="Line 79"/>
            <p:cNvSpPr>
              <a:spLocks noChangeShapeType="1"/>
            </p:cNvSpPr>
            <p:nvPr/>
          </p:nvSpPr>
          <p:spPr bwMode="auto">
            <a:xfrm flipH="1">
              <a:off x="2949575" y="6057900"/>
              <a:ext cx="104775" cy="603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62" name="Line 80"/>
            <p:cNvSpPr>
              <a:spLocks noChangeShapeType="1"/>
            </p:cNvSpPr>
            <p:nvPr/>
          </p:nvSpPr>
          <p:spPr bwMode="auto">
            <a:xfrm flipH="1">
              <a:off x="3976688" y="5981700"/>
              <a:ext cx="104775" cy="460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63" name="Line 81"/>
            <p:cNvSpPr>
              <a:spLocks noChangeShapeType="1"/>
            </p:cNvSpPr>
            <p:nvPr/>
          </p:nvSpPr>
          <p:spPr bwMode="auto">
            <a:xfrm flipH="1">
              <a:off x="3976688" y="6057900"/>
              <a:ext cx="104775" cy="603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64" name="Line 82"/>
            <p:cNvSpPr>
              <a:spLocks noChangeShapeType="1"/>
            </p:cNvSpPr>
            <p:nvPr/>
          </p:nvSpPr>
          <p:spPr bwMode="auto">
            <a:xfrm flipV="1">
              <a:off x="3009900" y="4002087"/>
              <a:ext cx="1588" cy="2873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65" name="Line 83"/>
            <p:cNvSpPr>
              <a:spLocks noChangeShapeType="1"/>
            </p:cNvSpPr>
            <p:nvPr/>
          </p:nvSpPr>
          <p:spPr bwMode="auto">
            <a:xfrm flipV="1">
              <a:off x="3009900" y="4379912"/>
              <a:ext cx="1588" cy="3032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66" name="Line 84"/>
            <p:cNvSpPr>
              <a:spLocks noChangeShapeType="1"/>
            </p:cNvSpPr>
            <p:nvPr/>
          </p:nvSpPr>
          <p:spPr bwMode="auto">
            <a:xfrm flipV="1">
              <a:off x="4037013" y="4002087"/>
              <a:ext cx="1587" cy="2873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67" name="Line 85"/>
            <p:cNvSpPr>
              <a:spLocks noChangeShapeType="1"/>
            </p:cNvSpPr>
            <p:nvPr/>
          </p:nvSpPr>
          <p:spPr bwMode="auto">
            <a:xfrm flipV="1">
              <a:off x="4037013" y="4379912"/>
              <a:ext cx="1587" cy="3032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68" name="Line 86"/>
            <p:cNvSpPr>
              <a:spLocks noChangeShapeType="1"/>
            </p:cNvSpPr>
            <p:nvPr/>
          </p:nvSpPr>
          <p:spPr bwMode="auto">
            <a:xfrm flipH="1">
              <a:off x="2949575" y="4275137"/>
              <a:ext cx="104775"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69" name="Line 87"/>
            <p:cNvSpPr>
              <a:spLocks noChangeShapeType="1"/>
            </p:cNvSpPr>
            <p:nvPr/>
          </p:nvSpPr>
          <p:spPr bwMode="auto">
            <a:xfrm flipH="1">
              <a:off x="2949575" y="4349750"/>
              <a:ext cx="104775" cy="460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70" name="Line 88"/>
            <p:cNvSpPr>
              <a:spLocks noChangeShapeType="1"/>
            </p:cNvSpPr>
            <p:nvPr/>
          </p:nvSpPr>
          <p:spPr bwMode="auto">
            <a:xfrm flipH="1">
              <a:off x="3976688" y="4275137"/>
              <a:ext cx="104775"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71" name="Line 89"/>
            <p:cNvSpPr>
              <a:spLocks noChangeShapeType="1"/>
            </p:cNvSpPr>
            <p:nvPr/>
          </p:nvSpPr>
          <p:spPr bwMode="auto">
            <a:xfrm flipH="1">
              <a:off x="3976688" y="4349750"/>
              <a:ext cx="104775" cy="460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2072" name="Group 120"/>
            <p:cNvGrpSpPr>
              <a:grpSpLocks/>
            </p:cNvGrpSpPr>
            <p:nvPr/>
          </p:nvGrpSpPr>
          <p:grpSpPr bwMode="auto">
            <a:xfrm>
              <a:off x="860425" y="4910137"/>
              <a:ext cx="1631950" cy="785813"/>
              <a:chOff x="634" y="2853"/>
              <a:chExt cx="1028" cy="495"/>
            </a:xfrm>
          </p:grpSpPr>
          <p:sp>
            <p:nvSpPr>
              <p:cNvPr id="251" name="Rectangle 98"/>
              <p:cNvSpPr>
                <a:spLocks noChangeArrowheads="1"/>
              </p:cNvSpPr>
              <p:nvPr/>
            </p:nvSpPr>
            <p:spPr bwMode="auto">
              <a:xfrm>
                <a:off x="634" y="2996"/>
                <a:ext cx="1028" cy="162"/>
              </a:xfrm>
              <a:prstGeom prst="rect">
                <a:avLst/>
              </a:prstGeom>
              <a:noFill/>
              <a:ln w="28575">
                <a:solidFill>
                  <a:schemeClr val="accent1">
                    <a:lumMod val="75000"/>
                  </a:schemeClr>
                </a:solidFill>
                <a:miter lim="800000"/>
                <a:headEnd/>
                <a:tailEnd/>
              </a:ln>
            </p:spPr>
            <p:txBody>
              <a:bodyPr/>
              <a:lstStyle/>
              <a:p>
                <a:pPr fontAlgn="auto">
                  <a:spcBef>
                    <a:spcPts val="0"/>
                  </a:spcBef>
                  <a:spcAft>
                    <a:spcPts val="0"/>
                  </a:spcAft>
                  <a:defRPr/>
                </a:pPr>
                <a:endParaRPr lang="en-US">
                  <a:latin typeface="+mn-lt"/>
                </a:endParaRPr>
              </a:p>
            </p:txBody>
          </p:sp>
          <p:sp>
            <p:nvSpPr>
              <p:cNvPr id="252" name="Line 99"/>
              <p:cNvSpPr>
                <a:spLocks noChangeShapeType="1"/>
              </p:cNvSpPr>
              <p:nvPr/>
            </p:nvSpPr>
            <p:spPr bwMode="auto">
              <a:xfrm flipV="1">
                <a:off x="957" y="2996"/>
                <a:ext cx="1" cy="162"/>
              </a:xfrm>
              <a:prstGeom prst="line">
                <a:avLst/>
              </a:prstGeom>
              <a:noFill/>
              <a:ln w="28575">
                <a:solidFill>
                  <a:schemeClr val="accent1">
                    <a:lumMod val="75000"/>
                  </a:schemeClr>
                </a:solidFill>
                <a:round/>
                <a:headEnd/>
                <a:tailEnd/>
              </a:ln>
            </p:spPr>
            <p:txBody>
              <a:bodyPr/>
              <a:lstStyle/>
              <a:p>
                <a:pPr fontAlgn="auto">
                  <a:spcBef>
                    <a:spcPts val="0"/>
                  </a:spcBef>
                  <a:spcAft>
                    <a:spcPts val="0"/>
                  </a:spcAft>
                  <a:defRPr/>
                </a:pPr>
                <a:endParaRPr lang="en-US">
                  <a:latin typeface="+mn-lt"/>
                </a:endParaRPr>
              </a:p>
            </p:txBody>
          </p:sp>
          <p:sp>
            <p:nvSpPr>
              <p:cNvPr id="253" name="Line 100"/>
              <p:cNvSpPr>
                <a:spLocks noChangeShapeType="1"/>
              </p:cNvSpPr>
              <p:nvPr/>
            </p:nvSpPr>
            <p:spPr bwMode="auto">
              <a:xfrm flipV="1">
                <a:off x="1386" y="2996"/>
                <a:ext cx="1" cy="162"/>
              </a:xfrm>
              <a:prstGeom prst="line">
                <a:avLst/>
              </a:prstGeom>
              <a:noFill/>
              <a:ln w="28575">
                <a:solidFill>
                  <a:schemeClr val="accent1">
                    <a:lumMod val="75000"/>
                  </a:schemeClr>
                </a:solidFill>
                <a:round/>
                <a:headEnd/>
                <a:tailEnd/>
              </a:ln>
            </p:spPr>
            <p:txBody>
              <a:bodyPr/>
              <a:lstStyle/>
              <a:p>
                <a:pPr fontAlgn="auto">
                  <a:spcBef>
                    <a:spcPts val="0"/>
                  </a:spcBef>
                  <a:spcAft>
                    <a:spcPts val="0"/>
                  </a:spcAft>
                  <a:defRPr/>
                </a:pPr>
                <a:endParaRPr lang="en-US">
                  <a:latin typeface="+mn-lt"/>
                </a:endParaRPr>
              </a:p>
            </p:txBody>
          </p:sp>
          <p:sp>
            <p:nvSpPr>
              <p:cNvPr id="42104" name="Rectangle 101"/>
              <p:cNvSpPr>
                <a:spLocks noChangeArrowheads="1"/>
              </p:cNvSpPr>
              <p:nvPr/>
            </p:nvSpPr>
            <p:spPr bwMode="auto">
              <a:xfrm>
                <a:off x="1148" y="3015"/>
                <a:ext cx="49"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dirty="0">
                    <a:solidFill>
                      <a:srgbClr val="000000"/>
                    </a:solidFill>
                    <a:latin typeface="Nimbus Roman No9 L"/>
                  </a:rPr>
                  <a:t>6</a:t>
                </a:r>
                <a:endParaRPr lang="en-CA" altLang="en-US" sz="2400" dirty="0">
                  <a:latin typeface="Corbel" panose="020B0503020204020204" pitchFamily="34" charset="0"/>
                </a:endParaRPr>
              </a:p>
            </p:txBody>
          </p:sp>
          <p:sp>
            <p:nvSpPr>
              <p:cNvPr id="42105" name="Rectangle 102"/>
              <p:cNvSpPr>
                <a:spLocks noChangeArrowheads="1"/>
              </p:cNvSpPr>
              <p:nvPr/>
            </p:nvSpPr>
            <p:spPr bwMode="auto">
              <a:xfrm>
                <a:off x="1500" y="3015"/>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4</a:t>
                </a:r>
                <a:endParaRPr lang="en-CA" altLang="en-US" sz="2400">
                  <a:latin typeface="Corbel" panose="020B0503020204020204" pitchFamily="34" charset="0"/>
                </a:endParaRPr>
              </a:p>
            </p:txBody>
          </p:sp>
          <p:sp>
            <p:nvSpPr>
              <p:cNvPr id="42106" name="Rectangle 103"/>
              <p:cNvSpPr>
                <a:spLocks noChangeArrowheads="1"/>
              </p:cNvSpPr>
              <p:nvPr/>
            </p:nvSpPr>
            <p:spPr bwMode="auto">
              <a:xfrm>
                <a:off x="787" y="3242"/>
                <a:ext cx="78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Main memory address</a:t>
                </a:r>
                <a:endParaRPr lang="en-CA" altLang="en-US" sz="2400">
                  <a:latin typeface="Corbel" panose="020B0503020204020204" pitchFamily="34" charset="0"/>
                </a:endParaRPr>
              </a:p>
            </p:txBody>
          </p:sp>
          <p:sp>
            <p:nvSpPr>
              <p:cNvPr id="42107" name="Rectangle 104"/>
              <p:cNvSpPr>
                <a:spLocks noChangeArrowheads="1"/>
              </p:cNvSpPr>
              <p:nvPr/>
            </p:nvSpPr>
            <p:spPr bwMode="auto">
              <a:xfrm>
                <a:off x="729" y="2853"/>
                <a:ext cx="5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T</a:t>
                </a:r>
                <a:endParaRPr lang="en-CA" altLang="en-US" sz="2400">
                  <a:latin typeface="Corbel" panose="020B0503020204020204" pitchFamily="34" charset="0"/>
                </a:endParaRPr>
              </a:p>
            </p:txBody>
          </p:sp>
          <p:sp>
            <p:nvSpPr>
              <p:cNvPr id="42108" name="Rectangle 105"/>
              <p:cNvSpPr>
                <a:spLocks noChangeArrowheads="1"/>
              </p:cNvSpPr>
              <p:nvPr/>
            </p:nvSpPr>
            <p:spPr bwMode="auto">
              <a:xfrm>
                <a:off x="776" y="2853"/>
                <a:ext cx="83"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ag</a:t>
                </a:r>
                <a:endParaRPr lang="en-CA" altLang="en-US" sz="2400">
                  <a:latin typeface="Corbel" panose="020B0503020204020204" pitchFamily="34" charset="0"/>
                </a:endParaRPr>
              </a:p>
            </p:txBody>
          </p:sp>
          <p:sp>
            <p:nvSpPr>
              <p:cNvPr id="42109" name="Rectangle 106"/>
              <p:cNvSpPr>
                <a:spLocks noChangeArrowheads="1"/>
              </p:cNvSpPr>
              <p:nvPr/>
            </p:nvSpPr>
            <p:spPr bwMode="auto">
              <a:xfrm>
                <a:off x="1081" y="2853"/>
                <a:ext cx="133"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dirty="0">
                    <a:solidFill>
                      <a:srgbClr val="000000"/>
                    </a:solidFill>
                    <a:latin typeface="Nimbus Roman No9 L"/>
                  </a:rPr>
                  <a:t>Set</a:t>
                </a:r>
                <a:endParaRPr lang="en-CA" altLang="en-US" sz="2400" dirty="0">
                  <a:latin typeface="Corbel" panose="020B0503020204020204" pitchFamily="34" charset="0"/>
                </a:endParaRPr>
              </a:p>
            </p:txBody>
          </p:sp>
          <p:sp>
            <p:nvSpPr>
              <p:cNvPr id="42110" name="Rectangle 107"/>
              <p:cNvSpPr>
                <a:spLocks noChangeArrowheads="1"/>
              </p:cNvSpPr>
              <p:nvPr/>
            </p:nvSpPr>
            <p:spPr bwMode="auto">
              <a:xfrm>
                <a:off x="1433" y="2853"/>
                <a:ext cx="83"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W</a:t>
                </a:r>
                <a:endParaRPr lang="en-CA" altLang="en-US" sz="2400">
                  <a:latin typeface="Corbel" panose="020B0503020204020204" pitchFamily="34" charset="0"/>
                </a:endParaRPr>
              </a:p>
            </p:txBody>
          </p:sp>
          <p:sp>
            <p:nvSpPr>
              <p:cNvPr id="42111" name="Rectangle 108"/>
              <p:cNvSpPr>
                <a:spLocks noChangeArrowheads="1"/>
              </p:cNvSpPr>
              <p:nvPr/>
            </p:nvSpPr>
            <p:spPr bwMode="auto">
              <a:xfrm>
                <a:off x="1500" y="2853"/>
                <a:ext cx="117"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ord</a:t>
                </a:r>
                <a:endParaRPr lang="en-CA" altLang="en-US" sz="2400">
                  <a:latin typeface="Corbel" panose="020B0503020204020204" pitchFamily="34" charset="0"/>
                </a:endParaRPr>
              </a:p>
            </p:txBody>
          </p:sp>
          <p:sp>
            <p:nvSpPr>
              <p:cNvPr id="42112" name="Rectangle 109"/>
              <p:cNvSpPr>
                <a:spLocks noChangeArrowheads="1"/>
              </p:cNvSpPr>
              <p:nvPr/>
            </p:nvSpPr>
            <p:spPr bwMode="auto">
              <a:xfrm>
                <a:off x="776" y="3015"/>
                <a:ext cx="49"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dirty="0">
                    <a:solidFill>
                      <a:srgbClr val="000000"/>
                    </a:solidFill>
                    <a:latin typeface="Nimbus Roman No9 L"/>
                  </a:rPr>
                  <a:t>6</a:t>
                </a:r>
                <a:endParaRPr lang="en-CA" altLang="en-US" sz="2400" dirty="0">
                  <a:latin typeface="Corbel" panose="020B0503020204020204" pitchFamily="34" charset="0"/>
                </a:endParaRPr>
              </a:p>
            </p:txBody>
          </p:sp>
        </p:grpSp>
        <p:sp>
          <p:nvSpPr>
            <p:cNvPr id="42073" name="Rectangle 115"/>
            <p:cNvSpPr>
              <a:spLocks noChangeArrowheads="1"/>
            </p:cNvSpPr>
            <p:nvPr/>
          </p:nvSpPr>
          <p:spPr bwMode="auto">
            <a:xfrm>
              <a:off x="3009900" y="5362575"/>
              <a:ext cx="1027113" cy="347662"/>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222" name="Rectangle 16"/>
            <p:cNvSpPr>
              <a:spLocks noChangeArrowheads="1"/>
            </p:cNvSpPr>
            <p:nvPr/>
          </p:nvSpPr>
          <p:spPr bwMode="auto">
            <a:xfrm>
              <a:off x="1228726" y="2514600"/>
              <a:ext cx="1027112" cy="346075"/>
            </a:xfrm>
            <a:prstGeom prst="rect">
              <a:avLst/>
            </a:prstGeom>
            <a:solidFill>
              <a:schemeClr val="accent1">
                <a:lumMod val="40000"/>
                <a:lumOff val="60000"/>
              </a:schemeClr>
            </a:solidFill>
            <a:ln w="0">
              <a:solidFill>
                <a:schemeClr val="accent1">
                  <a:lumMod val="50000"/>
                </a:schemeClr>
              </a:solidFill>
              <a:miter lim="800000"/>
              <a:headEnd/>
              <a:tailEnd/>
            </a:ln>
          </p:spPr>
          <p:txBody>
            <a:bodyPr/>
            <a:lstStyle/>
            <a:p>
              <a:pPr fontAlgn="auto">
                <a:spcBef>
                  <a:spcPts val="0"/>
                </a:spcBef>
                <a:spcAft>
                  <a:spcPts val="0"/>
                </a:spcAft>
                <a:defRPr/>
              </a:pPr>
              <a:endParaRPr lang="en-US">
                <a:latin typeface="+mn-lt"/>
              </a:endParaRPr>
            </a:p>
          </p:txBody>
        </p:sp>
        <p:sp>
          <p:nvSpPr>
            <p:cNvPr id="223" name="Rectangle 17"/>
            <p:cNvSpPr>
              <a:spLocks noChangeArrowheads="1"/>
            </p:cNvSpPr>
            <p:nvPr/>
          </p:nvSpPr>
          <p:spPr bwMode="auto">
            <a:xfrm>
              <a:off x="1249363" y="2166938"/>
              <a:ext cx="1027113" cy="347662"/>
            </a:xfrm>
            <a:prstGeom prst="rect">
              <a:avLst/>
            </a:prstGeom>
            <a:solidFill>
              <a:schemeClr val="accent1">
                <a:lumMod val="75000"/>
              </a:schemeClr>
            </a:solidFill>
            <a:ln w="0">
              <a:solidFill>
                <a:schemeClr val="accent1">
                  <a:lumMod val="50000"/>
                </a:schemeClr>
              </a:solidFill>
              <a:miter lim="800000"/>
              <a:headEnd/>
              <a:tailEnd/>
            </a:ln>
          </p:spPr>
          <p:txBody>
            <a:bodyPr/>
            <a:lstStyle/>
            <a:p>
              <a:pPr fontAlgn="auto">
                <a:spcBef>
                  <a:spcPts val="0"/>
                </a:spcBef>
                <a:spcAft>
                  <a:spcPts val="0"/>
                </a:spcAft>
                <a:defRPr/>
              </a:pPr>
              <a:endParaRPr lang="en-US">
                <a:latin typeface="+mn-lt"/>
              </a:endParaRPr>
            </a:p>
          </p:txBody>
        </p:sp>
        <p:sp>
          <p:nvSpPr>
            <p:cNvPr id="42076" name="Rectangle 18"/>
            <p:cNvSpPr>
              <a:spLocks noChangeArrowheads="1"/>
            </p:cNvSpPr>
            <p:nvPr/>
          </p:nvSpPr>
          <p:spPr bwMode="auto">
            <a:xfrm>
              <a:off x="1228725" y="3671887"/>
              <a:ext cx="1027113" cy="347663"/>
            </a:xfrm>
            <a:prstGeom prst="rect">
              <a:avLst/>
            </a:prstGeom>
            <a:solidFill>
              <a:srgbClr val="808080"/>
            </a:solidFill>
            <a:ln w="0">
              <a:solidFill>
                <a:srgbClr val="80808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77" name="Rectangle 19"/>
            <p:cNvSpPr>
              <a:spLocks noChangeArrowheads="1"/>
            </p:cNvSpPr>
            <p:nvPr/>
          </p:nvSpPr>
          <p:spPr bwMode="auto">
            <a:xfrm>
              <a:off x="1228725" y="3671887"/>
              <a:ext cx="1027113" cy="347663"/>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78" name="Rectangle 20"/>
            <p:cNvSpPr>
              <a:spLocks noChangeArrowheads="1"/>
            </p:cNvSpPr>
            <p:nvPr/>
          </p:nvSpPr>
          <p:spPr bwMode="auto">
            <a:xfrm>
              <a:off x="715963" y="2225675"/>
              <a:ext cx="512762" cy="180975"/>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79" name="Rectangle 21"/>
            <p:cNvSpPr>
              <a:spLocks noChangeArrowheads="1"/>
            </p:cNvSpPr>
            <p:nvPr/>
          </p:nvSpPr>
          <p:spPr bwMode="auto">
            <a:xfrm>
              <a:off x="715963" y="2606675"/>
              <a:ext cx="512762" cy="165100"/>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80" name="Rectangle 22"/>
            <p:cNvSpPr>
              <a:spLocks noChangeArrowheads="1"/>
            </p:cNvSpPr>
            <p:nvPr/>
          </p:nvSpPr>
          <p:spPr bwMode="auto">
            <a:xfrm>
              <a:off x="715963" y="3671887"/>
              <a:ext cx="512762" cy="166688"/>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81" name="Rectangle 23"/>
            <p:cNvSpPr>
              <a:spLocks noChangeArrowheads="1"/>
            </p:cNvSpPr>
            <p:nvPr/>
          </p:nvSpPr>
          <p:spPr bwMode="auto">
            <a:xfrm>
              <a:off x="881063" y="2209800"/>
              <a:ext cx="16986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tag</a:t>
              </a:r>
              <a:endParaRPr lang="en-CA" altLang="en-US" sz="2400">
                <a:latin typeface="Corbel" panose="020B0503020204020204" pitchFamily="34" charset="0"/>
              </a:endParaRPr>
            </a:p>
          </p:txBody>
        </p:sp>
        <p:sp>
          <p:nvSpPr>
            <p:cNvPr id="42082" name="Rectangle 24"/>
            <p:cNvSpPr>
              <a:spLocks noChangeArrowheads="1"/>
            </p:cNvSpPr>
            <p:nvPr/>
          </p:nvSpPr>
          <p:spPr bwMode="auto">
            <a:xfrm>
              <a:off x="881063" y="2590800"/>
              <a:ext cx="16986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tag</a:t>
              </a:r>
              <a:endParaRPr lang="en-CA" altLang="en-US" sz="2400">
                <a:latin typeface="Corbel" panose="020B0503020204020204" pitchFamily="34" charset="0"/>
              </a:endParaRPr>
            </a:p>
          </p:txBody>
        </p:sp>
        <p:sp>
          <p:nvSpPr>
            <p:cNvPr id="42083" name="Rectangle 25"/>
            <p:cNvSpPr>
              <a:spLocks noChangeArrowheads="1"/>
            </p:cNvSpPr>
            <p:nvPr/>
          </p:nvSpPr>
          <p:spPr bwMode="auto">
            <a:xfrm>
              <a:off x="881063" y="3656012"/>
              <a:ext cx="16986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tag</a:t>
              </a:r>
              <a:endParaRPr lang="en-CA" altLang="en-US" sz="2400">
                <a:latin typeface="Corbel" panose="020B0503020204020204" pitchFamily="34" charset="0"/>
              </a:endParaRPr>
            </a:p>
          </p:txBody>
        </p:sp>
        <p:sp>
          <p:nvSpPr>
            <p:cNvPr id="42084" name="Rectangle 26"/>
            <p:cNvSpPr>
              <a:spLocks noChangeArrowheads="1"/>
            </p:cNvSpPr>
            <p:nvPr/>
          </p:nvSpPr>
          <p:spPr bwMode="auto">
            <a:xfrm>
              <a:off x="1576388" y="1524000"/>
              <a:ext cx="34925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Cache</a:t>
              </a:r>
              <a:endParaRPr lang="en-CA" altLang="en-US" sz="2400">
                <a:latin typeface="Corbel" panose="020B0503020204020204" pitchFamily="34" charset="0"/>
              </a:endParaRPr>
            </a:p>
          </p:txBody>
        </p:sp>
        <p:sp>
          <p:nvSpPr>
            <p:cNvPr id="42085" name="Rectangle 58"/>
            <p:cNvSpPr>
              <a:spLocks noChangeArrowheads="1"/>
            </p:cNvSpPr>
            <p:nvPr/>
          </p:nvSpPr>
          <p:spPr bwMode="auto">
            <a:xfrm>
              <a:off x="1319213" y="2590800"/>
              <a:ext cx="846137" cy="16510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86" name="Rectangle 56"/>
            <p:cNvSpPr>
              <a:spLocks noChangeArrowheads="1"/>
            </p:cNvSpPr>
            <p:nvPr/>
          </p:nvSpPr>
          <p:spPr bwMode="auto">
            <a:xfrm>
              <a:off x="1319213" y="2273300"/>
              <a:ext cx="846137" cy="16510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87" name="Rectangle 60"/>
            <p:cNvSpPr>
              <a:spLocks noChangeArrowheads="1"/>
            </p:cNvSpPr>
            <p:nvPr/>
          </p:nvSpPr>
          <p:spPr bwMode="auto">
            <a:xfrm>
              <a:off x="1319213" y="3762375"/>
              <a:ext cx="846137" cy="166687"/>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88" name="Rectangle 61"/>
            <p:cNvSpPr>
              <a:spLocks noChangeArrowheads="1"/>
            </p:cNvSpPr>
            <p:nvPr/>
          </p:nvSpPr>
          <p:spPr bwMode="auto">
            <a:xfrm>
              <a:off x="1319213" y="3762375"/>
              <a:ext cx="846137" cy="166687"/>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89" name="Rectangle 62"/>
            <p:cNvSpPr>
              <a:spLocks noChangeArrowheads="1"/>
            </p:cNvSpPr>
            <p:nvPr/>
          </p:nvSpPr>
          <p:spPr bwMode="auto">
            <a:xfrm>
              <a:off x="1531938" y="2255837"/>
              <a:ext cx="463268"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Block 1</a:t>
              </a:r>
              <a:endParaRPr lang="en-CA" altLang="en-US" sz="2400">
                <a:latin typeface="Corbel" panose="020B0503020204020204" pitchFamily="34" charset="0"/>
              </a:endParaRPr>
            </a:p>
          </p:txBody>
        </p:sp>
        <p:sp>
          <p:nvSpPr>
            <p:cNvPr id="42090" name="Rectangle 63"/>
            <p:cNvSpPr>
              <a:spLocks noChangeArrowheads="1"/>
            </p:cNvSpPr>
            <p:nvPr/>
          </p:nvSpPr>
          <p:spPr bwMode="auto">
            <a:xfrm>
              <a:off x="1531938" y="2574925"/>
              <a:ext cx="463268"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Block 2</a:t>
              </a:r>
              <a:endParaRPr lang="en-CA" altLang="en-US" sz="2400">
                <a:latin typeface="Corbel" panose="020B0503020204020204" pitchFamily="34" charset="0"/>
              </a:endParaRPr>
            </a:p>
          </p:txBody>
        </p:sp>
        <p:sp>
          <p:nvSpPr>
            <p:cNvPr id="42091" name="Rectangle 64"/>
            <p:cNvSpPr>
              <a:spLocks noChangeArrowheads="1"/>
            </p:cNvSpPr>
            <p:nvPr/>
          </p:nvSpPr>
          <p:spPr bwMode="auto">
            <a:xfrm>
              <a:off x="1455738" y="3746500"/>
              <a:ext cx="620363"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Block 126</a:t>
              </a:r>
              <a:endParaRPr lang="en-CA" altLang="en-US" sz="2400">
                <a:latin typeface="Corbel" panose="020B0503020204020204" pitchFamily="34" charset="0"/>
              </a:endParaRPr>
            </a:p>
          </p:txBody>
        </p:sp>
        <p:sp>
          <p:nvSpPr>
            <p:cNvPr id="42092" name="Line 90"/>
            <p:cNvSpPr>
              <a:spLocks noChangeShapeType="1"/>
            </p:cNvSpPr>
            <p:nvPr/>
          </p:nvSpPr>
          <p:spPr bwMode="auto">
            <a:xfrm flipV="1">
              <a:off x="1228725" y="2990850"/>
              <a:ext cx="1588" cy="2873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93" name="Line 91"/>
            <p:cNvSpPr>
              <a:spLocks noChangeShapeType="1"/>
            </p:cNvSpPr>
            <p:nvPr/>
          </p:nvSpPr>
          <p:spPr bwMode="auto">
            <a:xfrm flipV="1">
              <a:off x="1228725" y="3368675"/>
              <a:ext cx="1588" cy="30321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94" name="Line 92"/>
            <p:cNvSpPr>
              <a:spLocks noChangeShapeType="1"/>
            </p:cNvSpPr>
            <p:nvPr/>
          </p:nvSpPr>
          <p:spPr bwMode="auto">
            <a:xfrm flipV="1">
              <a:off x="2255838" y="2990850"/>
              <a:ext cx="1587" cy="2873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95" name="Line 93"/>
            <p:cNvSpPr>
              <a:spLocks noChangeShapeType="1"/>
            </p:cNvSpPr>
            <p:nvPr/>
          </p:nvSpPr>
          <p:spPr bwMode="auto">
            <a:xfrm flipV="1">
              <a:off x="2255838" y="3368675"/>
              <a:ext cx="1587" cy="30321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96" name="Line 94"/>
            <p:cNvSpPr>
              <a:spLocks noChangeShapeType="1"/>
            </p:cNvSpPr>
            <p:nvPr/>
          </p:nvSpPr>
          <p:spPr bwMode="auto">
            <a:xfrm flipH="1">
              <a:off x="1184275" y="3263900"/>
              <a:ext cx="90488"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97" name="Line 95"/>
            <p:cNvSpPr>
              <a:spLocks noChangeShapeType="1"/>
            </p:cNvSpPr>
            <p:nvPr/>
          </p:nvSpPr>
          <p:spPr bwMode="auto">
            <a:xfrm flipH="1">
              <a:off x="1184275" y="3338512"/>
              <a:ext cx="90488" cy="460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98" name="Line 96"/>
            <p:cNvSpPr>
              <a:spLocks noChangeShapeType="1"/>
            </p:cNvSpPr>
            <p:nvPr/>
          </p:nvSpPr>
          <p:spPr bwMode="auto">
            <a:xfrm flipH="1">
              <a:off x="2211388" y="3263900"/>
              <a:ext cx="90487"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99" name="Line 97"/>
            <p:cNvSpPr>
              <a:spLocks noChangeShapeType="1"/>
            </p:cNvSpPr>
            <p:nvPr/>
          </p:nvSpPr>
          <p:spPr bwMode="auto">
            <a:xfrm flipH="1">
              <a:off x="2211388" y="3382962"/>
              <a:ext cx="90487" cy="460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100" name="Rectangle 57"/>
            <p:cNvSpPr>
              <a:spLocks noChangeArrowheads="1"/>
            </p:cNvSpPr>
            <p:nvPr/>
          </p:nvSpPr>
          <p:spPr bwMode="auto">
            <a:xfrm>
              <a:off x="1319213" y="2257425"/>
              <a:ext cx="846137" cy="165100"/>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grpSp>
      <p:sp>
        <p:nvSpPr>
          <p:cNvPr id="265" name="Rectangle 19"/>
          <p:cNvSpPr>
            <a:spLocks noChangeArrowheads="1"/>
          </p:cNvSpPr>
          <p:nvPr/>
        </p:nvSpPr>
        <p:spPr bwMode="auto">
          <a:xfrm>
            <a:off x="1066800" y="4038600"/>
            <a:ext cx="1027113" cy="347663"/>
          </a:xfrm>
          <a:prstGeom prst="rect">
            <a:avLst/>
          </a:prstGeom>
          <a:solidFill>
            <a:schemeClr val="bg1">
              <a:lumMod val="50000"/>
            </a:schemeClr>
          </a:solidFill>
          <a:ln w="15875">
            <a:solidFill>
              <a:schemeClr val="tx1"/>
            </a:solidFill>
            <a:miter lim="800000"/>
            <a:headEnd/>
            <a:tailEnd/>
          </a:ln>
        </p:spPr>
        <p:txBody>
          <a:bodyPr/>
          <a:lstStyle/>
          <a:p>
            <a:pPr fontAlgn="auto">
              <a:spcBef>
                <a:spcPts val="0"/>
              </a:spcBef>
              <a:spcAft>
                <a:spcPts val="0"/>
              </a:spcAft>
              <a:defRPr/>
            </a:pPr>
            <a:endParaRPr lang="en-US">
              <a:latin typeface="+mn-lt"/>
            </a:endParaRPr>
          </a:p>
        </p:txBody>
      </p:sp>
      <p:sp>
        <p:nvSpPr>
          <p:cNvPr id="41990" name="Rectangle 61"/>
          <p:cNvSpPr>
            <a:spLocks noChangeArrowheads="1"/>
          </p:cNvSpPr>
          <p:nvPr/>
        </p:nvSpPr>
        <p:spPr bwMode="auto">
          <a:xfrm>
            <a:off x="1143000" y="4130675"/>
            <a:ext cx="846138" cy="166688"/>
          </a:xfrm>
          <a:prstGeom prst="rect">
            <a:avLst/>
          </a:prstGeom>
          <a:solidFill>
            <a:schemeClr val="bg1"/>
          </a:solidFill>
          <a:ln w="15875">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1991" name="Rectangle 64"/>
          <p:cNvSpPr>
            <a:spLocks noChangeArrowheads="1"/>
          </p:cNvSpPr>
          <p:nvPr/>
        </p:nvSpPr>
        <p:spPr bwMode="auto">
          <a:xfrm>
            <a:off x="1279525" y="4114800"/>
            <a:ext cx="57785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Block 127</a:t>
            </a:r>
            <a:endParaRPr lang="en-CA" altLang="en-US" sz="2400">
              <a:latin typeface="Corbel" panose="020B0503020204020204" pitchFamily="34" charset="0"/>
            </a:endParaRPr>
          </a:p>
        </p:txBody>
      </p:sp>
      <p:grpSp>
        <p:nvGrpSpPr>
          <p:cNvPr id="41992" name="Group 270"/>
          <p:cNvGrpSpPr>
            <a:grpSpLocks/>
          </p:cNvGrpSpPr>
          <p:nvPr/>
        </p:nvGrpSpPr>
        <p:grpSpPr bwMode="auto">
          <a:xfrm>
            <a:off x="1066800" y="2852738"/>
            <a:ext cx="1027113" cy="347662"/>
            <a:chOff x="1066800" y="2971800"/>
            <a:chExt cx="1027113" cy="347663"/>
          </a:xfrm>
        </p:grpSpPr>
        <p:sp>
          <p:nvSpPr>
            <p:cNvPr id="268" name="Rectangle 19"/>
            <p:cNvSpPr>
              <a:spLocks noChangeArrowheads="1"/>
            </p:cNvSpPr>
            <p:nvPr/>
          </p:nvSpPr>
          <p:spPr bwMode="auto">
            <a:xfrm>
              <a:off x="1066800" y="2971800"/>
              <a:ext cx="1027113" cy="347663"/>
            </a:xfrm>
            <a:prstGeom prst="rect">
              <a:avLst/>
            </a:prstGeom>
            <a:solidFill>
              <a:schemeClr val="accent1">
                <a:lumMod val="40000"/>
                <a:lumOff val="60000"/>
              </a:schemeClr>
            </a:solidFill>
            <a:ln w="15875">
              <a:solidFill>
                <a:schemeClr val="accent1">
                  <a:lumMod val="75000"/>
                </a:schemeClr>
              </a:solidFill>
              <a:miter lim="800000"/>
              <a:headEnd/>
              <a:tailEnd/>
            </a:ln>
          </p:spPr>
          <p:txBody>
            <a:bodyPr/>
            <a:lstStyle/>
            <a:p>
              <a:pPr fontAlgn="auto">
                <a:spcBef>
                  <a:spcPts val="0"/>
                </a:spcBef>
                <a:spcAft>
                  <a:spcPts val="0"/>
                </a:spcAft>
                <a:defRPr/>
              </a:pPr>
              <a:endParaRPr lang="en-US">
                <a:latin typeface="+mn-lt"/>
              </a:endParaRPr>
            </a:p>
          </p:txBody>
        </p:sp>
        <p:sp>
          <p:nvSpPr>
            <p:cNvPr id="42004" name="Rectangle 61"/>
            <p:cNvSpPr>
              <a:spLocks noChangeArrowheads="1"/>
            </p:cNvSpPr>
            <p:nvPr/>
          </p:nvSpPr>
          <p:spPr bwMode="auto">
            <a:xfrm>
              <a:off x="1143000" y="3048000"/>
              <a:ext cx="846137" cy="166687"/>
            </a:xfrm>
            <a:prstGeom prst="rect">
              <a:avLst/>
            </a:prstGeom>
            <a:solidFill>
              <a:schemeClr val="bg1"/>
            </a:solidFill>
            <a:ln w="15875">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05" name="Rectangle 64"/>
            <p:cNvSpPr>
              <a:spLocks noChangeArrowheads="1"/>
            </p:cNvSpPr>
            <p:nvPr/>
          </p:nvSpPr>
          <p:spPr bwMode="auto">
            <a:xfrm>
              <a:off x="1295400" y="3048000"/>
              <a:ext cx="50174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Block  3</a:t>
              </a:r>
              <a:endParaRPr lang="en-CA" altLang="en-US" sz="2400">
                <a:latin typeface="Corbel" panose="020B0503020204020204" pitchFamily="34" charset="0"/>
              </a:endParaRPr>
            </a:p>
          </p:txBody>
        </p:sp>
      </p:grpSp>
      <p:grpSp>
        <p:nvGrpSpPr>
          <p:cNvPr id="41993" name="Group 271"/>
          <p:cNvGrpSpPr>
            <a:grpSpLocks/>
          </p:cNvGrpSpPr>
          <p:nvPr/>
        </p:nvGrpSpPr>
        <p:grpSpPr bwMode="auto">
          <a:xfrm>
            <a:off x="1066800" y="1828800"/>
            <a:ext cx="1027113" cy="347663"/>
            <a:chOff x="1066800" y="2971800"/>
            <a:chExt cx="1027113" cy="347663"/>
          </a:xfrm>
        </p:grpSpPr>
        <p:sp>
          <p:nvSpPr>
            <p:cNvPr id="273" name="Rectangle 19"/>
            <p:cNvSpPr>
              <a:spLocks noChangeArrowheads="1"/>
            </p:cNvSpPr>
            <p:nvPr/>
          </p:nvSpPr>
          <p:spPr bwMode="auto">
            <a:xfrm>
              <a:off x="1066800" y="2971800"/>
              <a:ext cx="1027113" cy="347663"/>
            </a:xfrm>
            <a:prstGeom prst="rect">
              <a:avLst/>
            </a:prstGeom>
            <a:solidFill>
              <a:schemeClr val="accent1">
                <a:lumMod val="75000"/>
              </a:schemeClr>
            </a:solidFill>
            <a:ln w="15875">
              <a:solidFill>
                <a:schemeClr val="tx1"/>
              </a:solidFill>
              <a:miter lim="800000"/>
              <a:headEnd/>
              <a:tailEnd/>
            </a:ln>
          </p:spPr>
          <p:txBody>
            <a:bodyPr/>
            <a:lstStyle/>
            <a:p>
              <a:pPr fontAlgn="auto">
                <a:spcBef>
                  <a:spcPts val="0"/>
                </a:spcBef>
                <a:spcAft>
                  <a:spcPts val="0"/>
                </a:spcAft>
                <a:defRPr/>
              </a:pPr>
              <a:endParaRPr lang="en-US">
                <a:latin typeface="+mn-lt"/>
              </a:endParaRPr>
            </a:p>
          </p:txBody>
        </p:sp>
        <p:sp>
          <p:nvSpPr>
            <p:cNvPr id="42001" name="Rectangle 61"/>
            <p:cNvSpPr>
              <a:spLocks noChangeArrowheads="1"/>
            </p:cNvSpPr>
            <p:nvPr/>
          </p:nvSpPr>
          <p:spPr bwMode="auto">
            <a:xfrm>
              <a:off x="1143000" y="3048000"/>
              <a:ext cx="846137" cy="166687"/>
            </a:xfrm>
            <a:prstGeom prst="rect">
              <a:avLst/>
            </a:prstGeom>
            <a:solidFill>
              <a:schemeClr val="bg1"/>
            </a:solidFill>
            <a:ln w="15875">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2002" name="Rectangle 64"/>
            <p:cNvSpPr>
              <a:spLocks noChangeArrowheads="1"/>
            </p:cNvSpPr>
            <p:nvPr/>
          </p:nvSpPr>
          <p:spPr bwMode="auto">
            <a:xfrm>
              <a:off x="1295400" y="3048000"/>
              <a:ext cx="463268"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Block 0</a:t>
              </a:r>
              <a:endParaRPr lang="en-CA" altLang="en-US" sz="2400">
                <a:latin typeface="Corbel" panose="020B0503020204020204" pitchFamily="34" charset="0"/>
              </a:endParaRPr>
            </a:p>
          </p:txBody>
        </p:sp>
      </p:grpSp>
      <p:sp>
        <p:nvSpPr>
          <p:cNvPr id="41994" name="Rectangle 20"/>
          <p:cNvSpPr>
            <a:spLocks noChangeArrowheads="1"/>
          </p:cNvSpPr>
          <p:nvPr/>
        </p:nvSpPr>
        <p:spPr bwMode="auto">
          <a:xfrm>
            <a:off x="533400" y="1920875"/>
            <a:ext cx="512763" cy="180975"/>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1995" name="Rectangle 23"/>
          <p:cNvSpPr>
            <a:spLocks noChangeArrowheads="1"/>
          </p:cNvSpPr>
          <p:nvPr/>
        </p:nvSpPr>
        <p:spPr bwMode="auto">
          <a:xfrm>
            <a:off x="698500" y="1905000"/>
            <a:ext cx="169863"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tag</a:t>
            </a:r>
            <a:endParaRPr lang="en-CA" altLang="en-US" sz="2400">
              <a:latin typeface="Corbel" panose="020B0503020204020204" pitchFamily="34" charset="0"/>
            </a:endParaRPr>
          </a:p>
        </p:txBody>
      </p:sp>
      <p:sp>
        <p:nvSpPr>
          <p:cNvPr id="41996" name="Rectangle 20"/>
          <p:cNvSpPr>
            <a:spLocks noChangeArrowheads="1"/>
          </p:cNvSpPr>
          <p:nvPr/>
        </p:nvSpPr>
        <p:spPr bwMode="auto">
          <a:xfrm>
            <a:off x="533400" y="2911475"/>
            <a:ext cx="512763" cy="180975"/>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1997" name="Rectangle 23"/>
          <p:cNvSpPr>
            <a:spLocks noChangeArrowheads="1"/>
          </p:cNvSpPr>
          <p:nvPr/>
        </p:nvSpPr>
        <p:spPr bwMode="auto">
          <a:xfrm>
            <a:off x="698500" y="2895600"/>
            <a:ext cx="169863"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tag</a:t>
            </a:r>
            <a:endParaRPr lang="en-CA" altLang="en-US" sz="2400">
              <a:latin typeface="Corbel" panose="020B0503020204020204" pitchFamily="34" charset="0"/>
            </a:endParaRPr>
          </a:p>
        </p:txBody>
      </p:sp>
      <p:sp>
        <p:nvSpPr>
          <p:cNvPr id="41998" name="Rectangle 20"/>
          <p:cNvSpPr>
            <a:spLocks noChangeArrowheads="1"/>
          </p:cNvSpPr>
          <p:nvPr/>
        </p:nvSpPr>
        <p:spPr bwMode="auto">
          <a:xfrm>
            <a:off x="533400" y="4054475"/>
            <a:ext cx="512763" cy="180975"/>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1999" name="Rectangle 23"/>
          <p:cNvSpPr>
            <a:spLocks noChangeArrowheads="1"/>
          </p:cNvSpPr>
          <p:nvPr/>
        </p:nvSpPr>
        <p:spPr bwMode="auto">
          <a:xfrm>
            <a:off x="698500" y="4038600"/>
            <a:ext cx="169863"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tag</a:t>
            </a:r>
            <a:endParaRPr lang="en-CA" altLang="en-US" sz="2400">
              <a:latin typeface="Corbel" panose="020B0503020204020204" pitchFamily="34" charset="0"/>
            </a:endParaRPr>
          </a:p>
        </p:txBody>
      </p:sp>
    </p:spTree>
    <p:extLst>
      <p:ext uri="{BB962C8B-B14F-4D97-AF65-F5344CB8AC3E}">
        <p14:creationId xmlns:p14="http://schemas.microsoft.com/office/powerpoint/2010/main" val="29112096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8991600" cy="1295400"/>
          </a:xfrm>
        </p:spPr>
        <p:txBody>
          <a:bodyPr>
            <a:noAutofit/>
          </a:bodyPr>
          <a:lstStyle/>
          <a:p>
            <a:pPr algn="just" fontAlgn="base"/>
            <a:r>
              <a:rPr lang="en-US" sz="2400" b="1"/>
              <a:t>Consider a 2-way set associative mapped cache of size 16 KB with block size 256 bytes. The size of main memory is 128 KB. Find Number of bits in tag and Tag directory size</a:t>
            </a:r>
          </a:p>
        </p:txBody>
      </p:sp>
      <p:sp>
        <p:nvSpPr>
          <p:cNvPr id="3" name="Content Placeholder 2"/>
          <p:cNvSpPr>
            <a:spLocks noGrp="1"/>
          </p:cNvSpPr>
          <p:nvPr>
            <p:ph sz="quarter" idx="1"/>
          </p:nvPr>
        </p:nvSpPr>
        <p:spPr>
          <a:xfrm>
            <a:off x="152400" y="1371600"/>
            <a:ext cx="8915400" cy="5410200"/>
          </a:xfrm>
        </p:spPr>
        <p:txBody>
          <a:bodyPr/>
          <a:lstStyle/>
          <a:p>
            <a:pPr fontAlgn="base"/>
            <a:r>
              <a:rPr lang="en-US" dirty="0"/>
              <a:t>Given: Set size = 2, Cache memory size = 16 K, Block size = Frame size = Line size = 256 bytes, Main memory size = 128 KB, consider that the memory is byte addressable.</a:t>
            </a:r>
          </a:p>
          <a:p>
            <a:pPr fontAlgn="base"/>
            <a:r>
              <a:rPr lang="en-US" b="1" u="sng" dirty="0"/>
              <a:t>Number of Bits in Physical Address-</a:t>
            </a:r>
            <a:endParaRPr lang="en-US" b="1" dirty="0"/>
          </a:p>
          <a:p>
            <a:pPr fontAlgn="base"/>
            <a:r>
              <a:rPr lang="en-US" dirty="0"/>
              <a:t>Size of main memory= 128 KB = 2</a:t>
            </a:r>
            <a:r>
              <a:rPr lang="en-US" baseline="30000" dirty="0"/>
              <a:t>17</a:t>
            </a:r>
            <a:r>
              <a:rPr lang="en-US" dirty="0"/>
              <a:t> bytes</a:t>
            </a:r>
          </a:p>
          <a:p>
            <a:pPr fontAlgn="base"/>
            <a:r>
              <a:rPr lang="en-US" dirty="0"/>
              <a:t>Thus, Number of bits in physical address = 17 bits</a:t>
            </a:r>
          </a:p>
          <a:p>
            <a:pPr fontAlgn="base"/>
            <a:endParaRPr lang="en-US" dirty="0"/>
          </a:p>
          <a:p>
            <a:pPr fontAlgn="base"/>
            <a:endParaRPr lang="en-US" dirty="0"/>
          </a:p>
          <a:p>
            <a:endParaRPr lang="en-US" dirty="0"/>
          </a:p>
        </p:txBody>
      </p:sp>
    </p:spTree>
    <p:extLst>
      <p:ext uri="{BB962C8B-B14F-4D97-AF65-F5344CB8AC3E}">
        <p14:creationId xmlns:p14="http://schemas.microsoft.com/office/powerpoint/2010/main" val="6341498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8991600" cy="1295400"/>
          </a:xfrm>
        </p:spPr>
        <p:txBody>
          <a:bodyPr>
            <a:noAutofit/>
          </a:bodyPr>
          <a:lstStyle/>
          <a:p>
            <a:pPr algn="just" fontAlgn="base"/>
            <a:r>
              <a:rPr lang="en-US" sz="2400" b="1"/>
              <a:t>Consider a 2-way set associative mapped cache of size 16 KB with block size 256 bytes. The size of main memory is 128 KB. Find Number of bits in tag and Tag directory size</a:t>
            </a:r>
          </a:p>
        </p:txBody>
      </p:sp>
      <p:sp>
        <p:nvSpPr>
          <p:cNvPr id="3" name="Content Placeholder 2"/>
          <p:cNvSpPr>
            <a:spLocks noGrp="1"/>
          </p:cNvSpPr>
          <p:nvPr>
            <p:ph sz="quarter" idx="1"/>
          </p:nvPr>
        </p:nvSpPr>
        <p:spPr>
          <a:xfrm>
            <a:off x="152400" y="1371600"/>
            <a:ext cx="8915400" cy="5410200"/>
          </a:xfrm>
        </p:spPr>
        <p:txBody>
          <a:bodyPr>
            <a:normAutofit/>
          </a:bodyPr>
          <a:lstStyle/>
          <a:p>
            <a:pPr marL="0" indent="0" fontAlgn="base">
              <a:buNone/>
            </a:pPr>
            <a:r>
              <a:rPr lang="en-US" b="1" u="sng" dirty="0"/>
              <a:t>Number of Bits in Block Offset-</a:t>
            </a:r>
            <a:endParaRPr lang="en-US" b="1" dirty="0"/>
          </a:p>
          <a:p>
            <a:pPr fontAlgn="base"/>
            <a:r>
              <a:rPr lang="en-US" sz="2800" dirty="0"/>
              <a:t>Block size = 256 bytes = 2</a:t>
            </a:r>
            <a:r>
              <a:rPr lang="en-US" sz="2800" baseline="30000" dirty="0"/>
              <a:t>8</a:t>
            </a:r>
            <a:r>
              <a:rPr lang="en-US" sz="2800" dirty="0"/>
              <a:t> bytes</a:t>
            </a:r>
          </a:p>
          <a:p>
            <a:pPr fontAlgn="base"/>
            <a:r>
              <a:rPr lang="en-US" sz="2800" dirty="0"/>
              <a:t>Thus, Number of bits in block offset = 8 bits</a:t>
            </a:r>
          </a:p>
          <a:p>
            <a:pPr fontAlgn="base"/>
            <a:endParaRPr lang="en-US" sz="2400" dirty="0"/>
          </a:p>
          <a:p>
            <a:pPr fontAlgn="base"/>
            <a:endParaRPr lang="en-US" dirty="0"/>
          </a:p>
          <a:p>
            <a:pPr fontAlgn="base"/>
            <a:endParaRPr lang="en-US" dirty="0"/>
          </a:p>
          <a:p>
            <a:pPr fontAlgn="base"/>
            <a:r>
              <a:rPr lang="en-US" b="1" u="sng" dirty="0"/>
              <a:t>Number of Lines in Cache-</a:t>
            </a:r>
            <a:endParaRPr lang="en-US" b="1" dirty="0"/>
          </a:p>
          <a:p>
            <a:pPr marL="0" indent="0" fontAlgn="base">
              <a:buNone/>
            </a:pPr>
            <a:r>
              <a:rPr lang="en-US" dirty="0"/>
              <a:t>Total number of lines in cache = Cache size /Line size</a:t>
            </a:r>
          </a:p>
          <a:p>
            <a:pPr marL="0" indent="0" fontAlgn="base">
              <a:buNone/>
            </a:pPr>
            <a:r>
              <a:rPr lang="en-US" dirty="0"/>
              <a:t>= 16 KB / 256 bytes = 2</a:t>
            </a:r>
            <a:r>
              <a:rPr lang="en-US" baseline="30000" dirty="0"/>
              <a:t>14</a:t>
            </a:r>
            <a:r>
              <a:rPr lang="en-US" dirty="0"/>
              <a:t> bytes / 2</a:t>
            </a:r>
            <a:r>
              <a:rPr lang="en-US" baseline="30000" dirty="0"/>
              <a:t>8</a:t>
            </a:r>
            <a:r>
              <a:rPr lang="en-US" dirty="0"/>
              <a:t> bytes = 64 lines</a:t>
            </a:r>
          </a:p>
          <a:p>
            <a:pPr marL="0" indent="0" fontAlgn="base">
              <a:buNone/>
            </a:pPr>
            <a:endParaRPr lang="en-US" dirty="0"/>
          </a:p>
        </p:txBody>
      </p:sp>
    </p:spTree>
    <p:extLst>
      <p:ext uri="{BB962C8B-B14F-4D97-AF65-F5344CB8AC3E}">
        <p14:creationId xmlns:p14="http://schemas.microsoft.com/office/powerpoint/2010/main" val="19830963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8991600" cy="1295400"/>
          </a:xfrm>
        </p:spPr>
        <p:txBody>
          <a:bodyPr>
            <a:noAutofit/>
          </a:bodyPr>
          <a:lstStyle/>
          <a:p>
            <a:pPr algn="just" fontAlgn="base"/>
            <a:r>
              <a:rPr lang="en-US" sz="2400" b="1"/>
              <a:t>Consider a 2-way set associative mapped cache of size 16 KB with block size 256 bytes. The size of main memory is 128 KB. Find Number of bits in tag and Tag directory size</a:t>
            </a:r>
          </a:p>
        </p:txBody>
      </p:sp>
      <p:sp>
        <p:nvSpPr>
          <p:cNvPr id="3" name="Content Placeholder 2"/>
          <p:cNvSpPr>
            <a:spLocks noGrp="1"/>
          </p:cNvSpPr>
          <p:nvPr>
            <p:ph sz="quarter" idx="1"/>
          </p:nvPr>
        </p:nvSpPr>
        <p:spPr>
          <a:xfrm>
            <a:off x="152400" y="1371600"/>
            <a:ext cx="8915400" cy="5410200"/>
          </a:xfrm>
        </p:spPr>
        <p:txBody>
          <a:bodyPr>
            <a:normAutofit/>
          </a:bodyPr>
          <a:lstStyle/>
          <a:p>
            <a:pPr fontAlgn="base"/>
            <a:r>
              <a:rPr lang="en-US" b="1" u="sng"/>
              <a:t>Number of Sets in Cache-</a:t>
            </a:r>
            <a:endParaRPr lang="en-US" b="1"/>
          </a:p>
          <a:p>
            <a:pPr marL="0" indent="0" fontAlgn="base">
              <a:buNone/>
            </a:pPr>
            <a:r>
              <a:rPr lang="en-US"/>
              <a:t>Total number of sets in cache</a:t>
            </a:r>
          </a:p>
          <a:p>
            <a:pPr fontAlgn="base"/>
            <a:r>
              <a:rPr lang="en-US"/>
              <a:t>= Total number of lines in cache / Set size</a:t>
            </a:r>
          </a:p>
          <a:p>
            <a:pPr fontAlgn="base"/>
            <a:r>
              <a:rPr lang="en-US"/>
              <a:t>= 64 / 2 = 32 sets = 2</a:t>
            </a:r>
            <a:r>
              <a:rPr lang="en-US" baseline="30000"/>
              <a:t>5</a:t>
            </a:r>
            <a:r>
              <a:rPr lang="en-US"/>
              <a:t> sets</a:t>
            </a:r>
          </a:p>
          <a:p>
            <a:pPr fontAlgn="base"/>
            <a:r>
              <a:rPr lang="en-US"/>
              <a:t>Thus, Number of bits in set number = 5 bits</a:t>
            </a:r>
          </a:p>
          <a:p>
            <a:pPr marL="0" indent="0" fontAlgn="base">
              <a:buNone/>
            </a:pPr>
            <a:endParaRPr lang="en-US"/>
          </a:p>
          <a:p>
            <a:pPr marL="0" indent="0" fontAlgn="base">
              <a:buNone/>
            </a:pPr>
            <a:endParaRPr lang="en-US"/>
          </a:p>
        </p:txBody>
      </p:sp>
    </p:spTree>
    <p:extLst>
      <p:ext uri="{BB962C8B-B14F-4D97-AF65-F5344CB8AC3E}">
        <p14:creationId xmlns:p14="http://schemas.microsoft.com/office/powerpoint/2010/main" val="10127997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8991600" cy="1295400"/>
          </a:xfrm>
        </p:spPr>
        <p:txBody>
          <a:bodyPr>
            <a:noAutofit/>
          </a:bodyPr>
          <a:lstStyle/>
          <a:p>
            <a:pPr algn="just" fontAlgn="base"/>
            <a:r>
              <a:rPr lang="en-US" sz="2400" b="1"/>
              <a:t>Consider a 2-way set associative mapped cache of size 16 KB with block size 256 bytes. The size of main memory is 128 KB. Find Number of bits in tag and Tag directory size</a:t>
            </a:r>
          </a:p>
        </p:txBody>
      </p:sp>
      <p:sp>
        <p:nvSpPr>
          <p:cNvPr id="3" name="Content Placeholder 2"/>
          <p:cNvSpPr>
            <a:spLocks noGrp="1"/>
          </p:cNvSpPr>
          <p:nvPr>
            <p:ph sz="quarter" idx="1"/>
          </p:nvPr>
        </p:nvSpPr>
        <p:spPr>
          <a:xfrm>
            <a:off x="152400" y="1371600"/>
            <a:ext cx="8915400" cy="5410200"/>
          </a:xfrm>
        </p:spPr>
        <p:txBody>
          <a:bodyPr>
            <a:normAutofit/>
          </a:bodyPr>
          <a:lstStyle/>
          <a:p>
            <a:pPr fontAlgn="base"/>
            <a:r>
              <a:rPr lang="en-US" b="1" u="sng" dirty="0"/>
              <a:t>Number of Bits in Tag-</a:t>
            </a:r>
            <a:endParaRPr lang="en-US" b="1" dirty="0"/>
          </a:p>
          <a:p>
            <a:pPr marL="0" indent="0" fontAlgn="base">
              <a:buNone/>
            </a:pPr>
            <a:r>
              <a:rPr lang="en-US" dirty="0"/>
              <a:t>= Number of bits in physical address – (Number of bits in set number + Number of bits in block offset)</a:t>
            </a:r>
          </a:p>
          <a:p>
            <a:pPr marL="0" indent="0" fontAlgn="base">
              <a:buNone/>
            </a:pPr>
            <a:r>
              <a:rPr lang="en-US" dirty="0"/>
              <a:t>= 17 bits – (5 bits + 8 bits) = 17 bits – 13 bits = 4 bits</a:t>
            </a:r>
          </a:p>
          <a:p>
            <a:pPr fontAlgn="base"/>
            <a:r>
              <a:rPr lang="en-US" dirty="0"/>
              <a:t>Thus, Number of bits in tag = 4 bits</a:t>
            </a:r>
          </a:p>
          <a:p>
            <a:pPr marL="0" indent="0" fontAlgn="base">
              <a:buNone/>
            </a:pPr>
            <a:endParaRPr lang="en-US" dirty="0"/>
          </a:p>
        </p:txBody>
      </p:sp>
      <p:sp>
        <p:nvSpPr>
          <p:cNvPr id="4" name="Rectangle 3"/>
          <p:cNvSpPr/>
          <p:nvPr/>
        </p:nvSpPr>
        <p:spPr>
          <a:xfrm>
            <a:off x="477078" y="4651513"/>
            <a:ext cx="7659756" cy="1378226"/>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a:off x="2252870" y="4651513"/>
            <a:ext cx="0" cy="1328529"/>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386469" y="4651513"/>
            <a:ext cx="0" cy="1378226"/>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4943061" y="5049078"/>
            <a:ext cx="2915478" cy="369332"/>
          </a:xfrm>
          <a:prstGeom prst="rect">
            <a:avLst/>
          </a:prstGeom>
          <a:noFill/>
        </p:spPr>
        <p:txBody>
          <a:bodyPr wrap="square" rtlCol="0">
            <a:spAutoFit/>
          </a:bodyPr>
          <a:lstStyle/>
          <a:p>
            <a:r>
              <a:rPr lang="en-US" b="1" dirty="0"/>
              <a:t>Byte Offset/ Word Offset</a:t>
            </a:r>
          </a:p>
        </p:txBody>
      </p:sp>
      <p:sp>
        <p:nvSpPr>
          <p:cNvPr id="14" name="TextBox 13"/>
          <p:cNvSpPr txBox="1"/>
          <p:nvPr/>
        </p:nvSpPr>
        <p:spPr>
          <a:xfrm>
            <a:off x="2584174" y="5048213"/>
            <a:ext cx="1722782" cy="369332"/>
          </a:xfrm>
          <a:prstGeom prst="rect">
            <a:avLst/>
          </a:prstGeom>
          <a:noFill/>
        </p:spPr>
        <p:txBody>
          <a:bodyPr wrap="square" rtlCol="0">
            <a:spAutoFit/>
          </a:bodyPr>
          <a:lstStyle/>
          <a:p>
            <a:r>
              <a:rPr lang="en-US" b="1" dirty="0"/>
              <a:t>Set Offset</a:t>
            </a:r>
          </a:p>
        </p:txBody>
      </p:sp>
      <p:sp>
        <p:nvSpPr>
          <p:cNvPr id="16" name="TextBox 15"/>
          <p:cNvSpPr txBox="1"/>
          <p:nvPr/>
        </p:nvSpPr>
        <p:spPr>
          <a:xfrm>
            <a:off x="821635" y="5072988"/>
            <a:ext cx="1007165" cy="369332"/>
          </a:xfrm>
          <a:prstGeom prst="rect">
            <a:avLst/>
          </a:prstGeom>
          <a:noFill/>
        </p:spPr>
        <p:txBody>
          <a:bodyPr wrap="square" rtlCol="0">
            <a:spAutoFit/>
          </a:bodyPr>
          <a:lstStyle/>
          <a:p>
            <a:r>
              <a:rPr lang="en-US" b="1" dirty="0"/>
              <a:t>Tag</a:t>
            </a:r>
          </a:p>
        </p:txBody>
      </p:sp>
    </p:spTree>
    <p:extLst>
      <p:ext uri="{BB962C8B-B14F-4D97-AF65-F5344CB8AC3E}">
        <p14:creationId xmlns:p14="http://schemas.microsoft.com/office/powerpoint/2010/main" val="42464671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8991600" cy="1295400"/>
          </a:xfrm>
        </p:spPr>
        <p:txBody>
          <a:bodyPr>
            <a:noAutofit/>
          </a:bodyPr>
          <a:lstStyle/>
          <a:p>
            <a:pPr algn="just" fontAlgn="base"/>
            <a:r>
              <a:rPr lang="en-US" sz="2400" b="1"/>
              <a:t>Consider a 2-way set associative mapped cache of size 16 KB with block size 256 bytes. The size of main memory is 128 KB. Find Number of bits in tag and Tag directory size</a:t>
            </a:r>
          </a:p>
        </p:txBody>
      </p:sp>
      <p:sp>
        <p:nvSpPr>
          <p:cNvPr id="3" name="Content Placeholder 2"/>
          <p:cNvSpPr>
            <a:spLocks noGrp="1"/>
          </p:cNvSpPr>
          <p:nvPr>
            <p:ph sz="quarter" idx="1"/>
          </p:nvPr>
        </p:nvSpPr>
        <p:spPr>
          <a:xfrm>
            <a:off x="152400" y="1371600"/>
            <a:ext cx="8915400" cy="5410200"/>
          </a:xfrm>
        </p:spPr>
        <p:txBody>
          <a:bodyPr>
            <a:normAutofit/>
          </a:bodyPr>
          <a:lstStyle/>
          <a:p>
            <a:pPr fontAlgn="base"/>
            <a:r>
              <a:rPr lang="en-US" b="1" u="sng"/>
              <a:t>Tag Directory Size-</a:t>
            </a:r>
            <a:endParaRPr lang="en-US" b="1"/>
          </a:p>
          <a:p>
            <a:pPr marL="0" indent="0" fontAlgn="base">
              <a:buNone/>
            </a:pPr>
            <a:r>
              <a:rPr lang="en-US"/>
              <a:t>= Number of tags x Tag size</a:t>
            </a:r>
          </a:p>
          <a:p>
            <a:pPr fontAlgn="base"/>
            <a:r>
              <a:rPr lang="en-US"/>
              <a:t>= Number of lines in cache x Number of bits in tag</a:t>
            </a:r>
          </a:p>
          <a:p>
            <a:pPr fontAlgn="base"/>
            <a:r>
              <a:rPr lang="en-US"/>
              <a:t>= 64 x 4 bits = 256 bits = 32 bytes</a:t>
            </a:r>
          </a:p>
          <a:p>
            <a:pPr fontAlgn="base"/>
            <a:r>
              <a:rPr lang="en-US"/>
              <a:t>Thus, size of tag directory = 32 bytes</a:t>
            </a:r>
          </a:p>
          <a:p>
            <a:pPr marL="0" indent="0" fontAlgn="base">
              <a:buNone/>
            </a:pPr>
            <a:endParaRPr lang="en-US"/>
          </a:p>
        </p:txBody>
      </p:sp>
    </p:spTree>
    <p:extLst>
      <p:ext uri="{BB962C8B-B14F-4D97-AF65-F5344CB8AC3E}">
        <p14:creationId xmlns:p14="http://schemas.microsoft.com/office/powerpoint/2010/main" val="2760272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a:t>Fully Associative Mapping</a:t>
            </a:r>
            <a:endParaRPr lang="en-US"/>
          </a:p>
        </p:txBody>
      </p:sp>
      <p:sp>
        <p:nvSpPr>
          <p:cNvPr id="3" name="Content Placeholder 2"/>
          <p:cNvSpPr>
            <a:spLocks noGrp="1"/>
          </p:cNvSpPr>
          <p:nvPr>
            <p:ph sz="quarter" idx="1"/>
          </p:nvPr>
        </p:nvSpPr>
        <p:spPr/>
        <p:txBody>
          <a:bodyPr/>
          <a:lstStyle/>
          <a:p>
            <a:pPr fontAlgn="base"/>
            <a:r>
              <a:rPr lang="en-US"/>
              <a:t>A block of main memory can be mapped to any freely available cache line.</a:t>
            </a:r>
          </a:p>
          <a:p>
            <a:pPr fontAlgn="base"/>
            <a:r>
              <a:rPr lang="en-US"/>
              <a:t>This makes fully associative mapping more flexible than direct mapping.</a:t>
            </a:r>
          </a:p>
          <a:p>
            <a:pPr fontAlgn="base"/>
            <a:r>
              <a:rPr lang="en-US"/>
              <a:t>A replacement algorithm is needed to replace a block if the cache is full.</a:t>
            </a:r>
          </a:p>
          <a:p>
            <a:endParaRPr lang="en-US"/>
          </a:p>
        </p:txBody>
      </p:sp>
    </p:spTree>
    <p:extLst>
      <p:ext uri="{BB962C8B-B14F-4D97-AF65-F5344CB8AC3E}">
        <p14:creationId xmlns:p14="http://schemas.microsoft.com/office/powerpoint/2010/main" val="7625141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p:cNvSpPr>
            <a:spLocks noGrp="1" noChangeArrowheads="1"/>
          </p:cNvSpPr>
          <p:nvPr>
            <p:ph type="title"/>
          </p:nvPr>
        </p:nvSpPr>
        <p:spPr/>
        <p:txBody>
          <a:bodyPr/>
          <a:lstStyle/>
          <a:p>
            <a:pPr eaLnBrk="1" fontAlgn="auto" hangingPunct="1">
              <a:spcAft>
                <a:spcPts val="0"/>
              </a:spcAft>
              <a:defRPr/>
            </a:pPr>
            <a:r>
              <a:rPr lang="en-US" dirty="0">
                <a:solidFill>
                  <a:schemeClr val="tx1"/>
                </a:solidFill>
              </a:rPr>
              <a:t>Associative mapping</a:t>
            </a:r>
          </a:p>
        </p:txBody>
      </p:sp>
      <p:sp>
        <p:nvSpPr>
          <p:cNvPr id="40963" name="Text Box 130"/>
          <p:cNvSpPr txBox="1">
            <a:spLocks noChangeArrowheads="1"/>
          </p:cNvSpPr>
          <p:nvPr/>
        </p:nvSpPr>
        <p:spPr bwMode="auto">
          <a:xfrm>
            <a:off x="4154487" y="1981436"/>
            <a:ext cx="4545013" cy="327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Tx/>
              <a:buChar char="•"/>
            </a:pPr>
            <a:r>
              <a:rPr lang="en-US" altLang="en-US" sz="1600" i="1" dirty="0">
                <a:latin typeface="Corbel" panose="020B0503020204020204" pitchFamily="34" charset="0"/>
              </a:rPr>
              <a:t>Main memory block can be placed into any cache </a:t>
            </a:r>
          </a:p>
          <a:p>
            <a:pPr eaLnBrk="1" hangingPunct="1"/>
            <a:r>
              <a:rPr lang="en-US" altLang="en-US" sz="1600" i="1" dirty="0">
                <a:latin typeface="Corbel" panose="020B0503020204020204" pitchFamily="34" charset="0"/>
              </a:rPr>
              <a:t>position.</a:t>
            </a:r>
          </a:p>
          <a:p>
            <a:pPr eaLnBrk="1" hangingPunct="1">
              <a:buFontTx/>
              <a:buChar char="•"/>
            </a:pPr>
            <a:r>
              <a:rPr lang="en-US" altLang="en-US" sz="1600" i="1" dirty="0">
                <a:latin typeface="Corbel" panose="020B0503020204020204" pitchFamily="34" charset="0"/>
              </a:rPr>
              <a:t>Memory address is divided into two fields:</a:t>
            </a:r>
          </a:p>
          <a:p>
            <a:pPr eaLnBrk="1" hangingPunct="1"/>
            <a:r>
              <a:rPr lang="en-US" altLang="en-US" sz="1600" i="1" dirty="0">
                <a:latin typeface="Corbel" panose="020B0503020204020204" pitchFamily="34" charset="0"/>
              </a:rPr>
              <a:t>    - Low order 4 bits identify the word within a block.</a:t>
            </a:r>
          </a:p>
          <a:p>
            <a:pPr eaLnBrk="1" hangingPunct="1"/>
            <a:r>
              <a:rPr lang="en-US" altLang="en-US" sz="1600" i="1" dirty="0">
                <a:latin typeface="Corbel" panose="020B0503020204020204" pitchFamily="34" charset="0"/>
              </a:rPr>
              <a:t>    - High order 12 bits or tag bits identify a memory </a:t>
            </a:r>
          </a:p>
          <a:p>
            <a:pPr eaLnBrk="1" hangingPunct="1"/>
            <a:r>
              <a:rPr lang="en-US" altLang="en-US" sz="1600" i="1" dirty="0">
                <a:latin typeface="Corbel" panose="020B0503020204020204" pitchFamily="34" charset="0"/>
              </a:rPr>
              <a:t>      block when it is resident in the cache. </a:t>
            </a:r>
          </a:p>
          <a:p>
            <a:pPr eaLnBrk="1" hangingPunct="1">
              <a:buFontTx/>
              <a:buChar char="•"/>
            </a:pPr>
            <a:r>
              <a:rPr lang="en-US" altLang="en-US" sz="1600" i="1" dirty="0">
                <a:latin typeface="Corbel" panose="020B0503020204020204" pitchFamily="34" charset="0"/>
              </a:rPr>
              <a:t>Flexible, and uses cache space efficiently. </a:t>
            </a:r>
          </a:p>
          <a:p>
            <a:pPr eaLnBrk="1" hangingPunct="1">
              <a:buFontTx/>
              <a:buChar char="•"/>
            </a:pPr>
            <a:r>
              <a:rPr lang="en-US" altLang="en-US" sz="1600" i="1" dirty="0">
                <a:latin typeface="Corbel" panose="020B0503020204020204" pitchFamily="34" charset="0"/>
              </a:rPr>
              <a:t>Replacement algorithms can be used to replace an</a:t>
            </a:r>
          </a:p>
          <a:p>
            <a:pPr eaLnBrk="1" hangingPunct="1"/>
            <a:r>
              <a:rPr lang="en-US" altLang="en-US" sz="1600" i="1" dirty="0">
                <a:latin typeface="Corbel" panose="020B0503020204020204" pitchFamily="34" charset="0"/>
              </a:rPr>
              <a:t>existing block in the cache when the cache is full. </a:t>
            </a:r>
          </a:p>
          <a:p>
            <a:pPr eaLnBrk="1" hangingPunct="1">
              <a:buFontTx/>
              <a:buChar char="•"/>
            </a:pPr>
            <a:r>
              <a:rPr lang="en-US" altLang="en-US" sz="1600" i="1" dirty="0">
                <a:latin typeface="Corbel" panose="020B0503020204020204" pitchFamily="34" charset="0"/>
              </a:rPr>
              <a:t>Cost is higher than direct-mapped cache because of </a:t>
            </a:r>
          </a:p>
          <a:p>
            <a:pPr eaLnBrk="1" hangingPunct="1"/>
            <a:r>
              <a:rPr lang="en-US" altLang="en-US" sz="1600" i="1" dirty="0">
                <a:latin typeface="Corbel" panose="020B0503020204020204" pitchFamily="34" charset="0"/>
              </a:rPr>
              <a:t>the need to search all 128 patterns to determine </a:t>
            </a:r>
          </a:p>
          <a:p>
            <a:pPr eaLnBrk="1" hangingPunct="1"/>
            <a:r>
              <a:rPr lang="en-US" altLang="en-US" sz="1600" i="1" dirty="0">
                <a:latin typeface="Corbel" panose="020B0503020204020204" pitchFamily="34" charset="0"/>
              </a:rPr>
              <a:t>whether a given block is in the cache.</a:t>
            </a:r>
          </a:p>
          <a:p>
            <a:pPr eaLnBrk="1" hangingPunct="1"/>
            <a:r>
              <a:rPr lang="en-US" altLang="en-US" sz="1600" i="1" dirty="0">
                <a:solidFill>
                  <a:schemeClr val="accent2"/>
                </a:solidFill>
                <a:latin typeface="Corbel" panose="020B0503020204020204" pitchFamily="34" charset="0"/>
              </a:rPr>
              <a:t>        </a:t>
            </a:r>
          </a:p>
        </p:txBody>
      </p:sp>
      <p:grpSp>
        <p:nvGrpSpPr>
          <p:cNvPr id="40964" name="Group 116"/>
          <p:cNvGrpSpPr>
            <a:grpSpLocks/>
          </p:cNvGrpSpPr>
          <p:nvPr/>
        </p:nvGrpSpPr>
        <p:grpSpPr bwMode="auto">
          <a:xfrm>
            <a:off x="533400" y="1835150"/>
            <a:ext cx="3365500" cy="4902200"/>
            <a:chOff x="715963" y="1600200"/>
            <a:chExt cx="3365500" cy="5137150"/>
          </a:xfrm>
        </p:grpSpPr>
        <p:sp>
          <p:nvSpPr>
            <p:cNvPr id="118" name="Rectangle 116"/>
            <p:cNvSpPr>
              <a:spLocks noChangeArrowheads="1"/>
            </p:cNvSpPr>
            <p:nvPr/>
          </p:nvSpPr>
          <p:spPr bwMode="auto">
            <a:xfrm>
              <a:off x="1228726" y="2297113"/>
              <a:ext cx="1027112" cy="347662"/>
            </a:xfrm>
            <a:prstGeom prst="rect">
              <a:avLst/>
            </a:prstGeom>
            <a:solidFill>
              <a:schemeClr val="accent1">
                <a:lumMod val="20000"/>
                <a:lumOff val="80000"/>
              </a:schemeClr>
            </a:solidFill>
            <a:ln w="15875">
              <a:solidFill>
                <a:srgbClr val="000000"/>
              </a:solidFill>
              <a:miter lim="800000"/>
              <a:headEnd/>
              <a:tailEnd/>
            </a:ln>
          </p:spPr>
          <p:txBody>
            <a:bodyPr/>
            <a:lstStyle/>
            <a:p>
              <a:pPr fontAlgn="auto">
                <a:spcBef>
                  <a:spcPts val="0"/>
                </a:spcBef>
                <a:spcAft>
                  <a:spcPts val="0"/>
                </a:spcAft>
                <a:defRPr/>
              </a:pPr>
              <a:endParaRPr lang="en-US">
                <a:latin typeface="+mn-lt"/>
              </a:endParaRPr>
            </a:p>
          </p:txBody>
        </p:sp>
        <p:sp>
          <p:nvSpPr>
            <p:cNvPr id="119" name="Rectangle 4"/>
            <p:cNvSpPr>
              <a:spLocks noChangeArrowheads="1"/>
            </p:cNvSpPr>
            <p:nvPr/>
          </p:nvSpPr>
          <p:spPr bwMode="auto">
            <a:xfrm>
              <a:off x="3009901" y="1931988"/>
              <a:ext cx="1027112" cy="347662"/>
            </a:xfrm>
            <a:prstGeom prst="rect">
              <a:avLst/>
            </a:prstGeom>
            <a:solidFill>
              <a:schemeClr val="accent1">
                <a:lumMod val="40000"/>
                <a:lumOff val="60000"/>
              </a:schemeClr>
            </a:solidFill>
            <a:ln w="0">
              <a:solidFill>
                <a:srgbClr val="B2FFFF"/>
              </a:solidFill>
              <a:miter lim="800000"/>
              <a:headEnd/>
              <a:tailEnd/>
            </a:ln>
          </p:spPr>
          <p:txBody>
            <a:bodyPr/>
            <a:lstStyle/>
            <a:p>
              <a:pPr fontAlgn="auto">
                <a:spcBef>
                  <a:spcPts val="0"/>
                </a:spcBef>
                <a:spcAft>
                  <a:spcPts val="0"/>
                </a:spcAft>
                <a:defRPr/>
              </a:pPr>
              <a:endParaRPr lang="en-US">
                <a:latin typeface="+mn-lt"/>
              </a:endParaRPr>
            </a:p>
          </p:txBody>
        </p:sp>
        <p:sp>
          <p:nvSpPr>
            <p:cNvPr id="120" name="Rectangle 5"/>
            <p:cNvSpPr>
              <a:spLocks noChangeArrowheads="1"/>
            </p:cNvSpPr>
            <p:nvPr/>
          </p:nvSpPr>
          <p:spPr bwMode="auto">
            <a:xfrm>
              <a:off x="3009901" y="1600200"/>
              <a:ext cx="1027112" cy="331788"/>
            </a:xfrm>
            <a:prstGeom prst="rect">
              <a:avLst/>
            </a:prstGeom>
            <a:solidFill>
              <a:schemeClr val="accent1">
                <a:lumMod val="75000"/>
              </a:schemeClr>
            </a:solidFill>
            <a:ln w="0">
              <a:solidFill>
                <a:schemeClr val="accent1">
                  <a:lumMod val="50000"/>
                </a:schemeClr>
              </a:solidFill>
              <a:miter lim="800000"/>
              <a:headEnd/>
              <a:tailEnd/>
            </a:ln>
          </p:spPr>
          <p:txBody>
            <a:bodyPr/>
            <a:lstStyle/>
            <a:p>
              <a:pPr fontAlgn="auto">
                <a:spcBef>
                  <a:spcPts val="0"/>
                </a:spcBef>
                <a:spcAft>
                  <a:spcPts val="0"/>
                </a:spcAft>
                <a:defRPr/>
              </a:pPr>
              <a:endParaRPr lang="en-US">
                <a:latin typeface="+mn-lt"/>
              </a:endParaRPr>
            </a:p>
          </p:txBody>
        </p:sp>
        <p:sp>
          <p:nvSpPr>
            <p:cNvPr id="40968" name="Rectangle 6"/>
            <p:cNvSpPr>
              <a:spLocks noChangeArrowheads="1"/>
            </p:cNvSpPr>
            <p:nvPr/>
          </p:nvSpPr>
          <p:spPr bwMode="auto">
            <a:xfrm>
              <a:off x="3009900" y="2960687"/>
              <a:ext cx="1027113" cy="347663"/>
            </a:xfrm>
            <a:prstGeom prst="rect">
              <a:avLst/>
            </a:prstGeom>
            <a:solidFill>
              <a:srgbClr val="808080"/>
            </a:solidFill>
            <a:ln w="0">
              <a:solidFill>
                <a:srgbClr val="80808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0969" name="Rectangle 7"/>
            <p:cNvSpPr>
              <a:spLocks noChangeArrowheads="1"/>
            </p:cNvSpPr>
            <p:nvPr/>
          </p:nvSpPr>
          <p:spPr bwMode="auto">
            <a:xfrm>
              <a:off x="3009900" y="2960687"/>
              <a:ext cx="1027113" cy="347663"/>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123" name="Rectangle 8"/>
            <p:cNvSpPr>
              <a:spLocks noChangeArrowheads="1"/>
            </p:cNvSpPr>
            <p:nvPr/>
          </p:nvSpPr>
          <p:spPr bwMode="auto">
            <a:xfrm>
              <a:off x="3009901" y="3308350"/>
              <a:ext cx="1027112" cy="347663"/>
            </a:xfrm>
            <a:prstGeom prst="rect">
              <a:avLst/>
            </a:prstGeom>
            <a:solidFill>
              <a:schemeClr val="accent1">
                <a:lumMod val="75000"/>
              </a:schemeClr>
            </a:solidFill>
            <a:ln w="0">
              <a:solidFill>
                <a:schemeClr val="accent1">
                  <a:lumMod val="50000"/>
                </a:schemeClr>
              </a:solidFill>
              <a:miter lim="800000"/>
              <a:headEnd/>
              <a:tailEnd/>
            </a:ln>
          </p:spPr>
          <p:txBody>
            <a:bodyPr/>
            <a:lstStyle/>
            <a:p>
              <a:pPr fontAlgn="auto">
                <a:spcBef>
                  <a:spcPts val="0"/>
                </a:spcBef>
                <a:spcAft>
                  <a:spcPts val="0"/>
                </a:spcAft>
                <a:defRPr/>
              </a:pPr>
              <a:endParaRPr lang="en-US">
                <a:latin typeface="+mn-lt"/>
              </a:endParaRPr>
            </a:p>
          </p:txBody>
        </p:sp>
        <p:sp>
          <p:nvSpPr>
            <p:cNvPr id="124" name="Rectangle 9"/>
            <p:cNvSpPr>
              <a:spLocks noChangeArrowheads="1"/>
            </p:cNvSpPr>
            <p:nvPr/>
          </p:nvSpPr>
          <p:spPr bwMode="auto">
            <a:xfrm>
              <a:off x="3009901" y="3656013"/>
              <a:ext cx="1027112" cy="346075"/>
            </a:xfrm>
            <a:prstGeom prst="rect">
              <a:avLst/>
            </a:prstGeom>
            <a:solidFill>
              <a:schemeClr val="accent1">
                <a:lumMod val="40000"/>
                <a:lumOff val="60000"/>
              </a:schemeClr>
            </a:solidFill>
            <a:ln w="0">
              <a:solidFill>
                <a:schemeClr val="accent1">
                  <a:lumMod val="50000"/>
                </a:schemeClr>
              </a:solidFill>
              <a:miter lim="800000"/>
              <a:headEnd/>
              <a:tailEnd/>
            </a:ln>
          </p:spPr>
          <p:txBody>
            <a:bodyPr/>
            <a:lstStyle/>
            <a:p>
              <a:pPr fontAlgn="auto">
                <a:spcBef>
                  <a:spcPts val="0"/>
                </a:spcBef>
                <a:spcAft>
                  <a:spcPts val="0"/>
                </a:spcAft>
                <a:defRPr/>
              </a:pPr>
              <a:endParaRPr lang="en-US">
                <a:latin typeface="+mn-lt"/>
              </a:endParaRPr>
            </a:p>
          </p:txBody>
        </p:sp>
        <p:sp>
          <p:nvSpPr>
            <p:cNvPr id="40972" name="Rectangle 10"/>
            <p:cNvSpPr>
              <a:spLocks noChangeArrowheads="1"/>
            </p:cNvSpPr>
            <p:nvPr/>
          </p:nvSpPr>
          <p:spPr bwMode="auto">
            <a:xfrm>
              <a:off x="3009900" y="4683125"/>
              <a:ext cx="1027113" cy="347662"/>
            </a:xfrm>
            <a:prstGeom prst="rect">
              <a:avLst/>
            </a:prstGeom>
            <a:solidFill>
              <a:srgbClr val="808080"/>
            </a:solidFill>
            <a:ln w="0">
              <a:solidFill>
                <a:srgbClr val="80808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0973" name="Rectangle 11"/>
            <p:cNvSpPr>
              <a:spLocks noChangeArrowheads="1"/>
            </p:cNvSpPr>
            <p:nvPr/>
          </p:nvSpPr>
          <p:spPr bwMode="auto">
            <a:xfrm>
              <a:off x="3009900" y="4683125"/>
              <a:ext cx="1027113" cy="347662"/>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127" name="Rectangle 12"/>
            <p:cNvSpPr>
              <a:spLocks noChangeArrowheads="1"/>
            </p:cNvSpPr>
            <p:nvPr/>
          </p:nvSpPr>
          <p:spPr bwMode="auto">
            <a:xfrm>
              <a:off x="3009901" y="5030788"/>
              <a:ext cx="1027112" cy="331787"/>
            </a:xfrm>
            <a:prstGeom prst="rect">
              <a:avLst/>
            </a:prstGeom>
            <a:solidFill>
              <a:schemeClr val="accent1">
                <a:lumMod val="75000"/>
              </a:schemeClr>
            </a:solidFill>
            <a:ln w="0">
              <a:solidFill>
                <a:schemeClr val="accent1">
                  <a:lumMod val="50000"/>
                </a:schemeClr>
              </a:solidFill>
              <a:miter lim="800000"/>
              <a:headEnd/>
              <a:tailEnd/>
            </a:ln>
          </p:spPr>
          <p:txBody>
            <a:bodyPr/>
            <a:lstStyle/>
            <a:p>
              <a:pPr fontAlgn="auto">
                <a:spcBef>
                  <a:spcPts val="0"/>
                </a:spcBef>
                <a:spcAft>
                  <a:spcPts val="0"/>
                </a:spcAft>
                <a:defRPr/>
              </a:pPr>
              <a:endParaRPr lang="en-US">
                <a:latin typeface="+mn-lt"/>
              </a:endParaRPr>
            </a:p>
          </p:txBody>
        </p:sp>
        <p:sp>
          <p:nvSpPr>
            <p:cNvPr id="128" name="Rectangle 13"/>
            <p:cNvSpPr>
              <a:spLocks noChangeArrowheads="1"/>
            </p:cNvSpPr>
            <p:nvPr/>
          </p:nvSpPr>
          <p:spPr bwMode="auto">
            <a:xfrm>
              <a:off x="3009901" y="5362575"/>
              <a:ext cx="1027112" cy="347663"/>
            </a:xfrm>
            <a:prstGeom prst="rect">
              <a:avLst/>
            </a:prstGeom>
            <a:solidFill>
              <a:schemeClr val="accent1">
                <a:lumMod val="40000"/>
                <a:lumOff val="60000"/>
              </a:schemeClr>
            </a:solidFill>
            <a:ln w="0">
              <a:solidFill>
                <a:schemeClr val="accent1">
                  <a:lumMod val="50000"/>
                </a:schemeClr>
              </a:solidFill>
              <a:miter lim="800000"/>
              <a:headEnd/>
              <a:tailEnd/>
            </a:ln>
          </p:spPr>
          <p:txBody>
            <a:bodyPr/>
            <a:lstStyle/>
            <a:p>
              <a:pPr fontAlgn="auto">
                <a:spcBef>
                  <a:spcPts val="0"/>
                </a:spcBef>
                <a:spcAft>
                  <a:spcPts val="0"/>
                </a:spcAft>
                <a:defRPr/>
              </a:pPr>
              <a:endParaRPr lang="en-US">
                <a:latin typeface="+mn-lt"/>
              </a:endParaRPr>
            </a:p>
          </p:txBody>
        </p:sp>
        <p:sp>
          <p:nvSpPr>
            <p:cNvPr id="40976" name="Rectangle 14"/>
            <p:cNvSpPr>
              <a:spLocks noChangeArrowheads="1"/>
            </p:cNvSpPr>
            <p:nvPr/>
          </p:nvSpPr>
          <p:spPr bwMode="auto">
            <a:xfrm>
              <a:off x="3009900" y="6389687"/>
              <a:ext cx="1027113" cy="347663"/>
            </a:xfrm>
            <a:prstGeom prst="rect">
              <a:avLst/>
            </a:prstGeom>
            <a:solidFill>
              <a:srgbClr val="808080"/>
            </a:solidFill>
            <a:ln w="0">
              <a:solidFill>
                <a:srgbClr val="80808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0977" name="Rectangle 15"/>
            <p:cNvSpPr>
              <a:spLocks noChangeArrowheads="1"/>
            </p:cNvSpPr>
            <p:nvPr/>
          </p:nvSpPr>
          <p:spPr bwMode="auto">
            <a:xfrm>
              <a:off x="3009900" y="6389687"/>
              <a:ext cx="1027113" cy="347663"/>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grpSp>
          <p:nvGrpSpPr>
            <p:cNvPr id="40978" name="Group 121"/>
            <p:cNvGrpSpPr>
              <a:grpSpLocks/>
            </p:cNvGrpSpPr>
            <p:nvPr/>
          </p:nvGrpSpPr>
          <p:grpSpPr bwMode="auto">
            <a:xfrm>
              <a:off x="2495559" y="1630362"/>
              <a:ext cx="463551" cy="288925"/>
              <a:chOff x="2827" y="530"/>
              <a:chExt cx="292" cy="182"/>
            </a:xfrm>
          </p:grpSpPr>
          <p:sp>
            <p:nvSpPr>
              <p:cNvPr id="41069" name="Rectangle 27"/>
              <p:cNvSpPr>
                <a:spLocks noChangeArrowheads="1"/>
              </p:cNvSpPr>
              <p:nvPr/>
            </p:nvSpPr>
            <p:spPr bwMode="auto">
              <a:xfrm>
                <a:off x="2874" y="530"/>
                <a:ext cx="185"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Main</a:t>
                </a:r>
                <a:endParaRPr lang="en-CA" altLang="en-US" sz="2400">
                  <a:latin typeface="Corbel" panose="020B0503020204020204" pitchFamily="34" charset="0"/>
                </a:endParaRPr>
              </a:p>
            </p:txBody>
          </p:sp>
          <p:sp>
            <p:nvSpPr>
              <p:cNvPr id="41070" name="Rectangle 28"/>
              <p:cNvSpPr>
                <a:spLocks noChangeArrowheads="1"/>
              </p:cNvSpPr>
              <p:nvPr/>
            </p:nvSpPr>
            <p:spPr bwMode="auto">
              <a:xfrm>
                <a:off x="2827" y="606"/>
                <a:ext cx="29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memory</a:t>
                </a:r>
                <a:endParaRPr lang="en-CA" altLang="en-US" sz="2400">
                  <a:latin typeface="Corbel" panose="020B0503020204020204" pitchFamily="34" charset="0"/>
                </a:endParaRPr>
              </a:p>
            </p:txBody>
          </p:sp>
        </p:grpSp>
        <p:sp>
          <p:nvSpPr>
            <p:cNvPr id="40979" name="Rectangle 30"/>
            <p:cNvSpPr>
              <a:spLocks noChangeArrowheads="1"/>
            </p:cNvSpPr>
            <p:nvPr/>
          </p:nvSpPr>
          <p:spPr bwMode="auto">
            <a:xfrm>
              <a:off x="3084513" y="1676400"/>
              <a:ext cx="862012" cy="180975"/>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0980" name="Rectangle 29"/>
            <p:cNvSpPr>
              <a:spLocks noChangeArrowheads="1"/>
            </p:cNvSpPr>
            <p:nvPr/>
          </p:nvSpPr>
          <p:spPr bwMode="auto">
            <a:xfrm>
              <a:off x="3084513" y="1676400"/>
              <a:ext cx="862012" cy="180975"/>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0981" name="Rectangle 31"/>
            <p:cNvSpPr>
              <a:spLocks noChangeArrowheads="1"/>
            </p:cNvSpPr>
            <p:nvPr/>
          </p:nvSpPr>
          <p:spPr bwMode="auto">
            <a:xfrm>
              <a:off x="3084513" y="2024062"/>
              <a:ext cx="862012" cy="16510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0982" name="Rectangle 32"/>
            <p:cNvSpPr>
              <a:spLocks noChangeArrowheads="1"/>
            </p:cNvSpPr>
            <p:nvPr/>
          </p:nvSpPr>
          <p:spPr bwMode="auto">
            <a:xfrm>
              <a:off x="3084513" y="2024062"/>
              <a:ext cx="862012" cy="165100"/>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0983" name="Rectangle 33"/>
            <p:cNvSpPr>
              <a:spLocks noChangeArrowheads="1"/>
            </p:cNvSpPr>
            <p:nvPr/>
          </p:nvSpPr>
          <p:spPr bwMode="auto">
            <a:xfrm>
              <a:off x="3084513" y="3051175"/>
              <a:ext cx="862012" cy="180975"/>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0984" name="Rectangle 34"/>
            <p:cNvSpPr>
              <a:spLocks noChangeArrowheads="1"/>
            </p:cNvSpPr>
            <p:nvPr/>
          </p:nvSpPr>
          <p:spPr bwMode="auto">
            <a:xfrm>
              <a:off x="3084513" y="3051175"/>
              <a:ext cx="862012" cy="180975"/>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0985" name="Rectangle 35"/>
            <p:cNvSpPr>
              <a:spLocks noChangeArrowheads="1"/>
            </p:cNvSpPr>
            <p:nvPr/>
          </p:nvSpPr>
          <p:spPr bwMode="auto">
            <a:xfrm>
              <a:off x="3084513" y="3398837"/>
              <a:ext cx="862012" cy="16510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0986" name="Rectangle 36"/>
            <p:cNvSpPr>
              <a:spLocks noChangeArrowheads="1"/>
            </p:cNvSpPr>
            <p:nvPr/>
          </p:nvSpPr>
          <p:spPr bwMode="auto">
            <a:xfrm>
              <a:off x="3084513" y="3398837"/>
              <a:ext cx="862012" cy="165100"/>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0987" name="Rectangle 37"/>
            <p:cNvSpPr>
              <a:spLocks noChangeArrowheads="1"/>
            </p:cNvSpPr>
            <p:nvPr/>
          </p:nvSpPr>
          <p:spPr bwMode="auto">
            <a:xfrm>
              <a:off x="3084513" y="3746500"/>
              <a:ext cx="862012" cy="16510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0988" name="Rectangle 38"/>
            <p:cNvSpPr>
              <a:spLocks noChangeArrowheads="1"/>
            </p:cNvSpPr>
            <p:nvPr/>
          </p:nvSpPr>
          <p:spPr bwMode="auto">
            <a:xfrm>
              <a:off x="3084513" y="3746500"/>
              <a:ext cx="862012" cy="165100"/>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0989" name="Rectangle 39"/>
            <p:cNvSpPr>
              <a:spLocks noChangeArrowheads="1"/>
            </p:cNvSpPr>
            <p:nvPr/>
          </p:nvSpPr>
          <p:spPr bwMode="auto">
            <a:xfrm>
              <a:off x="3084513" y="4773612"/>
              <a:ext cx="862012" cy="166688"/>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0990" name="Rectangle 40"/>
            <p:cNvSpPr>
              <a:spLocks noChangeArrowheads="1"/>
            </p:cNvSpPr>
            <p:nvPr/>
          </p:nvSpPr>
          <p:spPr bwMode="auto">
            <a:xfrm>
              <a:off x="3084513" y="4773612"/>
              <a:ext cx="862012" cy="166688"/>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0991" name="Rectangle 41"/>
            <p:cNvSpPr>
              <a:spLocks noChangeArrowheads="1"/>
            </p:cNvSpPr>
            <p:nvPr/>
          </p:nvSpPr>
          <p:spPr bwMode="auto">
            <a:xfrm>
              <a:off x="3084513" y="5105400"/>
              <a:ext cx="862012" cy="182562"/>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0992" name="Rectangle 42"/>
            <p:cNvSpPr>
              <a:spLocks noChangeArrowheads="1"/>
            </p:cNvSpPr>
            <p:nvPr/>
          </p:nvSpPr>
          <p:spPr bwMode="auto">
            <a:xfrm>
              <a:off x="3084513" y="5105400"/>
              <a:ext cx="862012" cy="182562"/>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0993" name="Rectangle 43"/>
            <p:cNvSpPr>
              <a:spLocks noChangeArrowheads="1"/>
            </p:cNvSpPr>
            <p:nvPr/>
          </p:nvSpPr>
          <p:spPr bwMode="auto">
            <a:xfrm>
              <a:off x="3084513" y="5453062"/>
              <a:ext cx="862012" cy="166688"/>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0994" name="Rectangle 44"/>
            <p:cNvSpPr>
              <a:spLocks noChangeArrowheads="1"/>
            </p:cNvSpPr>
            <p:nvPr/>
          </p:nvSpPr>
          <p:spPr bwMode="auto">
            <a:xfrm>
              <a:off x="3084513" y="5453062"/>
              <a:ext cx="862012" cy="166688"/>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0995" name="Rectangle 45"/>
            <p:cNvSpPr>
              <a:spLocks noChangeArrowheads="1"/>
            </p:cNvSpPr>
            <p:nvPr/>
          </p:nvSpPr>
          <p:spPr bwMode="auto">
            <a:xfrm>
              <a:off x="3084513" y="6481762"/>
              <a:ext cx="862012" cy="16510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0996" name="Rectangle 46"/>
            <p:cNvSpPr>
              <a:spLocks noChangeArrowheads="1"/>
            </p:cNvSpPr>
            <p:nvPr/>
          </p:nvSpPr>
          <p:spPr bwMode="auto">
            <a:xfrm>
              <a:off x="3084513" y="6481762"/>
              <a:ext cx="862012" cy="165100"/>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0997" name="Rectangle 47"/>
            <p:cNvSpPr>
              <a:spLocks noChangeArrowheads="1"/>
            </p:cNvSpPr>
            <p:nvPr/>
          </p:nvSpPr>
          <p:spPr bwMode="auto">
            <a:xfrm>
              <a:off x="3311525" y="1674812"/>
              <a:ext cx="54662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0</a:t>
              </a:r>
              <a:endParaRPr lang="en-CA" altLang="en-US" sz="1200" b="1">
                <a:latin typeface="Corbel" panose="020B0503020204020204" pitchFamily="34" charset="0"/>
              </a:endParaRPr>
            </a:p>
          </p:txBody>
        </p:sp>
        <p:sp>
          <p:nvSpPr>
            <p:cNvPr id="40998" name="Rectangle 48"/>
            <p:cNvSpPr>
              <a:spLocks noChangeArrowheads="1"/>
            </p:cNvSpPr>
            <p:nvPr/>
          </p:nvSpPr>
          <p:spPr bwMode="auto">
            <a:xfrm>
              <a:off x="3311525" y="2022475"/>
              <a:ext cx="54662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1</a:t>
              </a:r>
              <a:endParaRPr lang="en-CA" altLang="en-US" sz="1200" b="1">
                <a:latin typeface="Corbel" panose="020B0503020204020204" pitchFamily="34" charset="0"/>
              </a:endParaRPr>
            </a:p>
          </p:txBody>
        </p:sp>
        <p:sp>
          <p:nvSpPr>
            <p:cNvPr id="40999" name="Rectangle 49"/>
            <p:cNvSpPr>
              <a:spLocks noChangeArrowheads="1"/>
            </p:cNvSpPr>
            <p:nvPr/>
          </p:nvSpPr>
          <p:spPr bwMode="auto">
            <a:xfrm>
              <a:off x="3235325" y="3049587"/>
              <a:ext cx="7165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127</a:t>
              </a:r>
              <a:endParaRPr lang="en-CA" altLang="en-US" sz="1200" b="1">
                <a:latin typeface="Corbel" panose="020B0503020204020204" pitchFamily="34" charset="0"/>
              </a:endParaRPr>
            </a:p>
          </p:txBody>
        </p:sp>
        <p:sp>
          <p:nvSpPr>
            <p:cNvPr id="41000" name="Rectangle 50"/>
            <p:cNvSpPr>
              <a:spLocks noChangeArrowheads="1"/>
            </p:cNvSpPr>
            <p:nvPr/>
          </p:nvSpPr>
          <p:spPr bwMode="auto">
            <a:xfrm>
              <a:off x="3235325" y="3397250"/>
              <a:ext cx="7165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128</a:t>
              </a:r>
              <a:endParaRPr lang="en-CA" altLang="en-US" sz="1200" b="1">
                <a:latin typeface="Corbel" panose="020B0503020204020204" pitchFamily="34" charset="0"/>
              </a:endParaRPr>
            </a:p>
          </p:txBody>
        </p:sp>
        <p:sp>
          <p:nvSpPr>
            <p:cNvPr id="41001" name="Rectangle 51"/>
            <p:cNvSpPr>
              <a:spLocks noChangeArrowheads="1"/>
            </p:cNvSpPr>
            <p:nvPr/>
          </p:nvSpPr>
          <p:spPr bwMode="auto">
            <a:xfrm>
              <a:off x="3235325" y="3730625"/>
              <a:ext cx="7165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129</a:t>
              </a:r>
              <a:endParaRPr lang="en-CA" altLang="en-US" sz="1200" b="1">
                <a:latin typeface="Corbel" panose="020B0503020204020204" pitchFamily="34" charset="0"/>
              </a:endParaRPr>
            </a:p>
          </p:txBody>
        </p:sp>
        <p:sp>
          <p:nvSpPr>
            <p:cNvPr id="41002" name="Rectangle 52"/>
            <p:cNvSpPr>
              <a:spLocks noChangeArrowheads="1"/>
            </p:cNvSpPr>
            <p:nvPr/>
          </p:nvSpPr>
          <p:spPr bwMode="auto">
            <a:xfrm>
              <a:off x="3235325" y="4800600"/>
              <a:ext cx="7165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255</a:t>
              </a:r>
              <a:endParaRPr lang="en-CA" altLang="en-US" sz="1200" b="1">
                <a:latin typeface="Corbel" panose="020B0503020204020204" pitchFamily="34" charset="0"/>
              </a:endParaRPr>
            </a:p>
          </p:txBody>
        </p:sp>
        <p:sp>
          <p:nvSpPr>
            <p:cNvPr id="41003" name="Rectangle 53"/>
            <p:cNvSpPr>
              <a:spLocks noChangeArrowheads="1"/>
            </p:cNvSpPr>
            <p:nvPr/>
          </p:nvSpPr>
          <p:spPr bwMode="auto">
            <a:xfrm>
              <a:off x="3235325" y="5105400"/>
              <a:ext cx="7165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256</a:t>
              </a:r>
              <a:endParaRPr lang="en-CA" altLang="en-US" sz="1200" b="1">
                <a:latin typeface="Corbel" panose="020B0503020204020204" pitchFamily="34" charset="0"/>
              </a:endParaRPr>
            </a:p>
          </p:txBody>
        </p:sp>
        <p:sp>
          <p:nvSpPr>
            <p:cNvPr id="41004" name="Rectangle 54"/>
            <p:cNvSpPr>
              <a:spLocks noChangeArrowheads="1"/>
            </p:cNvSpPr>
            <p:nvPr/>
          </p:nvSpPr>
          <p:spPr bwMode="auto">
            <a:xfrm>
              <a:off x="3235325" y="5453062"/>
              <a:ext cx="7165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257</a:t>
              </a:r>
              <a:endParaRPr lang="en-CA" altLang="en-US" sz="1200" b="1">
                <a:latin typeface="Corbel" panose="020B0503020204020204" pitchFamily="34" charset="0"/>
              </a:endParaRPr>
            </a:p>
          </p:txBody>
        </p:sp>
        <p:sp>
          <p:nvSpPr>
            <p:cNvPr id="41005" name="Rectangle 55"/>
            <p:cNvSpPr>
              <a:spLocks noChangeArrowheads="1"/>
            </p:cNvSpPr>
            <p:nvPr/>
          </p:nvSpPr>
          <p:spPr bwMode="auto">
            <a:xfrm>
              <a:off x="3205163" y="6480175"/>
              <a:ext cx="801501"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Block 4095</a:t>
              </a:r>
              <a:endParaRPr lang="en-CA" altLang="en-US" sz="1200" b="1">
                <a:latin typeface="Corbel" panose="020B0503020204020204" pitchFamily="34" charset="0"/>
              </a:endParaRPr>
            </a:p>
          </p:txBody>
        </p:sp>
        <p:sp>
          <p:nvSpPr>
            <p:cNvPr id="41006" name="Freeform 65"/>
            <p:cNvSpPr>
              <a:spLocks/>
            </p:cNvSpPr>
            <p:nvPr/>
          </p:nvSpPr>
          <p:spPr bwMode="auto">
            <a:xfrm>
              <a:off x="2352675" y="3000375"/>
              <a:ext cx="544513" cy="271462"/>
            </a:xfrm>
            <a:custGeom>
              <a:avLst/>
              <a:gdLst>
                <a:gd name="T0" fmla="*/ 2147483647 w 36"/>
                <a:gd name="T1" fmla="*/ 2147483647 h 18"/>
                <a:gd name="T2" fmla="*/ 2147483647 w 36"/>
                <a:gd name="T3" fmla="*/ 2147483647 h 18"/>
                <a:gd name="T4" fmla="*/ 2147483647 w 36"/>
                <a:gd name="T5" fmla="*/ 2147483647 h 18"/>
                <a:gd name="T6" fmla="*/ 2147483647 w 36"/>
                <a:gd name="T7" fmla="*/ 909774581 h 18"/>
                <a:gd name="T8" fmla="*/ 2147483647 w 36"/>
                <a:gd name="T9" fmla="*/ 909774581 h 18"/>
                <a:gd name="T10" fmla="*/ 2147483647 w 36"/>
                <a:gd name="T11" fmla="*/ 0 h 18"/>
                <a:gd name="T12" fmla="*/ 0 w 36"/>
                <a:gd name="T13" fmla="*/ 2046989448 h 18"/>
                <a:gd name="T14" fmla="*/ 2147483647 w 36"/>
                <a:gd name="T15" fmla="*/ 2147483647 h 18"/>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18"/>
                <a:gd name="T26" fmla="*/ 36 w 36"/>
                <a:gd name="T27" fmla="*/ 18 h 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18">
                  <a:moveTo>
                    <a:pt x="14" y="18"/>
                  </a:moveTo>
                  <a:lnTo>
                    <a:pt x="14" y="13"/>
                  </a:lnTo>
                  <a:lnTo>
                    <a:pt x="36" y="13"/>
                  </a:lnTo>
                  <a:lnTo>
                    <a:pt x="36" y="4"/>
                  </a:lnTo>
                  <a:lnTo>
                    <a:pt x="14" y="4"/>
                  </a:lnTo>
                  <a:lnTo>
                    <a:pt x="14" y="0"/>
                  </a:lnTo>
                  <a:lnTo>
                    <a:pt x="0" y="9"/>
                  </a:lnTo>
                  <a:lnTo>
                    <a:pt x="14" y="18"/>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1007" name="Line 66"/>
            <p:cNvSpPr>
              <a:spLocks noChangeShapeType="1"/>
            </p:cNvSpPr>
            <p:nvPr/>
          </p:nvSpPr>
          <p:spPr bwMode="auto">
            <a:xfrm flipV="1">
              <a:off x="3009900" y="2279650"/>
              <a:ext cx="1588" cy="30321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08" name="Line 67"/>
            <p:cNvSpPr>
              <a:spLocks noChangeShapeType="1"/>
            </p:cNvSpPr>
            <p:nvPr/>
          </p:nvSpPr>
          <p:spPr bwMode="auto">
            <a:xfrm flipV="1">
              <a:off x="3009900" y="2673350"/>
              <a:ext cx="1588" cy="2873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09" name="Line 68"/>
            <p:cNvSpPr>
              <a:spLocks noChangeShapeType="1"/>
            </p:cNvSpPr>
            <p:nvPr/>
          </p:nvSpPr>
          <p:spPr bwMode="auto">
            <a:xfrm flipV="1">
              <a:off x="4037013" y="2279650"/>
              <a:ext cx="1587" cy="30321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10" name="Line 69"/>
            <p:cNvSpPr>
              <a:spLocks noChangeShapeType="1"/>
            </p:cNvSpPr>
            <p:nvPr/>
          </p:nvSpPr>
          <p:spPr bwMode="auto">
            <a:xfrm flipV="1">
              <a:off x="4037013" y="2673350"/>
              <a:ext cx="1587" cy="2873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11" name="Line 70"/>
            <p:cNvSpPr>
              <a:spLocks noChangeShapeType="1"/>
            </p:cNvSpPr>
            <p:nvPr/>
          </p:nvSpPr>
          <p:spPr bwMode="auto">
            <a:xfrm flipH="1">
              <a:off x="2949575" y="2552700"/>
              <a:ext cx="104775" cy="603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12" name="Line 71"/>
            <p:cNvSpPr>
              <a:spLocks noChangeShapeType="1"/>
            </p:cNvSpPr>
            <p:nvPr/>
          </p:nvSpPr>
          <p:spPr bwMode="auto">
            <a:xfrm flipH="1">
              <a:off x="2949575" y="2643187"/>
              <a:ext cx="104775"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13" name="Line 72"/>
            <p:cNvSpPr>
              <a:spLocks noChangeShapeType="1"/>
            </p:cNvSpPr>
            <p:nvPr/>
          </p:nvSpPr>
          <p:spPr bwMode="auto">
            <a:xfrm flipH="1">
              <a:off x="3976688" y="2552700"/>
              <a:ext cx="104775" cy="603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14" name="Line 73"/>
            <p:cNvSpPr>
              <a:spLocks noChangeShapeType="1"/>
            </p:cNvSpPr>
            <p:nvPr/>
          </p:nvSpPr>
          <p:spPr bwMode="auto">
            <a:xfrm flipH="1">
              <a:off x="3976688" y="2643187"/>
              <a:ext cx="104775"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15" name="Line 74"/>
            <p:cNvSpPr>
              <a:spLocks noChangeShapeType="1"/>
            </p:cNvSpPr>
            <p:nvPr/>
          </p:nvSpPr>
          <p:spPr bwMode="auto">
            <a:xfrm flipV="1">
              <a:off x="3009900" y="5710237"/>
              <a:ext cx="1588" cy="3032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16" name="Line 75"/>
            <p:cNvSpPr>
              <a:spLocks noChangeShapeType="1"/>
            </p:cNvSpPr>
            <p:nvPr/>
          </p:nvSpPr>
          <p:spPr bwMode="auto">
            <a:xfrm flipV="1">
              <a:off x="3009900" y="6088062"/>
              <a:ext cx="1588" cy="3016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17" name="Line 76"/>
            <p:cNvSpPr>
              <a:spLocks noChangeShapeType="1"/>
            </p:cNvSpPr>
            <p:nvPr/>
          </p:nvSpPr>
          <p:spPr bwMode="auto">
            <a:xfrm flipV="1">
              <a:off x="4037013" y="5710237"/>
              <a:ext cx="1587" cy="3032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18" name="Line 77"/>
            <p:cNvSpPr>
              <a:spLocks noChangeShapeType="1"/>
            </p:cNvSpPr>
            <p:nvPr/>
          </p:nvSpPr>
          <p:spPr bwMode="auto">
            <a:xfrm flipV="1">
              <a:off x="4037013" y="6088062"/>
              <a:ext cx="1587" cy="3016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19" name="Line 78"/>
            <p:cNvSpPr>
              <a:spLocks noChangeShapeType="1"/>
            </p:cNvSpPr>
            <p:nvPr/>
          </p:nvSpPr>
          <p:spPr bwMode="auto">
            <a:xfrm flipH="1">
              <a:off x="2949575" y="5981700"/>
              <a:ext cx="104775" cy="460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20" name="Line 79"/>
            <p:cNvSpPr>
              <a:spLocks noChangeShapeType="1"/>
            </p:cNvSpPr>
            <p:nvPr/>
          </p:nvSpPr>
          <p:spPr bwMode="auto">
            <a:xfrm flipH="1">
              <a:off x="2949575" y="6057900"/>
              <a:ext cx="104775" cy="603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21" name="Line 80"/>
            <p:cNvSpPr>
              <a:spLocks noChangeShapeType="1"/>
            </p:cNvSpPr>
            <p:nvPr/>
          </p:nvSpPr>
          <p:spPr bwMode="auto">
            <a:xfrm flipH="1">
              <a:off x="3976688" y="5981700"/>
              <a:ext cx="104775" cy="460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22" name="Line 81"/>
            <p:cNvSpPr>
              <a:spLocks noChangeShapeType="1"/>
            </p:cNvSpPr>
            <p:nvPr/>
          </p:nvSpPr>
          <p:spPr bwMode="auto">
            <a:xfrm flipH="1">
              <a:off x="3976688" y="6057900"/>
              <a:ext cx="104775" cy="603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23" name="Line 82"/>
            <p:cNvSpPr>
              <a:spLocks noChangeShapeType="1"/>
            </p:cNvSpPr>
            <p:nvPr/>
          </p:nvSpPr>
          <p:spPr bwMode="auto">
            <a:xfrm flipV="1">
              <a:off x="3009900" y="4002087"/>
              <a:ext cx="1588" cy="2873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24" name="Line 83"/>
            <p:cNvSpPr>
              <a:spLocks noChangeShapeType="1"/>
            </p:cNvSpPr>
            <p:nvPr/>
          </p:nvSpPr>
          <p:spPr bwMode="auto">
            <a:xfrm flipV="1">
              <a:off x="3009900" y="4379912"/>
              <a:ext cx="1588" cy="3032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25" name="Line 84"/>
            <p:cNvSpPr>
              <a:spLocks noChangeShapeType="1"/>
            </p:cNvSpPr>
            <p:nvPr/>
          </p:nvSpPr>
          <p:spPr bwMode="auto">
            <a:xfrm flipV="1">
              <a:off x="4037013" y="4002087"/>
              <a:ext cx="1587" cy="2873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26" name="Line 85"/>
            <p:cNvSpPr>
              <a:spLocks noChangeShapeType="1"/>
            </p:cNvSpPr>
            <p:nvPr/>
          </p:nvSpPr>
          <p:spPr bwMode="auto">
            <a:xfrm flipV="1">
              <a:off x="4037013" y="4379912"/>
              <a:ext cx="1587" cy="3032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27" name="Line 86"/>
            <p:cNvSpPr>
              <a:spLocks noChangeShapeType="1"/>
            </p:cNvSpPr>
            <p:nvPr/>
          </p:nvSpPr>
          <p:spPr bwMode="auto">
            <a:xfrm flipH="1">
              <a:off x="2949575" y="4275137"/>
              <a:ext cx="104775"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28" name="Line 87"/>
            <p:cNvSpPr>
              <a:spLocks noChangeShapeType="1"/>
            </p:cNvSpPr>
            <p:nvPr/>
          </p:nvSpPr>
          <p:spPr bwMode="auto">
            <a:xfrm flipH="1">
              <a:off x="2949575" y="4349750"/>
              <a:ext cx="104775" cy="460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29" name="Line 88"/>
            <p:cNvSpPr>
              <a:spLocks noChangeShapeType="1"/>
            </p:cNvSpPr>
            <p:nvPr/>
          </p:nvSpPr>
          <p:spPr bwMode="auto">
            <a:xfrm flipH="1">
              <a:off x="3976688" y="4275137"/>
              <a:ext cx="104775"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30" name="Line 89"/>
            <p:cNvSpPr>
              <a:spLocks noChangeShapeType="1"/>
            </p:cNvSpPr>
            <p:nvPr/>
          </p:nvSpPr>
          <p:spPr bwMode="auto">
            <a:xfrm flipH="1">
              <a:off x="3976688" y="4349750"/>
              <a:ext cx="104775" cy="460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1031" name="Group 120"/>
            <p:cNvGrpSpPr>
              <a:grpSpLocks/>
            </p:cNvGrpSpPr>
            <p:nvPr/>
          </p:nvGrpSpPr>
          <p:grpSpPr bwMode="auto">
            <a:xfrm>
              <a:off x="860425" y="4910137"/>
              <a:ext cx="1631950" cy="785813"/>
              <a:chOff x="634" y="2853"/>
              <a:chExt cx="1028" cy="495"/>
            </a:xfrm>
          </p:grpSpPr>
          <p:sp>
            <p:nvSpPr>
              <p:cNvPr id="215" name="Rectangle 98"/>
              <p:cNvSpPr>
                <a:spLocks noChangeArrowheads="1"/>
              </p:cNvSpPr>
              <p:nvPr/>
            </p:nvSpPr>
            <p:spPr bwMode="auto">
              <a:xfrm>
                <a:off x="634" y="2996"/>
                <a:ext cx="1028" cy="162"/>
              </a:xfrm>
              <a:prstGeom prst="rect">
                <a:avLst/>
              </a:prstGeom>
              <a:noFill/>
              <a:ln w="28575">
                <a:solidFill>
                  <a:schemeClr val="accent1">
                    <a:lumMod val="75000"/>
                  </a:schemeClr>
                </a:solidFill>
                <a:miter lim="800000"/>
                <a:headEnd/>
                <a:tailEnd/>
              </a:ln>
            </p:spPr>
            <p:txBody>
              <a:bodyPr/>
              <a:lstStyle/>
              <a:p>
                <a:pPr fontAlgn="auto">
                  <a:spcBef>
                    <a:spcPts val="0"/>
                  </a:spcBef>
                  <a:spcAft>
                    <a:spcPts val="0"/>
                  </a:spcAft>
                  <a:defRPr/>
                </a:pPr>
                <a:endParaRPr lang="en-US">
                  <a:latin typeface="+mn-lt"/>
                </a:endParaRPr>
              </a:p>
            </p:txBody>
          </p:sp>
          <p:sp>
            <p:nvSpPr>
              <p:cNvPr id="217" name="Line 100"/>
              <p:cNvSpPr>
                <a:spLocks noChangeShapeType="1"/>
              </p:cNvSpPr>
              <p:nvPr/>
            </p:nvSpPr>
            <p:spPr bwMode="auto">
              <a:xfrm flipV="1">
                <a:off x="1386" y="2996"/>
                <a:ext cx="1" cy="162"/>
              </a:xfrm>
              <a:prstGeom prst="line">
                <a:avLst/>
              </a:prstGeom>
              <a:noFill/>
              <a:ln w="28575">
                <a:solidFill>
                  <a:schemeClr val="accent1">
                    <a:lumMod val="75000"/>
                  </a:schemeClr>
                </a:solidFill>
                <a:round/>
                <a:headEnd/>
                <a:tailEnd/>
              </a:ln>
            </p:spPr>
            <p:txBody>
              <a:bodyPr/>
              <a:lstStyle/>
              <a:p>
                <a:pPr fontAlgn="auto">
                  <a:spcBef>
                    <a:spcPts val="0"/>
                  </a:spcBef>
                  <a:spcAft>
                    <a:spcPts val="0"/>
                  </a:spcAft>
                  <a:defRPr/>
                </a:pPr>
                <a:endParaRPr lang="en-US">
                  <a:latin typeface="+mn-lt"/>
                </a:endParaRPr>
              </a:p>
            </p:txBody>
          </p:sp>
          <p:sp>
            <p:nvSpPr>
              <p:cNvPr id="41064" name="Rectangle 102"/>
              <p:cNvSpPr>
                <a:spLocks noChangeArrowheads="1"/>
              </p:cNvSpPr>
              <p:nvPr/>
            </p:nvSpPr>
            <p:spPr bwMode="auto">
              <a:xfrm>
                <a:off x="1500" y="3015"/>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4</a:t>
                </a:r>
                <a:endParaRPr lang="en-CA" altLang="en-US" sz="2400">
                  <a:latin typeface="Corbel" panose="020B0503020204020204" pitchFamily="34" charset="0"/>
                </a:endParaRPr>
              </a:p>
            </p:txBody>
          </p:sp>
          <p:sp>
            <p:nvSpPr>
              <p:cNvPr id="41065" name="Rectangle 103"/>
              <p:cNvSpPr>
                <a:spLocks noChangeArrowheads="1"/>
              </p:cNvSpPr>
              <p:nvPr/>
            </p:nvSpPr>
            <p:spPr bwMode="auto">
              <a:xfrm>
                <a:off x="787" y="3242"/>
                <a:ext cx="78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Main memory address</a:t>
                </a:r>
                <a:endParaRPr lang="en-CA" altLang="en-US" sz="2400">
                  <a:latin typeface="Corbel" panose="020B0503020204020204" pitchFamily="34" charset="0"/>
                </a:endParaRPr>
              </a:p>
            </p:txBody>
          </p:sp>
          <p:sp>
            <p:nvSpPr>
              <p:cNvPr id="41066" name="Rectangle 105"/>
              <p:cNvSpPr>
                <a:spLocks noChangeArrowheads="1"/>
              </p:cNvSpPr>
              <p:nvPr/>
            </p:nvSpPr>
            <p:spPr bwMode="auto">
              <a:xfrm>
                <a:off x="988" y="2853"/>
                <a:ext cx="19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400" b="1">
                    <a:solidFill>
                      <a:srgbClr val="000000"/>
                    </a:solidFill>
                    <a:latin typeface="Nimbus Roman No9 L"/>
                  </a:rPr>
                  <a:t>Tag</a:t>
                </a:r>
                <a:endParaRPr lang="en-CA" altLang="en-US" sz="1400" b="1">
                  <a:latin typeface="Corbel" panose="020B0503020204020204" pitchFamily="34" charset="0"/>
                </a:endParaRPr>
              </a:p>
            </p:txBody>
          </p:sp>
          <p:sp>
            <p:nvSpPr>
              <p:cNvPr id="41067" name="Rectangle 108"/>
              <p:cNvSpPr>
                <a:spLocks noChangeArrowheads="1"/>
              </p:cNvSpPr>
              <p:nvPr/>
            </p:nvSpPr>
            <p:spPr bwMode="auto">
              <a:xfrm>
                <a:off x="1407" y="2853"/>
                <a:ext cx="24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200" b="1">
                    <a:solidFill>
                      <a:srgbClr val="000000"/>
                    </a:solidFill>
                    <a:latin typeface="Nimbus Roman No9 L"/>
                  </a:rPr>
                  <a:t>Word</a:t>
                </a:r>
                <a:endParaRPr lang="en-CA" altLang="en-US" sz="1200" b="1">
                  <a:latin typeface="Corbel" panose="020B0503020204020204" pitchFamily="34" charset="0"/>
                </a:endParaRPr>
              </a:p>
            </p:txBody>
          </p:sp>
          <p:sp>
            <p:nvSpPr>
              <p:cNvPr id="41068" name="Rectangle 109"/>
              <p:cNvSpPr>
                <a:spLocks noChangeArrowheads="1"/>
              </p:cNvSpPr>
              <p:nvPr/>
            </p:nvSpPr>
            <p:spPr bwMode="auto">
              <a:xfrm>
                <a:off x="968" y="3015"/>
                <a:ext cx="199"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12</a:t>
                </a:r>
                <a:endParaRPr lang="en-CA" altLang="en-US" sz="2400">
                  <a:latin typeface="Corbel" panose="020B0503020204020204" pitchFamily="34" charset="0"/>
                </a:endParaRPr>
              </a:p>
            </p:txBody>
          </p:sp>
        </p:grpSp>
        <p:sp>
          <p:nvSpPr>
            <p:cNvPr id="41032" name="Rectangle 115"/>
            <p:cNvSpPr>
              <a:spLocks noChangeArrowheads="1"/>
            </p:cNvSpPr>
            <p:nvPr/>
          </p:nvSpPr>
          <p:spPr bwMode="auto">
            <a:xfrm>
              <a:off x="3009900" y="5362575"/>
              <a:ext cx="1027113" cy="347662"/>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186" name="Rectangle 16"/>
            <p:cNvSpPr>
              <a:spLocks noChangeArrowheads="1"/>
            </p:cNvSpPr>
            <p:nvPr/>
          </p:nvSpPr>
          <p:spPr bwMode="auto">
            <a:xfrm>
              <a:off x="1228726" y="2644775"/>
              <a:ext cx="1027112" cy="346075"/>
            </a:xfrm>
            <a:prstGeom prst="rect">
              <a:avLst/>
            </a:prstGeom>
            <a:solidFill>
              <a:schemeClr val="accent1">
                <a:lumMod val="40000"/>
                <a:lumOff val="60000"/>
              </a:schemeClr>
            </a:solidFill>
            <a:ln w="0">
              <a:solidFill>
                <a:schemeClr val="accent1">
                  <a:lumMod val="50000"/>
                </a:schemeClr>
              </a:solidFill>
              <a:miter lim="800000"/>
              <a:headEnd/>
              <a:tailEnd/>
            </a:ln>
          </p:spPr>
          <p:txBody>
            <a:bodyPr/>
            <a:lstStyle/>
            <a:p>
              <a:pPr fontAlgn="auto">
                <a:spcBef>
                  <a:spcPts val="0"/>
                </a:spcBef>
                <a:spcAft>
                  <a:spcPts val="0"/>
                </a:spcAft>
                <a:defRPr/>
              </a:pPr>
              <a:endParaRPr lang="en-US">
                <a:latin typeface="+mn-lt"/>
              </a:endParaRPr>
            </a:p>
          </p:txBody>
        </p:sp>
        <p:sp>
          <p:nvSpPr>
            <p:cNvPr id="187" name="Rectangle 17"/>
            <p:cNvSpPr>
              <a:spLocks noChangeArrowheads="1"/>
            </p:cNvSpPr>
            <p:nvPr/>
          </p:nvSpPr>
          <p:spPr bwMode="auto">
            <a:xfrm>
              <a:off x="1228726" y="2297113"/>
              <a:ext cx="1027112" cy="347662"/>
            </a:xfrm>
            <a:prstGeom prst="rect">
              <a:avLst/>
            </a:prstGeom>
            <a:solidFill>
              <a:schemeClr val="accent1">
                <a:lumMod val="75000"/>
              </a:schemeClr>
            </a:solidFill>
            <a:ln w="0">
              <a:solidFill>
                <a:schemeClr val="accent1">
                  <a:lumMod val="50000"/>
                </a:schemeClr>
              </a:solidFill>
              <a:miter lim="800000"/>
              <a:headEnd/>
              <a:tailEnd/>
            </a:ln>
          </p:spPr>
          <p:txBody>
            <a:bodyPr/>
            <a:lstStyle/>
            <a:p>
              <a:pPr fontAlgn="auto">
                <a:spcBef>
                  <a:spcPts val="0"/>
                </a:spcBef>
                <a:spcAft>
                  <a:spcPts val="0"/>
                </a:spcAft>
                <a:defRPr/>
              </a:pPr>
              <a:endParaRPr lang="en-US">
                <a:latin typeface="+mn-lt"/>
              </a:endParaRPr>
            </a:p>
          </p:txBody>
        </p:sp>
        <p:sp>
          <p:nvSpPr>
            <p:cNvPr id="41035" name="Rectangle 18"/>
            <p:cNvSpPr>
              <a:spLocks noChangeArrowheads="1"/>
            </p:cNvSpPr>
            <p:nvPr/>
          </p:nvSpPr>
          <p:spPr bwMode="auto">
            <a:xfrm>
              <a:off x="1228725" y="3671887"/>
              <a:ext cx="1027113" cy="347663"/>
            </a:xfrm>
            <a:prstGeom prst="rect">
              <a:avLst/>
            </a:prstGeom>
            <a:solidFill>
              <a:srgbClr val="808080"/>
            </a:solidFill>
            <a:ln w="0">
              <a:solidFill>
                <a:srgbClr val="80808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1036" name="Rectangle 19"/>
            <p:cNvSpPr>
              <a:spLocks noChangeArrowheads="1"/>
            </p:cNvSpPr>
            <p:nvPr/>
          </p:nvSpPr>
          <p:spPr bwMode="auto">
            <a:xfrm>
              <a:off x="1228725" y="3671887"/>
              <a:ext cx="1027113" cy="347663"/>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1037" name="Rectangle 20"/>
            <p:cNvSpPr>
              <a:spLocks noChangeArrowheads="1"/>
            </p:cNvSpPr>
            <p:nvPr/>
          </p:nvSpPr>
          <p:spPr bwMode="auto">
            <a:xfrm>
              <a:off x="715963" y="2297112"/>
              <a:ext cx="512762" cy="180975"/>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1038" name="Rectangle 21"/>
            <p:cNvSpPr>
              <a:spLocks noChangeArrowheads="1"/>
            </p:cNvSpPr>
            <p:nvPr/>
          </p:nvSpPr>
          <p:spPr bwMode="auto">
            <a:xfrm>
              <a:off x="715963" y="2644775"/>
              <a:ext cx="512762" cy="165100"/>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1039" name="Rectangle 22"/>
            <p:cNvSpPr>
              <a:spLocks noChangeArrowheads="1"/>
            </p:cNvSpPr>
            <p:nvPr/>
          </p:nvSpPr>
          <p:spPr bwMode="auto">
            <a:xfrm>
              <a:off x="715963" y="3671887"/>
              <a:ext cx="512762" cy="166688"/>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1040" name="Rectangle 23"/>
            <p:cNvSpPr>
              <a:spLocks noChangeArrowheads="1"/>
            </p:cNvSpPr>
            <p:nvPr/>
          </p:nvSpPr>
          <p:spPr bwMode="auto">
            <a:xfrm>
              <a:off x="881063" y="2281237"/>
              <a:ext cx="16986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tag</a:t>
              </a:r>
              <a:endParaRPr lang="en-CA" altLang="en-US" sz="2400">
                <a:latin typeface="Corbel" panose="020B0503020204020204" pitchFamily="34" charset="0"/>
              </a:endParaRPr>
            </a:p>
          </p:txBody>
        </p:sp>
        <p:sp>
          <p:nvSpPr>
            <p:cNvPr id="41041" name="Rectangle 24"/>
            <p:cNvSpPr>
              <a:spLocks noChangeArrowheads="1"/>
            </p:cNvSpPr>
            <p:nvPr/>
          </p:nvSpPr>
          <p:spPr bwMode="auto">
            <a:xfrm>
              <a:off x="881063" y="2628900"/>
              <a:ext cx="16986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tag</a:t>
              </a:r>
              <a:endParaRPr lang="en-CA" altLang="en-US" sz="2400">
                <a:latin typeface="Corbel" panose="020B0503020204020204" pitchFamily="34" charset="0"/>
              </a:endParaRPr>
            </a:p>
          </p:txBody>
        </p:sp>
        <p:sp>
          <p:nvSpPr>
            <p:cNvPr id="41042" name="Rectangle 25"/>
            <p:cNvSpPr>
              <a:spLocks noChangeArrowheads="1"/>
            </p:cNvSpPr>
            <p:nvPr/>
          </p:nvSpPr>
          <p:spPr bwMode="auto">
            <a:xfrm>
              <a:off x="881063" y="3656012"/>
              <a:ext cx="16986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tag</a:t>
              </a:r>
              <a:endParaRPr lang="en-CA" altLang="en-US" sz="2400">
                <a:latin typeface="Corbel" panose="020B0503020204020204" pitchFamily="34" charset="0"/>
              </a:endParaRPr>
            </a:p>
          </p:txBody>
        </p:sp>
        <p:sp>
          <p:nvSpPr>
            <p:cNvPr id="41043" name="Rectangle 26"/>
            <p:cNvSpPr>
              <a:spLocks noChangeArrowheads="1"/>
            </p:cNvSpPr>
            <p:nvPr/>
          </p:nvSpPr>
          <p:spPr bwMode="auto">
            <a:xfrm>
              <a:off x="1576388" y="2054225"/>
              <a:ext cx="34925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Cache</a:t>
              </a:r>
              <a:endParaRPr lang="en-CA" altLang="en-US" sz="2400">
                <a:latin typeface="Corbel" panose="020B0503020204020204" pitchFamily="34" charset="0"/>
              </a:endParaRPr>
            </a:p>
          </p:txBody>
        </p:sp>
        <p:sp>
          <p:nvSpPr>
            <p:cNvPr id="41044" name="Rectangle 58"/>
            <p:cNvSpPr>
              <a:spLocks noChangeArrowheads="1"/>
            </p:cNvSpPr>
            <p:nvPr/>
          </p:nvSpPr>
          <p:spPr bwMode="auto">
            <a:xfrm>
              <a:off x="1319213" y="2735262"/>
              <a:ext cx="846137" cy="16510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1045" name="Rectangle 56"/>
            <p:cNvSpPr>
              <a:spLocks noChangeArrowheads="1"/>
            </p:cNvSpPr>
            <p:nvPr/>
          </p:nvSpPr>
          <p:spPr bwMode="auto">
            <a:xfrm>
              <a:off x="1319213" y="2387600"/>
              <a:ext cx="846137" cy="16510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1046" name="Rectangle 60"/>
            <p:cNvSpPr>
              <a:spLocks noChangeArrowheads="1"/>
            </p:cNvSpPr>
            <p:nvPr/>
          </p:nvSpPr>
          <p:spPr bwMode="auto">
            <a:xfrm>
              <a:off x="1319213" y="3762375"/>
              <a:ext cx="846137" cy="166687"/>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1047" name="Rectangle 61"/>
            <p:cNvSpPr>
              <a:spLocks noChangeArrowheads="1"/>
            </p:cNvSpPr>
            <p:nvPr/>
          </p:nvSpPr>
          <p:spPr bwMode="auto">
            <a:xfrm>
              <a:off x="1319213" y="3762375"/>
              <a:ext cx="846137" cy="166687"/>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1048" name="Rectangle 59"/>
            <p:cNvSpPr>
              <a:spLocks noChangeArrowheads="1"/>
            </p:cNvSpPr>
            <p:nvPr/>
          </p:nvSpPr>
          <p:spPr bwMode="auto">
            <a:xfrm>
              <a:off x="1319213" y="2735262"/>
              <a:ext cx="846137" cy="165100"/>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1049" name="Rectangle 62"/>
            <p:cNvSpPr>
              <a:spLocks noChangeArrowheads="1"/>
            </p:cNvSpPr>
            <p:nvPr/>
          </p:nvSpPr>
          <p:spPr bwMode="auto">
            <a:xfrm>
              <a:off x="1531938" y="2386012"/>
              <a:ext cx="43815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Block 0</a:t>
              </a:r>
              <a:endParaRPr lang="en-CA" altLang="en-US" sz="2400">
                <a:latin typeface="Corbel" panose="020B0503020204020204" pitchFamily="34" charset="0"/>
              </a:endParaRPr>
            </a:p>
          </p:txBody>
        </p:sp>
        <p:sp>
          <p:nvSpPr>
            <p:cNvPr id="41050" name="Rectangle 63"/>
            <p:cNvSpPr>
              <a:spLocks noChangeArrowheads="1"/>
            </p:cNvSpPr>
            <p:nvPr/>
          </p:nvSpPr>
          <p:spPr bwMode="auto">
            <a:xfrm>
              <a:off x="1531938" y="2719387"/>
              <a:ext cx="43815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Block 1</a:t>
              </a:r>
              <a:endParaRPr lang="en-CA" altLang="en-US" sz="2400">
                <a:latin typeface="Corbel" panose="020B0503020204020204" pitchFamily="34" charset="0"/>
              </a:endParaRPr>
            </a:p>
          </p:txBody>
        </p:sp>
        <p:sp>
          <p:nvSpPr>
            <p:cNvPr id="41051" name="Rectangle 64"/>
            <p:cNvSpPr>
              <a:spLocks noChangeArrowheads="1"/>
            </p:cNvSpPr>
            <p:nvPr/>
          </p:nvSpPr>
          <p:spPr bwMode="auto">
            <a:xfrm>
              <a:off x="1455738" y="3746500"/>
              <a:ext cx="57785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100">
                  <a:solidFill>
                    <a:srgbClr val="000000"/>
                  </a:solidFill>
                  <a:latin typeface="Nimbus Roman No9 L"/>
                </a:rPr>
                <a:t>Block 127</a:t>
              </a:r>
              <a:endParaRPr lang="en-CA" altLang="en-US" sz="2400">
                <a:latin typeface="Corbel" panose="020B0503020204020204" pitchFamily="34" charset="0"/>
              </a:endParaRPr>
            </a:p>
          </p:txBody>
        </p:sp>
        <p:sp>
          <p:nvSpPr>
            <p:cNvPr id="41052" name="Line 90"/>
            <p:cNvSpPr>
              <a:spLocks noChangeShapeType="1"/>
            </p:cNvSpPr>
            <p:nvPr/>
          </p:nvSpPr>
          <p:spPr bwMode="auto">
            <a:xfrm flipV="1">
              <a:off x="1228725" y="2990850"/>
              <a:ext cx="1588" cy="2873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53" name="Line 91"/>
            <p:cNvSpPr>
              <a:spLocks noChangeShapeType="1"/>
            </p:cNvSpPr>
            <p:nvPr/>
          </p:nvSpPr>
          <p:spPr bwMode="auto">
            <a:xfrm flipV="1">
              <a:off x="1228725" y="3368675"/>
              <a:ext cx="1588" cy="30321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54" name="Line 92"/>
            <p:cNvSpPr>
              <a:spLocks noChangeShapeType="1"/>
            </p:cNvSpPr>
            <p:nvPr/>
          </p:nvSpPr>
          <p:spPr bwMode="auto">
            <a:xfrm flipV="1">
              <a:off x="2255838" y="2990850"/>
              <a:ext cx="1587" cy="2873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55" name="Line 93"/>
            <p:cNvSpPr>
              <a:spLocks noChangeShapeType="1"/>
            </p:cNvSpPr>
            <p:nvPr/>
          </p:nvSpPr>
          <p:spPr bwMode="auto">
            <a:xfrm flipV="1">
              <a:off x="2255838" y="3368675"/>
              <a:ext cx="1587" cy="30321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56" name="Line 94"/>
            <p:cNvSpPr>
              <a:spLocks noChangeShapeType="1"/>
            </p:cNvSpPr>
            <p:nvPr/>
          </p:nvSpPr>
          <p:spPr bwMode="auto">
            <a:xfrm flipH="1">
              <a:off x="1184275" y="3263900"/>
              <a:ext cx="90488"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57" name="Line 95"/>
            <p:cNvSpPr>
              <a:spLocks noChangeShapeType="1"/>
            </p:cNvSpPr>
            <p:nvPr/>
          </p:nvSpPr>
          <p:spPr bwMode="auto">
            <a:xfrm flipH="1">
              <a:off x="1184275" y="3338512"/>
              <a:ext cx="90488" cy="460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58" name="Line 96"/>
            <p:cNvSpPr>
              <a:spLocks noChangeShapeType="1"/>
            </p:cNvSpPr>
            <p:nvPr/>
          </p:nvSpPr>
          <p:spPr bwMode="auto">
            <a:xfrm flipH="1">
              <a:off x="2211388" y="3263900"/>
              <a:ext cx="90487"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59" name="Line 97"/>
            <p:cNvSpPr>
              <a:spLocks noChangeShapeType="1"/>
            </p:cNvSpPr>
            <p:nvPr/>
          </p:nvSpPr>
          <p:spPr bwMode="auto">
            <a:xfrm flipH="1">
              <a:off x="2211388" y="3338512"/>
              <a:ext cx="90487" cy="460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60" name="Rectangle 117"/>
            <p:cNvSpPr>
              <a:spLocks noChangeArrowheads="1"/>
            </p:cNvSpPr>
            <p:nvPr/>
          </p:nvSpPr>
          <p:spPr bwMode="auto">
            <a:xfrm>
              <a:off x="1228725" y="2644775"/>
              <a:ext cx="1027113" cy="346075"/>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sp>
          <p:nvSpPr>
            <p:cNvPr id="41061" name="Rectangle 57"/>
            <p:cNvSpPr>
              <a:spLocks noChangeArrowheads="1"/>
            </p:cNvSpPr>
            <p:nvPr/>
          </p:nvSpPr>
          <p:spPr bwMode="auto">
            <a:xfrm>
              <a:off x="1319213" y="2387600"/>
              <a:ext cx="846137" cy="165100"/>
            </a:xfrm>
            <a:prstGeom prst="rect">
              <a:avLst/>
            </a:prstGeom>
            <a:noFill/>
            <a:ln w="158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orbel" panose="020B0503020204020204" pitchFamily="34" charset="0"/>
              </a:endParaRPr>
            </a:p>
          </p:txBody>
        </p:sp>
      </p:grpSp>
    </p:spTree>
    <p:extLst>
      <p:ext uri="{BB962C8B-B14F-4D97-AF65-F5344CB8AC3E}">
        <p14:creationId xmlns:p14="http://schemas.microsoft.com/office/powerpoint/2010/main" val="29876614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839200" cy="1265238"/>
          </a:xfrm>
        </p:spPr>
        <p:txBody>
          <a:bodyPr>
            <a:noAutofit/>
          </a:bodyPr>
          <a:lstStyle/>
          <a:p>
            <a:pPr algn="just" fontAlgn="base"/>
            <a:r>
              <a:rPr lang="en-US" sz="2800" b="1" dirty="0"/>
              <a:t>1.Consider a fully associative mapped cache of size 16 KB with block size 256 bytes. The size of main memory is 128 KB. Find the number of bits in tag, Tag directory size.</a:t>
            </a:r>
          </a:p>
        </p:txBody>
      </p:sp>
      <p:sp>
        <p:nvSpPr>
          <p:cNvPr id="3" name="Content Placeholder 2"/>
          <p:cNvSpPr>
            <a:spLocks noGrp="1"/>
          </p:cNvSpPr>
          <p:nvPr>
            <p:ph sz="quarter" idx="1"/>
          </p:nvPr>
        </p:nvSpPr>
        <p:spPr>
          <a:xfrm>
            <a:off x="76200" y="1600200"/>
            <a:ext cx="8915400" cy="5105400"/>
          </a:xfrm>
        </p:spPr>
        <p:txBody>
          <a:bodyPr/>
          <a:lstStyle/>
          <a:p>
            <a:pPr fontAlgn="base"/>
            <a:r>
              <a:rPr lang="en-US"/>
              <a:t>Cache memory size = 16 KB</a:t>
            </a:r>
          </a:p>
          <a:p>
            <a:pPr fontAlgn="base"/>
            <a:r>
              <a:rPr lang="en-US"/>
              <a:t>Block size = Frame size = Line size = 256 bytes</a:t>
            </a:r>
          </a:p>
          <a:p>
            <a:pPr fontAlgn="base"/>
            <a:r>
              <a:rPr lang="en-US"/>
              <a:t>Main memory size = 128 KB</a:t>
            </a:r>
          </a:p>
          <a:p>
            <a:pPr fontAlgn="base"/>
            <a:r>
              <a:rPr lang="en-US"/>
              <a:t>Size of main memory= 128 KB = 2</a:t>
            </a:r>
            <a:r>
              <a:rPr lang="en-US" baseline="30000"/>
              <a:t>17</a:t>
            </a:r>
            <a:r>
              <a:rPr lang="en-US"/>
              <a:t> bytes</a:t>
            </a:r>
          </a:p>
          <a:p>
            <a:pPr fontAlgn="base"/>
            <a:r>
              <a:rPr lang="en-US"/>
              <a:t>Number of bits in physical address = 17 bits</a:t>
            </a:r>
          </a:p>
        </p:txBody>
      </p:sp>
    </p:spTree>
    <p:extLst>
      <p:ext uri="{BB962C8B-B14F-4D97-AF65-F5344CB8AC3E}">
        <p14:creationId xmlns:p14="http://schemas.microsoft.com/office/powerpoint/2010/main" val="6429708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839200" cy="457200"/>
          </a:xfrm>
        </p:spPr>
        <p:txBody>
          <a:bodyPr>
            <a:noAutofit/>
          </a:bodyPr>
          <a:lstStyle/>
          <a:p>
            <a:pPr fontAlgn="base"/>
            <a:r>
              <a:rPr lang="en-US" sz="2800" b="1" u="sng"/>
              <a:t>Number of Bits in Block Offset</a:t>
            </a:r>
            <a:endParaRPr lang="en-US" sz="2800" b="1"/>
          </a:p>
        </p:txBody>
      </p:sp>
      <p:sp>
        <p:nvSpPr>
          <p:cNvPr id="3" name="Content Placeholder 2"/>
          <p:cNvSpPr>
            <a:spLocks noGrp="1"/>
          </p:cNvSpPr>
          <p:nvPr>
            <p:ph sz="quarter" idx="1"/>
          </p:nvPr>
        </p:nvSpPr>
        <p:spPr>
          <a:xfrm>
            <a:off x="76200" y="762000"/>
            <a:ext cx="8915400" cy="5943600"/>
          </a:xfrm>
        </p:spPr>
        <p:txBody>
          <a:bodyPr/>
          <a:lstStyle/>
          <a:p>
            <a:pPr fontAlgn="base"/>
            <a:r>
              <a:rPr lang="en-US"/>
              <a:t>Block size = 256 bytes = 2</a:t>
            </a:r>
            <a:r>
              <a:rPr lang="en-US" baseline="30000"/>
              <a:t>8</a:t>
            </a:r>
            <a:r>
              <a:rPr lang="en-US"/>
              <a:t> bytes</a:t>
            </a:r>
          </a:p>
          <a:p>
            <a:pPr fontAlgn="base"/>
            <a:r>
              <a:rPr lang="en-US"/>
              <a:t>Number of bits in block offset = 8 bits</a:t>
            </a:r>
          </a:p>
          <a:p>
            <a:pPr fontAlgn="base"/>
            <a:endParaRPr lang="en-US"/>
          </a:p>
          <a:p>
            <a:pPr fontAlgn="base"/>
            <a:endParaRPr lang="en-US"/>
          </a:p>
          <a:p>
            <a:pPr fontAlgn="base"/>
            <a:endParaRPr lang="en-US"/>
          </a:p>
          <a:p>
            <a:pPr fontAlgn="base"/>
            <a:r>
              <a:rPr lang="en-US" b="1" u="sng"/>
              <a:t>Number of Bits in Tag</a:t>
            </a:r>
            <a:endParaRPr lang="en-US" b="1"/>
          </a:p>
          <a:p>
            <a:pPr fontAlgn="base"/>
            <a:endParaRPr lang="en-US"/>
          </a:p>
          <a:p>
            <a:pPr fontAlgn="base"/>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950244"/>
            <a:ext cx="6477001" cy="1595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343400"/>
            <a:ext cx="6127972"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56173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a:t>Number of Lines in Cache</a:t>
            </a:r>
            <a:endParaRPr lang="en-US"/>
          </a:p>
        </p:txBody>
      </p:sp>
      <p:sp>
        <p:nvSpPr>
          <p:cNvPr id="3" name="Content Placeholder 2"/>
          <p:cNvSpPr>
            <a:spLocks noGrp="1"/>
          </p:cNvSpPr>
          <p:nvPr>
            <p:ph sz="quarter" idx="1"/>
          </p:nvPr>
        </p:nvSpPr>
        <p:spPr>
          <a:xfrm>
            <a:off x="76200" y="1600200"/>
            <a:ext cx="8991600" cy="4525963"/>
          </a:xfrm>
        </p:spPr>
        <p:txBody>
          <a:bodyPr>
            <a:normAutofit/>
          </a:bodyPr>
          <a:lstStyle/>
          <a:p>
            <a:pPr fontAlgn="base"/>
            <a:r>
              <a:rPr lang="en-US" sz="2800"/>
              <a:t>Total number of lines in cache = Cache size/Line size</a:t>
            </a:r>
          </a:p>
          <a:p>
            <a:pPr fontAlgn="base"/>
            <a:r>
              <a:rPr lang="en-US"/>
              <a:t>= 16 KB / 256 bytes = 2</a:t>
            </a:r>
            <a:r>
              <a:rPr lang="en-US" baseline="30000"/>
              <a:t>14</a:t>
            </a:r>
            <a:r>
              <a:rPr lang="en-US"/>
              <a:t> bytes / 2</a:t>
            </a:r>
            <a:r>
              <a:rPr lang="en-US" baseline="30000"/>
              <a:t>8</a:t>
            </a:r>
            <a:r>
              <a:rPr lang="en-US"/>
              <a:t> bytes = 2</a:t>
            </a:r>
            <a:r>
              <a:rPr lang="en-US" baseline="30000"/>
              <a:t>6</a:t>
            </a:r>
            <a:r>
              <a:rPr lang="en-US"/>
              <a:t> lines</a:t>
            </a:r>
          </a:p>
          <a:p>
            <a:pPr fontAlgn="base"/>
            <a:r>
              <a:rPr lang="en-US" b="1" u="sng"/>
              <a:t>Tag Directory Size </a:t>
            </a:r>
            <a:r>
              <a:rPr lang="en-US"/>
              <a:t>= Number of tags x Tag size</a:t>
            </a:r>
          </a:p>
          <a:p>
            <a:pPr fontAlgn="base"/>
            <a:r>
              <a:rPr lang="en-US"/>
              <a:t>= Number of lines in cache x Number of bits in tag</a:t>
            </a:r>
          </a:p>
          <a:p>
            <a:pPr fontAlgn="base"/>
            <a:r>
              <a:rPr lang="en-US"/>
              <a:t>= 2</a:t>
            </a:r>
            <a:r>
              <a:rPr lang="en-US" baseline="30000"/>
              <a:t>6</a:t>
            </a:r>
            <a:r>
              <a:rPr lang="en-US"/>
              <a:t> x 9 bits = 576 bits = 72 bytes</a:t>
            </a:r>
          </a:p>
          <a:p>
            <a:pPr fontAlgn="base"/>
            <a:r>
              <a:rPr lang="en-US"/>
              <a:t>Size of tag directory = 72 bytes</a:t>
            </a:r>
          </a:p>
          <a:p>
            <a:pPr fontAlgn="base"/>
            <a:endParaRPr lang="en-US"/>
          </a:p>
          <a:p>
            <a:endParaRPr lang="en-US"/>
          </a:p>
        </p:txBody>
      </p:sp>
    </p:spTree>
    <p:extLst>
      <p:ext uri="{BB962C8B-B14F-4D97-AF65-F5344CB8AC3E}">
        <p14:creationId xmlns:p14="http://schemas.microsoft.com/office/powerpoint/2010/main" val="14876715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just" fontAlgn="base"/>
            <a:r>
              <a:rPr lang="en-US" sz="2400" b="1" dirty="0"/>
              <a:t>2.Consider a fully associative mapped cache of size 512 KB with block size 1 KB. There are 17 bits in the tag. Find the size of main memory, Tag directory size</a:t>
            </a:r>
          </a:p>
        </p:txBody>
      </p:sp>
      <p:sp>
        <p:nvSpPr>
          <p:cNvPr id="3" name="Content Placeholder 2"/>
          <p:cNvSpPr>
            <a:spLocks noGrp="1"/>
          </p:cNvSpPr>
          <p:nvPr>
            <p:ph sz="quarter" idx="1"/>
          </p:nvPr>
        </p:nvSpPr>
        <p:spPr>
          <a:xfrm>
            <a:off x="457200" y="1828800"/>
            <a:ext cx="8229600" cy="4297363"/>
          </a:xfrm>
        </p:spPr>
        <p:txBody>
          <a:bodyPr/>
          <a:lstStyle/>
          <a:p>
            <a:pPr fontAlgn="base"/>
            <a:r>
              <a:rPr lang="en-US" dirty="0"/>
              <a:t>Cache memory size = 512 KB</a:t>
            </a:r>
          </a:p>
          <a:p>
            <a:pPr fontAlgn="base"/>
            <a:r>
              <a:rPr lang="en-US" dirty="0"/>
              <a:t>Block size = Frame size = Line size = 1 KB</a:t>
            </a:r>
          </a:p>
          <a:p>
            <a:pPr fontAlgn="base"/>
            <a:r>
              <a:rPr lang="en-US" dirty="0"/>
              <a:t>Number of bits in tag = 17 bits</a:t>
            </a:r>
          </a:p>
          <a:p>
            <a:endParaRPr lang="en-US" dirty="0"/>
          </a:p>
        </p:txBody>
      </p:sp>
    </p:spTree>
    <p:extLst>
      <p:ext uri="{BB962C8B-B14F-4D97-AF65-F5344CB8AC3E}">
        <p14:creationId xmlns:p14="http://schemas.microsoft.com/office/powerpoint/2010/main" val="36591568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just" fontAlgn="base"/>
            <a:br>
              <a:rPr lang="en-US" sz="2800" b="1" dirty="0"/>
            </a:br>
            <a:br>
              <a:rPr lang="en-US" sz="2800" b="1" dirty="0"/>
            </a:br>
            <a:br>
              <a:rPr lang="en-US" sz="2800" b="1" dirty="0"/>
            </a:br>
            <a:br>
              <a:rPr lang="en-US" sz="2800" b="1" dirty="0"/>
            </a:br>
            <a:br>
              <a:rPr lang="en-US" sz="2800" b="1" dirty="0"/>
            </a:br>
            <a:br>
              <a:rPr lang="en-US" sz="2800" b="1" dirty="0"/>
            </a:br>
            <a:br>
              <a:rPr lang="en-US" sz="2800" b="1" dirty="0"/>
            </a:br>
            <a:br>
              <a:rPr lang="en-US" sz="2800" b="1" dirty="0"/>
            </a:br>
            <a:br>
              <a:rPr lang="en-US" sz="2800" b="1" dirty="0"/>
            </a:br>
            <a:br>
              <a:rPr lang="en-US" sz="2800" b="1" dirty="0"/>
            </a:br>
            <a:br>
              <a:rPr lang="en-US" sz="2800" b="1" dirty="0"/>
            </a:br>
            <a:br>
              <a:rPr lang="en-US" sz="2800" b="1" dirty="0"/>
            </a:br>
            <a:br>
              <a:rPr lang="en-US" sz="2800" b="1" dirty="0"/>
            </a:br>
            <a:br>
              <a:rPr lang="en-US" sz="2800" b="1" dirty="0"/>
            </a:br>
            <a:br>
              <a:rPr lang="en-US" sz="2800" b="1" dirty="0"/>
            </a:br>
            <a:br>
              <a:rPr lang="en-US" sz="2800" b="1" dirty="0"/>
            </a:br>
            <a:br>
              <a:rPr lang="en-US" sz="2800" b="1" dirty="0"/>
            </a:br>
            <a:br>
              <a:rPr lang="en-US" sz="2800" b="1" dirty="0"/>
            </a:br>
            <a:r>
              <a:rPr lang="en-US" sz="2400" b="1" dirty="0"/>
              <a:t>Consider a fully associative mapped cache of size 512 KB with block size 1 KB. There are 17 bits in the tag. Find the size of main memory, Tag directory size</a:t>
            </a:r>
          </a:p>
        </p:txBody>
      </p:sp>
      <p:sp>
        <p:nvSpPr>
          <p:cNvPr id="3" name="Content Placeholder 2"/>
          <p:cNvSpPr>
            <a:spLocks noGrp="1"/>
          </p:cNvSpPr>
          <p:nvPr>
            <p:ph sz="quarter" idx="1"/>
          </p:nvPr>
        </p:nvSpPr>
        <p:spPr>
          <a:xfrm>
            <a:off x="457200" y="1828800"/>
            <a:ext cx="8610600" cy="4876800"/>
          </a:xfrm>
        </p:spPr>
        <p:txBody>
          <a:bodyPr>
            <a:normAutofit/>
          </a:bodyPr>
          <a:lstStyle/>
          <a:p>
            <a:pPr fontAlgn="base"/>
            <a:r>
              <a:rPr lang="en-US" dirty="0"/>
              <a:t>Cache memory size = 512 KB</a:t>
            </a:r>
          </a:p>
          <a:p>
            <a:pPr fontAlgn="base"/>
            <a:r>
              <a:rPr lang="en-US" dirty="0"/>
              <a:t>Block size = Frame size = Line size = 1 KB</a:t>
            </a:r>
          </a:p>
          <a:p>
            <a:pPr fontAlgn="base"/>
            <a:r>
              <a:rPr lang="en-US" dirty="0"/>
              <a:t>Number of bits in tag = 17 bits</a:t>
            </a:r>
          </a:p>
          <a:p>
            <a:r>
              <a:rPr lang="en-US" b="1" u="sng" dirty="0"/>
              <a:t>Number of Bits in Block Offset</a:t>
            </a:r>
          </a:p>
          <a:p>
            <a:pPr fontAlgn="base"/>
            <a:r>
              <a:rPr lang="en-US" dirty="0"/>
              <a:t>Block size = 1 KB = 2</a:t>
            </a:r>
            <a:r>
              <a:rPr lang="en-US" baseline="30000" dirty="0"/>
              <a:t>10</a:t>
            </a:r>
            <a:r>
              <a:rPr lang="en-US" dirty="0"/>
              <a:t> bytes</a:t>
            </a:r>
          </a:p>
          <a:p>
            <a:pPr fontAlgn="base"/>
            <a:r>
              <a:rPr lang="en-US" dirty="0"/>
              <a:t>Thus, Number of bits in block offset = 10 bits</a:t>
            </a:r>
          </a:p>
          <a:p>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1" y="5486400"/>
            <a:ext cx="721196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58271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76200" y="152400"/>
            <a:ext cx="8991600" cy="6553200"/>
          </a:xfrm>
        </p:spPr>
        <p:txBody>
          <a:bodyPr/>
          <a:lstStyle/>
          <a:p>
            <a:pPr fontAlgn="base"/>
            <a:r>
              <a:rPr lang="en-US" b="1" u="sng"/>
              <a:t>Number of Bits in Physical Address</a:t>
            </a:r>
          </a:p>
          <a:p>
            <a:pPr marL="0" indent="0" fontAlgn="base">
              <a:buNone/>
            </a:pPr>
            <a:r>
              <a:rPr lang="en-US"/>
              <a:t>Number of bits in physical address = Number of bits in tag + Number of bits in block offset</a:t>
            </a:r>
          </a:p>
          <a:p>
            <a:pPr fontAlgn="base"/>
            <a:r>
              <a:rPr lang="en-US"/>
              <a:t>= 17 bits + 10 bits = </a:t>
            </a:r>
            <a:r>
              <a:rPr lang="en-US" b="1"/>
              <a:t>27 bits</a:t>
            </a:r>
          </a:p>
          <a:p>
            <a:pPr fontAlgn="base"/>
            <a:endParaRPr lang="en-US" b="1"/>
          </a:p>
          <a:p>
            <a:pPr fontAlgn="base"/>
            <a:r>
              <a:rPr lang="en-US" b="1" u="sng"/>
              <a:t>Size of Main Memory= </a:t>
            </a:r>
            <a:r>
              <a:rPr lang="en-US"/>
              <a:t>Number of bits in physical address = 27 bits</a:t>
            </a:r>
          </a:p>
          <a:p>
            <a:pPr fontAlgn="base"/>
            <a:r>
              <a:rPr lang="en-US"/>
              <a:t>Size of main memory = 2</a:t>
            </a:r>
            <a:r>
              <a:rPr lang="en-US" baseline="30000"/>
              <a:t>27</a:t>
            </a:r>
            <a:r>
              <a:rPr lang="en-US"/>
              <a:t> bytes = 128 MB</a:t>
            </a:r>
          </a:p>
          <a:p>
            <a:pPr fontAlgn="base"/>
            <a:endParaRPr lang="en-US" b="1"/>
          </a:p>
          <a:p>
            <a:pPr fontAlgn="base"/>
            <a:endParaRPr lang="en-US" b="1"/>
          </a:p>
          <a:p>
            <a:pPr fontAlgn="base"/>
            <a:endParaRPr lang="en-US" b="1"/>
          </a:p>
          <a:p>
            <a:endParaRPr lang="en-US"/>
          </a:p>
        </p:txBody>
      </p:sp>
    </p:spTree>
    <p:extLst>
      <p:ext uri="{BB962C8B-B14F-4D97-AF65-F5344CB8AC3E}">
        <p14:creationId xmlns:p14="http://schemas.microsoft.com/office/powerpoint/2010/main" val="14663981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76200"/>
            <a:ext cx="9144000" cy="6049963"/>
          </a:xfrm>
        </p:spPr>
        <p:txBody>
          <a:bodyPr>
            <a:normAutofit/>
          </a:bodyPr>
          <a:lstStyle/>
          <a:p>
            <a:pPr fontAlgn="base"/>
            <a:r>
              <a:rPr lang="en-US" b="1" u="sng"/>
              <a:t>Number of Lines in Cache-</a:t>
            </a:r>
            <a:endParaRPr lang="en-US" b="1"/>
          </a:p>
          <a:p>
            <a:pPr marL="0" indent="0" fontAlgn="base">
              <a:buNone/>
            </a:pPr>
            <a:r>
              <a:rPr lang="en-US"/>
              <a:t>Total number of lines in cache = Cache size / Line size</a:t>
            </a:r>
          </a:p>
          <a:p>
            <a:pPr fontAlgn="base"/>
            <a:r>
              <a:rPr lang="en-US"/>
              <a:t>= 512 KB / 1 KB = 512 lines = 2</a:t>
            </a:r>
            <a:r>
              <a:rPr lang="en-US" baseline="30000"/>
              <a:t>9</a:t>
            </a:r>
            <a:r>
              <a:rPr lang="en-US"/>
              <a:t> lines</a:t>
            </a:r>
          </a:p>
          <a:p>
            <a:pPr fontAlgn="base"/>
            <a:endParaRPr lang="en-US"/>
          </a:p>
          <a:p>
            <a:pPr fontAlgn="base"/>
            <a:r>
              <a:rPr lang="en-US" b="1" u="sng"/>
              <a:t>Tag Directory Size-</a:t>
            </a:r>
            <a:endParaRPr lang="en-US" b="1"/>
          </a:p>
          <a:p>
            <a:pPr fontAlgn="base"/>
            <a:r>
              <a:rPr lang="en-US"/>
              <a:t>= Number of tags x Tag size</a:t>
            </a:r>
          </a:p>
          <a:p>
            <a:pPr fontAlgn="base"/>
            <a:r>
              <a:rPr lang="en-US"/>
              <a:t>= Number of lines in cache x Number of bits in tag</a:t>
            </a:r>
          </a:p>
          <a:p>
            <a:pPr fontAlgn="base"/>
            <a:r>
              <a:rPr lang="en-US"/>
              <a:t>= 2</a:t>
            </a:r>
            <a:r>
              <a:rPr lang="en-US" baseline="30000"/>
              <a:t>9</a:t>
            </a:r>
            <a:r>
              <a:rPr lang="en-US"/>
              <a:t> x 17 bits = 8704 bits = 1088 bytes</a:t>
            </a:r>
          </a:p>
          <a:p>
            <a:pPr fontAlgn="base"/>
            <a:r>
              <a:rPr lang="en-US"/>
              <a:t>Thus, size of tag directory = 1088 bytes</a:t>
            </a:r>
          </a:p>
          <a:p>
            <a:pPr fontAlgn="base"/>
            <a:endParaRPr lang="en-US"/>
          </a:p>
          <a:p>
            <a:endParaRPr lang="en-US"/>
          </a:p>
        </p:txBody>
      </p:sp>
    </p:spTree>
    <p:extLst>
      <p:ext uri="{BB962C8B-B14F-4D97-AF65-F5344CB8AC3E}">
        <p14:creationId xmlns:p14="http://schemas.microsoft.com/office/powerpoint/2010/main" val="11540306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Replacement Algorithms</a:t>
            </a:r>
          </a:p>
        </p:txBody>
      </p:sp>
      <p:sp>
        <p:nvSpPr>
          <p:cNvPr id="3" name="TextBox 2"/>
          <p:cNvSpPr txBox="1"/>
          <p:nvPr/>
        </p:nvSpPr>
        <p:spPr>
          <a:xfrm>
            <a:off x="457200" y="1272209"/>
            <a:ext cx="8458200" cy="6186309"/>
          </a:xfrm>
          <a:prstGeom prst="rect">
            <a:avLst/>
          </a:prstGeom>
          <a:noFill/>
        </p:spPr>
        <p:txBody>
          <a:bodyPr wrap="square" rtlCol="0">
            <a:spAutoFit/>
          </a:bodyPr>
          <a:lstStyle/>
          <a:p>
            <a:pPr>
              <a:buFont typeface="Arial" pitchFamily="34" charset="0"/>
              <a:buChar char="•"/>
              <a:tabLst>
                <a:tab pos="3094038" algn="l"/>
              </a:tabLst>
            </a:pPr>
            <a:r>
              <a:rPr lang="en-US" sz="2400" dirty="0"/>
              <a:t> For direct mapping where there is only one possible line for a block of memory, no replacement algorithm is needed. </a:t>
            </a:r>
          </a:p>
          <a:p>
            <a:pPr>
              <a:buFont typeface="Arial" pitchFamily="34" charset="0"/>
              <a:buChar char="•"/>
              <a:tabLst>
                <a:tab pos="3094038" algn="l"/>
              </a:tabLst>
            </a:pPr>
            <a:r>
              <a:rPr lang="en-US" sz="2400" dirty="0"/>
              <a:t> For associative and set associative mapping, however, an algorithm is needed.</a:t>
            </a:r>
          </a:p>
          <a:p>
            <a:pPr>
              <a:buFont typeface="Arial" pitchFamily="34" charset="0"/>
              <a:buChar char="•"/>
              <a:tabLst>
                <a:tab pos="3094038" algn="l"/>
              </a:tabLst>
            </a:pPr>
            <a:r>
              <a:rPr lang="en-US" sz="2400" dirty="0"/>
              <a:t>For maximum speed, this algorithm is implemented in the hardware. Four of the most common algorithms are:</a:t>
            </a:r>
          </a:p>
          <a:p>
            <a:pPr marL="342900" indent="-342900" algn="just">
              <a:buFont typeface="+mj-lt"/>
              <a:buAutoNum type="arabicPeriod"/>
            </a:pPr>
            <a:r>
              <a:rPr lang="en-US" sz="2400" dirty="0">
                <a:solidFill>
                  <a:srgbClr val="C00000"/>
                </a:solidFill>
              </a:rPr>
              <a:t>Least Recently Used:- </a:t>
            </a:r>
            <a:r>
              <a:rPr lang="en-US" sz="2400" dirty="0"/>
              <a:t>This replaces the candidate line in cache memory that has been there the longest with no reference to it.</a:t>
            </a:r>
          </a:p>
          <a:p>
            <a:pPr marL="342900" indent="-342900" algn="just">
              <a:buFont typeface="+mj-lt"/>
              <a:buAutoNum type="arabicPeriod"/>
            </a:pPr>
            <a:r>
              <a:rPr lang="en-US" sz="2400" cap="all" dirty="0">
                <a:solidFill>
                  <a:srgbClr val="C00000"/>
                </a:solidFill>
              </a:rPr>
              <a:t>f</a:t>
            </a:r>
            <a:r>
              <a:rPr lang="en-US" sz="2400" dirty="0">
                <a:solidFill>
                  <a:srgbClr val="C00000"/>
                </a:solidFill>
              </a:rPr>
              <a:t>irst In </a:t>
            </a:r>
            <a:r>
              <a:rPr lang="en-US" sz="2400" cap="all" dirty="0">
                <a:solidFill>
                  <a:srgbClr val="C00000"/>
                </a:solidFill>
              </a:rPr>
              <a:t>f</a:t>
            </a:r>
            <a:r>
              <a:rPr lang="en-US" sz="2400" dirty="0">
                <a:solidFill>
                  <a:srgbClr val="C00000"/>
                </a:solidFill>
              </a:rPr>
              <a:t>irst Out:- </a:t>
            </a:r>
            <a:r>
              <a:rPr lang="en-US" sz="2400" dirty="0"/>
              <a:t>This replaces the candidate line in the cache that has been there the longest.</a:t>
            </a:r>
          </a:p>
          <a:p>
            <a:pPr marL="342900" indent="-342900" algn="just">
              <a:buFont typeface="+mj-lt"/>
              <a:buAutoNum type="arabicPeriod"/>
            </a:pPr>
            <a:r>
              <a:rPr lang="en-US" sz="2400" dirty="0">
                <a:solidFill>
                  <a:srgbClr val="C00000"/>
                </a:solidFill>
              </a:rPr>
              <a:t>Least </a:t>
            </a:r>
            <a:r>
              <a:rPr lang="en-US" sz="2400" cap="all" dirty="0">
                <a:solidFill>
                  <a:srgbClr val="C00000"/>
                </a:solidFill>
              </a:rPr>
              <a:t>f</a:t>
            </a:r>
            <a:r>
              <a:rPr lang="en-US" sz="2400" dirty="0">
                <a:solidFill>
                  <a:srgbClr val="C00000"/>
                </a:solidFill>
              </a:rPr>
              <a:t>requently Used:- </a:t>
            </a:r>
            <a:r>
              <a:rPr lang="en-US" sz="2400" dirty="0"/>
              <a:t>This replaces the candidate line in the cache that has had the fewest references.</a:t>
            </a:r>
          </a:p>
          <a:p>
            <a:pPr marL="342900" indent="-342900" algn="just">
              <a:buFont typeface="+mj-lt"/>
              <a:buAutoNum type="arabicPeriod"/>
            </a:pPr>
            <a:r>
              <a:rPr lang="en-US" sz="2400" dirty="0">
                <a:solidFill>
                  <a:srgbClr val="C00000"/>
                </a:solidFill>
              </a:rPr>
              <a:t>Random Replacement:- </a:t>
            </a:r>
            <a:r>
              <a:rPr lang="en-US" sz="2400" dirty="0"/>
              <a:t>This algorithm randomly chooses a line to be replaced from among the candidate lines. This yields only slightly inferior performance than other algorithms.</a:t>
            </a:r>
          </a:p>
          <a:p>
            <a:pPr>
              <a:tabLst>
                <a:tab pos="3094038" algn="l"/>
              </a:tabLst>
            </a:pPr>
            <a:br>
              <a:rPr lang="en-US" dirty="0"/>
            </a:br>
            <a:endParaRPr lang="en-US" dirty="0"/>
          </a:p>
        </p:txBody>
      </p:sp>
    </p:spTree>
    <p:extLst>
      <p:ext uri="{BB962C8B-B14F-4D97-AF65-F5344CB8AC3E}">
        <p14:creationId xmlns:p14="http://schemas.microsoft.com/office/powerpoint/2010/main" val="17134849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0410-71DB-428C-87E3-0E404B9B2687}"/>
              </a:ext>
            </a:extLst>
          </p:cNvPr>
          <p:cNvSpPr>
            <a:spLocks noGrp="1"/>
          </p:cNvSpPr>
          <p:nvPr>
            <p:ph type="title"/>
          </p:nvPr>
        </p:nvSpPr>
        <p:spPr/>
        <p:txBody>
          <a:bodyPr/>
          <a:lstStyle/>
          <a:p>
            <a:r>
              <a:rPr lang="en-IN" dirty="0">
                <a:solidFill>
                  <a:srgbClr val="C00000"/>
                </a:solidFill>
              </a:rPr>
              <a:t>FIFO (First In First Out) </a:t>
            </a:r>
          </a:p>
        </p:txBody>
      </p:sp>
      <p:sp>
        <p:nvSpPr>
          <p:cNvPr id="4" name="TextBox 3">
            <a:extLst>
              <a:ext uri="{FF2B5EF4-FFF2-40B4-BE49-F238E27FC236}">
                <a16:creationId xmlns:a16="http://schemas.microsoft.com/office/drawing/2014/main" id="{E21ECF73-EF9F-44BC-8473-AE897FC492EF}"/>
              </a:ext>
            </a:extLst>
          </p:cNvPr>
          <p:cNvSpPr txBox="1"/>
          <p:nvPr/>
        </p:nvSpPr>
        <p:spPr>
          <a:xfrm>
            <a:off x="685800" y="1705463"/>
            <a:ext cx="8001000" cy="2308324"/>
          </a:xfrm>
          <a:prstGeom prst="rect">
            <a:avLst/>
          </a:prstGeom>
          <a:noFill/>
        </p:spPr>
        <p:txBody>
          <a:bodyPr wrap="square" rtlCol="0">
            <a:spAutoFit/>
          </a:bodyPr>
          <a:lstStyle/>
          <a:p>
            <a:pPr marL="446088" indent="-265113">
              <a:lnSpc>
                <a:spcPct val="150000"/>
              </a:lnSpc>
              <a:buFont typeface="Arial" pitchFamily="34" charset="0"/>
              <a:buChar char="•"/>
              <a:tabLst>
                <a:tab pos="3094038" algn="l"/>
              </a:tabLst>
            </a:pPr>
            <a:r>
              <a:rPr lang="en-US" dirty="0"/>
              <a:t>Pages in main memory are kept in a list</a:t>
            </a:r>
          </a:p>
          <a:p>
            <a:pPr marL="446088" indent="-265113">
              <a:lnSpc>
                <a:spcPct val="150000"/>
              </a:lnSpc>
              <a:buFont typeface="Arial" pitchFamily="34" charset="0"/>
              <a:buChar char="•"/>
              <a:tabLst>
                <a:tab pos="3094038" algn="l"/>
              </a:tabLst>
            </a:pPr>
            <a:r>
              <a:rPr lang="en-US" dirty="0"/>
              <a:t> First in first out is very easy to implement</a:t>
            </a:r>
          </a:p>
          <a:p>
            <a:pPr marL="446088" indent="-265113">
              <a:lnSpc>
                <a:spcPct val="150000"/>
              </a:lnSpc>
              <a:buFont typeface="Arial" pitchFamily="34" charset="0"/>
              <a:buChar char="•"/>
              <a:tabLst>
                <a:tab pos="3094038" algn="l"/>
              </a:tabLst>
            </a:pPr>
            <a:r>
              <a:rPr lang="en-US" dirty="0"/>
              <a:t> The FIFO algorithm select the page for replacement that has been in memory   the longest time</a:t>
            </a:r>
          </a:p>
          <a:p>
            <a:pPr>
              <a:buFont typeface="Arial" pitchFamily="34" charset="0"/>
              <a:buChar char="•"/>
              <a:tabLst>
                <a:tab pos="3094038" algn="l"/>
              </a:tabLst>
            </a:pPr>
            <a:endParaRPr lang="en-US" dirty="0"/>
          </a:p>
          <a:p>
            <a:pPr>
              <a:buFont typeface="Arial" pitchFamily="34" charset="0"/>
              <a:buChar char="•"/>
              <a:tabLst>
                <a:tab pos="3094038" algn="l"/>
              </a:tabLst>
            </a:pPr>
            <a:endParaRPr lang="en-US" dirty="0"/>
          </a:p>
        </p:txBody>
      </p:sp>
      <p:pic>
        <p:nvPicPr>
          <p:cNvPr id="6" name="Picture 5">
            <a:extLst>
              <a:ext uri="{FF2B5EF4-FFF2-40B4-BE49-F238E27FC236}">
                <a16:creationId xmlns:a16="http://schemas.microsoft.com/office/drawing/2014/main" id="{C07F5F4E-939C-488D-B3FF-1FD811BB66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3404" y="3568415"/>
            <a:ext cx="7178040" cy="2933866"/>
          </a:xfrm>
          <a:prstGeom prst="rect">
            <a:avLst/>
          </a:prstGeom>
        </p:spPr>
      </p:pic>
    </p:spTree>
    <p:extLst>
      <p:ext uri="{BB962C8B-B14F-4D97-AF65-F5344CB8AC3E}">
        <p14:creationId xmlns:p14="http://schemas.microsoft.com/office/powerpoint/2010/main" val="33895904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0410-71DB-428C-87E3-0E404B9B2687}"/>
              </a:ext>
            </a:extLst>
          </p:cNvPr>
          <p:cNvSpPr>
            <a:spLocks noGrp="1"/>
          </p:cNvSpPr>
          <p:nvPr>
            <p:ph type="title"/>
          </p:nvPr>
        </p:nvSpPr>
        <p:spPr/>
        <p:txBody>
          <a:bodyPr/>
          <a:lstStyle/>
          <a:p>
            <a:r>
              <a:rPr lang="en-IN" dirty="0">
                <a:solidFill>
                  <a:srgbClr val="C00000"/>
                </a:solidFill>
              </a:rPr>
              <a:t>FIFO (First In First Out) </a:t>
            </a:r>
          </a:p>
        </p:txBody>
      </p:sp>
      <p:sp>
        <p:nvSpPr>
          <p:cNvPr id="4" name="TextBox 3">
            <a:extLst>
              <a:ext uri="{FF2B5EF4-FFF2-40B4-BE49-F238E27FC236}">
                <a16:creationId xmlns:a16="http://schemas.microsoft.com/office/drawing/2014/main" id="{E21ECF73-EF9F-44BC-8473-AE897FC492EF}"/>
              </a:ext>
            </a:extLst>
          </p:cNvPr>
          <p:cNvSpPr txBox="1"/>
          <p:nvPr/>
        </p:nvSpPr>
        <p:spPr>
          <a:xfrm>
            <a:off x="914400" y="2251939"/>
            <a:ext cx="8001000" cy="286232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solidFill>
                  <a:srgbClr val="000000"/>
                </a:solidFill>
                <a:latin typeface="Georgia" panose="02040502050405020303" pitchFamily="18" charset="0"/>
              </a:rPr>
              <a:t>Advantages: </a:t>
            </a:r>
          </a:p>
          <a:p>
            <a:pPr marL="742950" lvl="1" indent="-285750">
              <a:lnSpc>
                <a:spcPct val="150000"/>
              </a:lnSpc>
              <a:buFont typeface="Arial" panose="020B0604020202020204" pitchFamily="34" charset="0"/>
              <a:buChar char="•"/>
            </a:pPr>
            <a:r>
              <a:rPr lang="en-US" dirty="0">
                <a:solidFill>
                  <a:srgbClr val="000000"/>
                </a:solidFill>
                <a:latin typeface="Georgia" panose="02040502050405020303" pitchFamily="18" charset="0"/>
              </a:rPr>
              <a:t>FIFO is easy to understand.</a:t>
            </a:r>
          </a:p>
          <a:p>
            <a:pPr marL="742950" lvl="1" indent="-285750">
              <a:lnSpc>
                <a:spcPct val="150000"/>
              </a:lnSpc>
              <a:buFont typeface="Arial" panose="020B0604020202020204" pitchFamily="34" charset="0"/>
              <a:buChar char="•"/>
            </a:pPr>
            <a:r>
              <a:rPr lang="en-US" dirty="0">
                <a:solidFill>
                  <a:srgbClr val="000000"/>
                </a:solidFill>
                <a:latin typeface="Georgia" panose="02040502050405020303" pitchFamily="18" charset="0"/>
              </a:rPr>
              <a:t>It is very easy to implement</a:t>
            </a:r>
            <a:r>
              <a:rPr lang="en-US" dirty="0">
                <a:solidFill>
                  <a:srgbClr val="438186"/>
                </a:solidFill>
                <a:latin typeface="Georgia" panose="02040502050405020303" pitchFamily="18" charset="0"/>
              </a:rPr>
              <a:t>.</a:t>
            </a:r>
          </a:p>
          <a:p>
            <a:pPr lvl="1">
              <a:lnSpc>
                <a:spcPct val="150000"/>
              </a:lnSpc>
            </a:pPr>
            <a:endParaRPr lang="en-US" dirty="0">
              <a:solidFill>
                <a:srgbClr val="438186"/>
              </a:solidFill>
              <a:latin typeface="Georgia" panose="02040502050405020303" pitchFamily="18" charset="0"/>
            </a:endParaRPr>
          </a:p>
          <a:p>
            <a:pPr marL="285750" indent="-285750">
              <a:lnSpc>
                <a:spcPct val="150000"/>
              </a:lnSpc>
              <a:buFont typeface="Arial" panose="020B0604020202020204" pitchFamily="34" charset="0"/>
              <a:buChar char="•"/>
            </a:pPr>
            <a:r>
              <a:rPr lang="en-US" dirty="0">
                <a:solidFill>
                  <a:srgbClr val="000000"/>
                </a:solidFill>
                <a:latin typeface="Georgia" panose="02040502050405020303" pitchFamily="18" charset="0"/>
              </a:rPr>
              <a:t>Disadvantages: </a:t>
            </a:r>
          </a:p>
          <a:p>
            <a:pPr marL="742950" lvl="1" indent="-285750">
              <a:lnSpc>
                <a:spcPct val="150000"/>
              </a:lnSpc>
              <a:buFont typeface="Arial" panose="020B0604020202020204" pitchFamily="34" charset="0"/>
              <a:buChar char="•"/>
            </a:pPr>
            <a:r>
              <a:rPr lang="en-US" dirty="0">
                <a:solidFill>
                  <a:srgbClr val="000000"/>
                </a:solidFill>
                <a:latin typeface="Georgia" panose="02040502050405020303" pitchFamily="18" charset="0"/>
              </a:rPr>
              <a:t>The oldest block in memory may be often </a:t>
            </a:r>
            <a:r>
              <a:rPr lang="en-IN" dirty="0">
                <a:solidFill>
                  <a:srgbClr val="000000"/>
                </a:solidFill>
                <a:latin typeface="Georgia" panose="02040502050405020303" pitchFamily="18" charset="0"/>
              </a:rPr>
              <a:t>used.</a:t>
            </a:r>
            <a:endParaRPr lang="en-US" dirty="0"/>
          </a:p>
          <a:p>
            <a:pPr algn="l"/>
            <a:endParaRPr lang="en-US" dirty="0"/>
          </a:p>
        </p:txBody>
      </p:sp>
    </p:spTree>
    <p:extLst>
      <p:ext uri="{BB962C8B-B14F-4D97-AF65-F5344CB8AC3E}">
        <p14:creationId xmlns:p14="http://schemas.microsoft.com/office/powerpoint/2010/main" val="8618898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0410-71DB-428C-87E3-0E404B9B2687}"/>
              </a:ext>
            </a:extLst>
          </p:cNvPr>
          <p:cNvSpPr>
            <a:spLocks noGrp="1"/>
          </p:cNvSpPr>
          <p:nvPr>
            <p:ph type="title"/>
          </p:nvPr>
        </p:nvSpPr>
        <p:spPr/>
        <p:txBody>
          <a:bodyPr/>
          <a:lstStyle/>
          <a:p>
            <a:r>
              <a:rPr lang="en-IN" dirty="0">
                <a:solidFill>
                  <a:srgbClr val="C00000"/>
                </a:solidFill>
              </a:rPr>
              <a:t>LRU (Least Recently Used) </a:t>
            </a:r>
          </a:p>
        </p:txBody>
      </p:sp>
      <p:sp>
        <p:nvSpPr>
          <p:cNvPr id="4" name="TextBox 3">
            <a:extLst>
              <a:ext uri="{FF2B5EF4-FFF2-40B4-BE49-F238E27FC236}">
                <a16:creationId xmlns:a16="http://schemas.microsoft.com/office/drawing/2014/main" id="{E21ECF73-EF9F-44BC-8473-AE897FC492EF}"/>
              </a:ext>
            </a:extLst>
          </p:cNvPr>
          <p:cNvSpPr txBox="1"/>
          <p:nvPr/>
        </p:nvSpPr>
        <p:spPr>
          <a:xfrm>
            <a:off x="914400" y="1905000"/>
            <a:ext cx="8001000" cy="161582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The least recently used page replacement algorithm keeps track page uses over a</a:t>
            </a:r>
          </a:p>
          <a:p>
            <a:pPr>
              <a:lnSpc>
                <a:spcPct val="150000"/>
              </a:lnSpc>
            </a:pPr>
            <a:r>
              <a:rPr lang="en-US" dirty="0"/>
              <a:t>short period of time.</a:t>
            </a:r>
          </a:p>
          <a:p>
            <a:pPr>
              <a:lnSpc>
                <a:spcPct val="150000"/>
              </a:lnSpc>
            </a:pPr>
            <a:endParaRPr lang="en-US" dirty="0"/>
          </a:p>
          <a:p>
            <a:pPr algn="l"/>
            <a:endParaRPr lang="en-US" dirty="0"/>
          </a:p>
        </p:txBody>
      </p:sp>
      <p:pic>
        <p:nvPicPr>
          <p:cNvPr id="5" name="Picture 4">
            <a:extLst>
              <a:ext uri="{FF2B5EF4-FFF2-40B4-BE49-F238E27FC236}">
                <a16:creationId xmlns:a16="http://schemas.microsoft.com/office/drawing/2014/main" id="{5F3D5101-092E-465A-8C75-8A5CCAFAE1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3200400"/>
            <a:ext cx="7696200" cy="3511730"/>
          </a:xfrm>
          <a:prstGeom prst="rect">
            <a:avLst/>
          </a:prstGeom>
        </p:spPr>
      </p:pic>
    </p:spTree>
    <p:extLst>
      <p:ext uri="{BB962C8B-B14F-4D97-AF65-F5344CB8AC3E}">
        <p14:creationId xmlns:p14="http://schemas.microsoft.com/office/powerpoint/2010/main" val="42047653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0410-71DB-428C-87E3-0E404B9B2687}"/>
              </a:ext>
            </a:extLst>
          </p:cNvPr>
          <p:cNvSpPr>
            <a:spLocks noGrp="1"/>
          </p:cNvSpPr>
          <p:nvPr>
            <p:ph type="title"/>
          </p:nvPr>
        </p:nvSpPr>
        <p:spPr/>
        <p:txBody>
          <a:bodyPr/>
          <a:lstStyle/>
          <a:p>
            <a:r>
              <a:rPr lang="en-IN" dirty="0">
                <a:solidFill>
                  <a:srgbClr val="C00000"/>
                </a:solidFill>
              </a:rPr>
              <a:t>LRU (Least Recently Used) </a:t>
            </a:r>
          </a:p>
        </p:txBody>
      </p:sp>
      <p:sp>
        <p:nvSpPr>
          <p:cNvPr id="4" name="TextBox 3">
            <a:extLst>
              <a:ext uri="{FF2B5EF4-FFF2-40B4-BE49-F238E27FC236}">
                <a16:creationId xmlns:a16="http://schemas.microsoft.com/office/drawing/2014/main" id="{E21ECF73-EF9F-44BC-8473-AE897FC492EF}"/>
              </a:ext>
            </a:extLst>
          </p:cNvPr>
          <p:cNvSpPr txBox="1"/>
          <p:nvPr/>
        </p:nvSpPr>
        <p:spPr>
          <a:xfrm>
            <a:off x="914400" y="2251939"/>
            <a:ext cx="8001000" cy="254076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solidFill>
                  <a:srgbClr val="000000"/>
                </a:solidFill>
                <a:latin typeface="Georgia" panose="02040502050405020303" pitchFamily="18" charset="0"/>
              </a:rPr>
              <a:t>Advantages: </a:t>
            </a:r>
          </a:p>
          <a:p>
            <a:pPr marL="742950" lvl="1" indent="-285750">
              <a:lnSpc>
                <a:spcPct val="150000"/>
              </a:lnSpc>
              <a:buFont typeface="Arial" panose="020B0604020202020204" pitchFamily="34" charset="0"/>
              <a:buChar char="•"/>
            </a:pPr>
            <a:r>
              <a:rPr lang="fr-FR" dirty="0">
                <a:solidFill>
                  <a:srgbClr val="000000"/>
                </a:solidFill>
                <a:latin typeface="Georgia" panose="02040502050405020303" pitchFamily="18" charset="0"/>
              </a:rPr>
              <a:t>LRU page replacement algorithm is quiet efficient.</a:t>
            </a:r>
            <a:endParaRPr lang="en-US" dirty="0">
              <a:solidFill>
                <a:srgbClr val="438186"/>
              </a:solidFill>
              <a:latin typeface="Georgia" panose="02040502050405020303" pitchFamily="18" charset="0"/>
            </a:endParaRPr>
          </a:p>
          <a:p>
            <a:pPr marL="285750" indent="-285750">
              <a:lnSpc>
                <a:spcPct val="150000"/>
              </a:lnSpc>
              <a:buFont typeface="Arial" panose="020B0604020202020204" pitchFamily="34" charset="0"/>
              <a:buChar char="•"/>
            </a:pPr>
            <a:r>
              <a:rPr lang="en-US" dirty="0">
                <a:solidFill>
                  <a:srgbClr val="000000"/>
                </a:solidFill>
                <a:latin typeface="Georgia" panose="02040502050405020303" pitchFamily="18" charset="0"/>
              </a:rPr>
              <a:t>Disadvantages: </a:t>
            </a:r>
          </a:p>
          <a:p>
            <a:pPr marL="742950" lvl="1" indent="-285750">
              <a:lnSpc>
                <a:spcPct val="150000"/>
              </a:lnSpc>
              <a:buFont typeface="Arial" panose="020B0604020202020204" pitchFamily="34" charset="0"/>
              <a:buChar char="•"/>
            </a:pPr>
            <a:r>
              <a:rPr lang="en-US" dirty="0">
                <a:solidFill>
                  <a:srgbClr val="000000"/>
                </a:solidFill>
                <a:latin typeface="Georgia" panose="02040502050405020303" pitchFamily="18" charset="0"/>
              </a:rPr>
              <a:t>Implementation difficult. This algorithm requires keeping track of what was used when, which is expensive if one wants to make sure</a:t>
            </a:r>
          </a:p>
          <a:p>
            <a:pPr marL="742950" lvl="1" indent="-285750">
              <a:lnSpc>
                <a:spcPct val="150000"/>
              </a:lnSpc>
              <a:buFont typeface="Arial" panose="020B0604020202020204" pitchFamily="34" charset="0"/>
              <a:buChar char="•"/>
            </a:pPr>
            <a:r>
              <a:rPr lang="en-US" dirty="0">
                <a:solidFill>
                  <a:srgbClr val="000000"/>
                </a:solidFill>
                <a:latin typeface="Georgia" panose="02040502050405020303" pitchFamily="18" charset="0"/>
              </a:rPr>
              <a:t>the algorithm always discards the least recently used item.</a:t>
            </a:r>
            <a:endParaRPr lang="en-US" dirty="0"/>
          </a:p>
        </p:txBody>
      </p:sp>
    </p:spTree>
    <p:extLst>
      <p:ext uri="{BB962C8B-B14F-4D97-AF65-F5344CB8AC3E}">
        <p14:creationId xmlns:p14="http://schemas.microsoft.com/office/powerpoint/2010/main" val="6753733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0410-71DB-428C-87E3-0E404B9B2687}"/>
              </a:ext>
            </a:extLst>
          </p:cNvPr>
          <p:cNvSpPr>
            <a:spLocks noGrp="1"/>
          </p:cNvSpPr>
          <p:nvPr>
            <p:ph type="title"/>
          </p:nvPr>
        </p:nvSpPr>
        <p:spPr/>
        <p:txBody>
          <a:bodyPr/>
          <a:lstStyle/>
          <a:p>
            <a:r>
              <a:rPr lang="en-IN" dirty="0">
                <a:solidFill>
                  <a:srgbClr val="C00000"/>
                </a:solidFill>
              </a:rPr>
              <a:t>LFU (Least Frequently Used)</a:t>
            </a:r>
          </a:p>
        </p:txBody>
      </p:sp>
      <p:sp>
        <p:nvSpPr>
          <p:cNvPr id="4" name="TextBox 3">
            <a:extLst>
              <a:ext uri="{FF2B5EF4-FFF2-40B4-BE49-F238E27FC236}">
                <a16:creationId xmlns:a16="http://schemas.microsoft.com/office/drawing/2014/main" id="{E21ECF73-EF9F-44BC-8473-AE897FC492EF}"/>
              </a:ext>
            </a:extLst>
          </p:cNvPr>
          <p:cNvSpPr txBox="1"/>
          <p:nvPr/>
        </p:nvSpPr>
        <p:spPr>
          <a:xfrm>
            <a:off x="990600" y="1703691"/>
            <a:ext cx="8001000" cy="4618252"/>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IN" sz="1800" b="0" i="0" u="none" strike="noStrike" baseline="0" dirty="0">
                <a:solidFill>
                  <a:srgbClr val="000000"/>
                </a:solidFill>
                <a:latin typeface="Georgia" panose="02040502050405020303" pitchFamily="18" charset="0"/>
              </a:rPr>
              <a:t>The Least-Frequently-Used (LFU) Replacement </a:t>
            </a:r>
            <a:r>
              <a:rPr lang="en-US" sz="1800" b="0" i="0" u="none" strike="noStrike" baseline="0" dirty="0">
                <a:solidFill>
                  <a:srgbClr val="000000"/>
                </a:solidFill>
                <a:latin typeface="Georgia" panose="02040502050405020303" pitchFamily="18" charset="0"/>
              </a:rPr>
              <a:t>technique replaces the least-frequently block in use when an eviction must take place.</a:t>
            </a:r>
          </a:p>
          <a:p>
            <a:pPr marL="285750" indent="-285750" algn="just">
              <a:lnSpc>
                <a:spcPct val="150000"/>
              </a:lnSpc>
              <a:buFont typeface="Arial" panose="020B0604020202020204" pitchFamily="34" charset="0"/>
              <a:buChar char="•"/>
            </a:pPr>
            <a:r>
              <a:rPr lang="en-US" sz="1800" b="0" i="0" u="none" strike="noStrike" baseline="0" dirty="0">
                <a:solidFill>
                  <a:srgbClr val="000000"/>
                </a:solidFill>
                <a:latin typeface="Georgia" panose="02040502050405020303" pitchFamily="18" charset="0"/>
              </a:rPr>
              <a:t>Software counter associated with each block, initially zero is required in this algorithm.</a:t>
            </a:r>
          </a:p>
          <a:p>
            <a:pPr marL="285750" indent="-285750" algn="just">
              <a:lnSpc>
                <a:spcPct val="150000"/>
              </a:lnSpc>
              <a:buFont typeface="Arial" panose="020B0604020202020204" pitchFamily="34" charset="0"/>
              <a:buChar char="•"/>
            </a:pPr>
            <a:r>
              <a:rPr lang="en-US" sz="1800" b="0" i="0" u="none" strike="noStrike" baseline="0" dirty="0">
                <a:solidFill>
                  <a:srgbClr val="000000"/>
                </a:solidFill>
                <a:latin typeface="Georgia" panose="02040502050405020303" pitchFamily="18" charset="0"/>
              </a:rPr>
              <a:t>The operating system checks all the blocks in the cache at each clock interrupt.</a:t>
            </a:r>
          </a:p>
          <a:p>
            <a:pPr marL="285750" indent="-285750" algn="just">
              <a:lnSpc>
                <a:spcPct val="150000"/>
              </a:lnSpc>
              <a:buFont typeface="Arial" panose="020B0604020202020204" pitchFamily="34" charset="0"/>
              <a:buChar char="•"/>
            </a:pPr>
            <a:r>
              <a:rPr lang="en-US" sz="1800" b="0" i="0" u="none" strike="noStrike" baseline="0" dirty="0">
                <a:solidFill>
                  <a:srgbClr val="000000"/>
                </a:solidFill>
                <a:latin typeface="Georgia" panose="02040502050405020303" pitchFamily="18" charset="0"/>
              </a:rPr>
              <a:t>The R bit, which is '0' or '1', is added to the counter for each block. Consequently, the counters are an effort to keep track of the frequency of referencing each </a:t>
            </a:r>
            <a:r>
              <a:rPr lang="en-IN" sz="1800" b="0" i="0" u="none" strike="noStrike" baseline="0" dirty="0">
                <a:solidFill>
                  <a:srgbClr val="000000"/>
                </a:solidFill>
                <a:latin typeface="Georgia" panose="02040502050405020303" pitchFamily="18" charset="0"/>
              </a:rPr>
              <a:t>block.</a:t>
            </a:r>
          </a:p>
          <a:p>
            <a:pPr marL="285750" indent="-285750" algn="just">
              <a:lnSpc>
                <a:spcPct val="150000"/>
              </a:lnSpc>
              <a:buFont typeface="Arial" panose="020B0604020202020204" pitchFamily="34" charset="0"/>
              <a:buChar char="•"/>
            </a:pPr>
            <a:r>
              <a:rPr lang="en-US" sz="1800" b="0" i="0" u="none" strike="noStrike" baseline="0" dirty="0">
                <a:solidFill>
                  <a:srgbClr val="000000"/>
                </a:solidFill>
                <a:latin typeface="Georgia" panose="02040502050405020303" pitchFamily="18" charset="0"/>
              </a:rPr>
              <a:t>When a block must be replaced, the block that has the lowest counter is selected for the replacement.</a:t>
            </a:r>
            <a:endParaRPr lang="en-US" dirty="0"/>
          </a:p>
        </p:txBody>
      </p:sp>
    </p:spTree>
    <p:extLst>
      <p:ext uri="{BB962C8B-B14F-4D97-AF65-F5344CB8AC3E}">
        <p14:creationId xmlns:p14="http://schemas.microsoft.com/office/powerpoint/2010/main" val="2326307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0410-71DB-428C-87E3-0E404B9B2687}"/>
              </a:ext>
            </a:extLst>
          </p:cNvPr>
          <p:cNvSpPr>
            <a:spLocks noGrp="1"/>
          </p:cNvSpPr>
          <p:nvPr>
            <p:ph type="title"/>
          </p:nvPr>
        </p:nvSpPr>
        <p:spPr/>
        <p:txBody>
          <a:bodyPr/>
          <a:lstStyle/>
          <a:p>
            <a:r>
              <a:rPr lang="en-IN" dirty="0">
                <a:solidFill>
                  <a:srgbClr val="C00000"/>
                </a:solidFill>
              </a:rPr>
              <a:t>LFU (Least Frequently Used)</a:t>
            </a:r>
          </a:p>
        </p:txBody>
      </p:sp>
      <p:pic>
        <p:nvPicPr>
          <p:cNvPr id="3" name="Picture 2">
            <a:extLst>
              <a:ext uri="{FF2B5EF4-FFF2-40B4-BE49-F238E27FC236}">
                <a16:creationId xmlns:a16="http://schemas.microsoft.com/office/drawing/2014/main" id="{822DE27B-C497-49C9-B204-A526DDFA63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2286000"/>
            <a:ext cx="6636531" cy="2520986"/>
          </a:xfrm>
          <a:prstGeom prst="rect">
            <a:avLst/>
          </a:prstGeom>
        </p:spPr>
      </p:pic>
      <p:sp>
        <p:nvSpPr>
          <p:cNvPr id="7" name="TextBox 6">
            <a:extLst>
              <a:ext uri="{FF2B5EF4-FFF2-40B4-BE49-F238E27FC236}">
                <a16:creationId xmlns:a16="http://schemas.microsoft.com/office/drawing/2014/main" id="{61CCCC1C-C2C5-49EC-AAC7-71543391C8FD}"/>
              </a:ext>
            </a:extLst>
          </p:cNvPr>
          <p:cNvSpPr txBox="1"/>
          <p:nvPr/>
        </p:nvSpPr>
        <p:spPr>
          <a:xfrm>
            <a:off x="990600" y="5032459"/>
            <a:ext cx="4572000" cy="646331"/>
          </a:xfrm>
          <a:prstGeom prst="rect">
            <a:avLst/>
          </a:prstGeom>
          <a:noFill/>
        </p:spPr>
        <p:txBody>
          <a:bodyPr wrap="square">
            <a:spAutoFit/>
          </a:bodyPr>
          <a:lstStyle/>
          <a:p>
            <a:pPr algn="l"/>
            <a:r>
              <a:rPr lang="en-US" b="0" i="0" dirty="0">
                <a:solidFill>
                  <a:srgbClr val="333333"/>
                </a:solidFill>
                <a:effectLst/>
                <a:latin typeface="Source Sans Pro" panose="020B0503030403020204" pitchFamily="34" charset="0"/>
              </a:rPr>
              <a:t>Number of page faults = 12.</a:t>
            </a:r>
          </a:p>
          <a:p>
            <a:pPr algn="l"/>
            <a:r>
              <a:rPr lang="en-US" b="0" i="0" dirty="0">
                <a:solidFill>
                  <a:srgbClr val="333333"/>
                </a:solidFill>
                <a:effectLst/>
                <a:latin typeface="Source Sans Pro" panose="020B0503030403020204" pitchFamily="34" charset="0"/>
              </a:rPr>
              <a:t>Number of page hits= 8.</a:t>
            </a:r>
          </a:p>
        </p:txBody>
      </p:sp>
    </p:spTree>
    <p:extLst>
      <p:ext uri="{BB962C8B-B14F-4D97-AF65-F5344CB8AC3E}">
        <p14:creationId xmlns:p14="http://schemas.microsoft.com/office/powerpoint/2010/main" val="40199856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0410-71DB-428C-87E3-0E404B9B2687}"/>
              </a:ext>
            </a:extLst>
          </p:cNvPr>
          <p:cNvSpPr>
            <a:spLocks noGrp="1"/>
          </p:cNvSpPr>
          <p:nvPr>
            <p:ph type="title"/>
          </p:nvPr>
        </p:nvSpPr>
        <p:spPr/>
        <p:txBody>
          <a:bodyPr/>
          <a:lstStyle/>
          <a:p>
            <a:r>
              <a:rPr lang="en-IN" dirty="0">
                <a:solidFill>
                  <a:srgbClr val="C00000"/>
                </a:solidFill>
              </a:rPr>
              <a:t>LFU (Least Frequently Used)</a:t>
            </a:r>
          </a:p>
        </p:txBody>
      </p:sp>
      <p:sp>
        <p:nvSpPr>
          <p:cNvPr id="4" name="TextBox 3">
            <a:extLst>
              <a:ext uri="{FF2B5EF4-FFF2-40B4-BE49-F238E27FC236}">
                <a16:creationId xmlns:a16="http://schemas.microsoft.com/office/drawing/2014/main" id="{E21ECF73-EF9F-44BC-8473-AE897FC492EF}"/>
              </a:ext>
            </a:extLst>
          </p:cNvPr>
          <p:cNvSpPr txBox="1"/>
          <p:nvPr/>
        </p:nvSpPr>
        <p:spPr>
          <a:xfrm>
            <a:off x="914400" y="2251939"/>
            <a:ext cx="8001000" cy="336585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solidFill>
                  <a:srgbClr val="000000"/>
                </a:solidFill>
                <a:latin typeface="Georgia" panose="02040502050405020303" pitchFamily="18" charset="0"/>
              </a:rPr>
              <a:t>Advantages: </a:t>
            </a:r>
          </a:p>
          <a:p>
            <a:pPr marL="742950" lvl="1" indent="-285750">
              <a:lnSpc>
                <a:spcPct val="150000"/>
              </a:lnSpc>
              <a:buFont typeface="Arial" panose="020B0604020202020204" pitchFamily="34" charset="0"/>
              <a:buChar char="•"/>
            </a:pPr>
            <a:r>
              <a:rPr lang="en-US" dirty="0">
                <a:solidFill>
                  <a:srgbClr val="000000"/>
                </a:solidFill>
                <a:latin typeface="Georgia" panose="02040502050405020303" pitchFamily="18" charset="0"/>
              </a:rPr>
              <a:t>Frequently used block will stay longer than (</a:t>
            </a:r>
            <a:r>
              <a:rPr lang="en-US" dirty="0" err="1">
                <a:solidFill>
                  <a:srgbClr val="000000"/>
                </a:solidFill>
                <a:latin typeface="Georgia" panose="02040502050405020303" pitchFamily="18" charset="0"/>
              </a:rPr>
              <a:t>fifo</a:t>
            </a:r>
            <a:r>
              <a:rPr lang="en-US" dirty="0">
                <a:solidFill>
                  <a:srgbClr val="000000"/>
                </a:solidFill>
                <a:latin typeface="Georgia" panose="02040502050405020303" pitchFamily="18" charset="0"/>
              </a:rPr>
              <a:t>)</a:t>
            </a:r>
          </a:p>
          <a:p>
            <a:pPr marL="285750" indent="-285750">
              <a:lnSpc>
                <a:spcPct val="150000"/>
              </a:lnSpc>
              <a:buFont typeface="Arial" panose="020B0604020202020204" pitchFamily="34" charset="0"/>
              <a:buChar char="•"/>
            </a:pPr>
            <a:r>
              <a:rPr lang="en-US" dirty="0">
                <a:solidFill>
                  <a:srgbClr val="000000"/>
                </a:solidFill>
                <a:latin typeface="Georgia" panose="02040502050405020303" pitchFamily="18" charset="0"/>
              </a:rPr>
              <a:t>Disadvantages: </a:t>
            </a:r>
          </a:p>
          <a:p>
            <a:pPr marL="742950" lvl="1" indent="-285750">
              <a:lnSpc>
                <a:spcPct val="150000"/>
              </a:lnSpc>
              <a:buFont typeface="Arial" panose="020B0604020202020204" pitchFamily="34" charset="0"/>
              <a:buChar char="•"/>
            </a:pPr>
            <a:r>
              <a:rPr lang="en-US" dirty="0">
                <a:solidFill>
                  <a:srgbClr val="000000"/>
                </a:solidFill>
                <a:latin typeface="Georgia" panose="02040502050405020303" pitchFamily="18" charset="0"/>
              </a:rPr>
              <a:t>Older blocks are less likely to be removed , even if they are on longer frequently used because this algorithm never forgets anything.</a:t>
            </a:r>
          </a:p>
          <a:p>
            <a:pPr marL="742950" lvl="1" indent="-285750">
              <a:lnSpc>
                <a:spcPct val="150000"/>
              </a:lnSpc>
              <a:buFont typeface="Arial" panose="020B0604020202020204" pitchFamily="34" charset="0"/>
              <a:buChar char="•"/>
            </a:pPr>
            <a:r>
              <a:rPr lang="en-US" dirty="0">
                <a:solidFill>
                  <a:srgbClr val="000000"/>
                </a:solidFill>
                <a:latin typeface="Georgia" panose="02040502050405020303" pitchFamily="18" charset="0"/>
              </a:rPr>
              <a:t>Newer blocks are more likely to be replaced even if they are frequently used.</a:t>
            </a:r>
          </a:p>
          <a:p>
            <a:pPr marL="742950" lvl="1" indent="-285750">
              <a:lnSpc>
                <a:spcPct val="150000"/>
              </a:lnSpc>
              <a:buFont typeface="Arial" panose="020B0604020202020204" pitchFamily="34" charset="0"/>
              <a:buChar char="•"/>
            </a:pPr>
            <a:r>
              <a:rPr lang="en-US" dirty="0">
                <a:solidFill>
                  <a:srgbClr val="000000"/>
                </a:solidFill>
                <a:latin typeface="Georgia" panose="02040502050405020303" pitchFamily="18" charset="0"/>
              </a:rPr>
              <a:t>Captures only frequency factor.</a:t>
            </a:r>
          </a:p>
        </p:txBody>
      </p:sp>
    </p:spTree>
    <p:extLst>
      <p:ext uri="{BB962C8B-B14F-4D97-AF65-F5344CB8AC3E}">
        <p14:creationId xmlns:p14="http://schemas.microsoft.com/office/powerpoint/2010/main" val="9399370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0410-71DB-428C-87E3-0E404B9B2687}"/>
              </a:ext>
            </a:extLst>
          </p:cNvPr>
          <p:cNvSpPr>
            <a:spLocks noGrp="1"/>
          </p:cNvSpPr>
          <p:nvPr>
            <p:ph type="title"/>
          </p:nvPr>
        </p:nvSpPr>
        <p:spPr/>
        <p:txBody>
          <a:bodyPr/>
          <a:lstStyle/>
          <a:p>
            <a:r>
              <a:rPr lang="en-IN" dirty="0">
                <a:solidFill>
                  <a:srgbClr val="C00000"/>
                </a:solidFill>
              </a:rPr>
              <a:t>Random Replacement</a:t>
            </a:r>
          </a:p>
        </p:txBody>
      </p:sp>
      <p:sp>
        <p:nvSpPr>
          <p:cNvPr id="4" name="TextBox 3">
            <a:extLst>
              <a:ext uri="{FF2B5EF4-FFF2-40B4-BE49-F238E27FC236}">
                <a16:creationId xmlns:a16="http://schemas.microsoft.com/office/drawing/2014/main" id="{E21ECF73-EF9F-44BC-8473-AE897FC492EF}"/>
              </a:ext>
            </a:extLst>
          </p:cNvPr>
          <p:cNvSpPr txBox="1"/>
          <p:nvPr/>
        </p:nvSpPr>
        <p:spPr>
          <a:xfrm>
            <a:off x="914400" y="2251939"/>
            <a:ext cx="8001000" cy="3331233"/>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solidFill>
                  <a:srgbClr val="000000"/>
                </a:solidFill>
                <a:latin typeface="Georgia" panose="02040502050405020303" pitchFamily="18" charset="0"/>
              </a:rPr>
              <a:t>When we need to evict a page, choose one randomly</a:t>
            </a:r>
          </a:p>
          <a:p>
            <a:pPr marL="285750" indent="-285750">
              <a:lnSpc>
                <a:spcPct val="200000"/>
              </a:lnSpc>
              <a:buFont typeface="Arial" panose="020B0604020202020204" pitchFamily="34" charset="0"/>
              <a:buChar char="•"/>
            </a:pPr>
            <a:r>
              <a:rPr lang="en-US" dirty="0">
                <a:solidFill>
                  <a:srgbClr val="000000"/>
                </a:solidFill>
                <a:latin typeface="Georgia" panose="02040502050405020303" pitchFamily="18" charset="0"/>
              </a:rPr>
              <a:t>Advantage: </a:t>
            </a:r>
          </a:p>
          <a:p>
            <a:pPr marL="742950" lvl="1" indent="-285750">
              <a:lnSpc>
                <a:spcPct val="200000"/>
              </a:lnSpc>
              <a:buFont typeface="Arial" panose="020B0604020202020204" pitchFamily="34" charset="0"/>
              <a:buChar char="•"/>
            </a:pPr>
            <a:r>
              <a:rPr lang="en-US" dirty="0">
                <a:solidFill>
                  <a:srgbClr val="000000"/>
                </a:solidFill>
                <a:latin typeface="Georgia" panose="02040502050405020303" pitchFamily="18" charset="0"/>
              </a:rPr>
              <a:t>Extremely simple</a:t>
            </a:r>
          </a:p>
          <a:p>
            <a:pPr marL="285750" indent="-285750">
              <a:lnSpc>
                <a:spcPct val="200000"/>
              </a:lnSpc>
              <a:buFont typeface="Arial" panose="020B0604020202020204" pitchFamily="34" charset="0"/>
              <a:buChar char="•"/>
            </a:pPr>
            <a:r>
              <a:rPr lang="en-US" dirty="0">
                <a:solidFill>
                  <a:srgbClr val="000000"/>
                </a:solidFill>
                <a:latin typeface="Georgia" panose="02040502050405020303" pitchFamily="18" charset="0"/>
              </a:rPr>
              <a:t>Disadvantages: </a:t>
            </a:r>
          </a:p>
          <a:p>
            <a:pPr marL="742950" lvl="1" indent="-285750">
              <a:lnSpc>
                <a:spcPct val="200000"/>
              </a:lnSpc>
              <a:buFont typeface="Arial" panose="020B0604020202020204" pitchFamily="34" charset="0"/>
              <a:buChar char="•"/>
            </a:pPr>
            <a:r>
              <a:rPr lang="en-US" dirty="0">
                <a:solidFill>
                  <a:srgbClr val="000000"/>
                </a:solidFill>
                <a:latin typeface="Georgia" panose="02040502050405020303" pitchFamily="18" charset="0"/>
              </a:rPr>
              <a:t>Can easily make "bad" choices by swapping out pages right before they are needed.</a:t>
            </a:r>
          </a:p>
        </p:txBody>
      </p:sp>
    </p:spTree>
    <p:extLst>
      <p:ext uri="{BB962C8B-B14F-4D97-AF65-F5344CB8AC3E}">
        <p14:creationId xmlns:p14="http://schemas.microsoft.com/office/powerpoint/2010/main" val="30326825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Miss rate and Hit rate problems</a:t>
            </a:r>
          </a:p>
        </p:txBody>
      </p:sp>
      <p:sp>
        <p:nvSpPr>
          <p:cNvPr id="3" name="Content Placeholder 2"/>
          <p:cNvSpPr>
            <a:spLocks noGrp="1"/>
          </p:cNvSpPr>
          <p:nvPr>
            <p:ph sz="quarter" idx="1"/>
          </p:nvPr>
        </p:nvSpPr>
        <p:spPr/>
        <p:txBody>
          <a:bodyPr/>
          <a:lstStyle/>
          <a:p>
            <a:pPr marL="0" indent="0">
              <a:buNone/>
            </a:pPr>
            <a:r>
              <a:rPr lang="en-US" dirty="0"/>
              <a:t>Problem 1:</a:t>
            </a:r>
          </a:p>
        </p:txBody>
      </p:sp>
      <p:sp>
        <p:nvSpPr>
          <p:cNvPr id="8" name="Rectangle 7"/>
          <p:cNvSpPr/>
          <p:nvPr/>
        </p:nvSpPr>
        <p:spPr>
          <a:xfrm>
            <a:off x="1139687" y="2274838"/>
            <a:ext cx="5718313" cy="3416320"/>
          </a:xfrm>
          <a:prstGeom prst="rect">
            <a:avLst/>
          </a:prstGeom>
        </p:spPr>
        <p:txBody>
          <a:bodyPr wrap="square">
            <a:spAutoFit/>
          </a:bodyPr>
          <a:lstStyle/>
          <a:p>
            <a:r>
              <a:rPr lang="en-US" sz="2400" dirty="0"/>
              <a:t>Consider a direct mapped cache with 8 cache blocks (0-7). If the memory block requests are in the order-</a:t>
            </a:r>
          </a:p>
          <a:p>
            <a:r>
              <a:rPr lang="en-US" sz="2400" dirty="0"/>
              <a:t>3, 5, 2, 8, 0, 6, 3, 9, 16, 20, 17, 25, 18, 30, 24, 2, 63, 5, 82, 17, 24</a:t>
            </a:r>
          </a:p>
          <a:p>
            <a:r>
              <a:rPr lang="en-US" sz="2400" dirty="0"/>
              <a:t>Which of the following memory blocks will be in the cache at the end of the sequence?</a:t>
            </a:r>
          </a:p>
          <a:p>
            <a:endParaRPr lang="en-US" sz="2400" dirty="0"/>
          </a:p>
          <a:p>
            <a:r>
              <a:rPr lang="en-US" sz="2400" dirty="0"/>
              <a:t>Also, calculate the hit ratio and miss ratio.</a:t>
            </a:r>
          </a:p>
        </p:txBody>
      </p:sp>
    </p:spTree>
    <p:extLst>
      <p:ext uri="{BB962C8B-B14F-4D97-AF65-F5344CB8AC3E}">
        <p14:creationId xmlns:p14="http://schemas.microsoft.com/office/powerpoint/2010/main" val="11969483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fontAlgn="base"/>
            <a:r>
              <a:rPr lang="en-US" dirty="0"/>
              <a:t>We have,</a:t>
            </a:r>
          </a:p>
          <a:p>
            <a:pPr lvl="0" fontAlgn="base"/>
            <a:r>
              <a:rPr lang="en-US" dirty="0"/>
              <a:t>There are 8 blocks in cache memory numbered from 0 to 7.</a:t>
            </a:r>
          </a:p>
          <a:p>
            <a:pPr lvl="0" fontAlgn="base"/>
            <a:r>
              <a:rPr lang="en-US" dirty="0"/>
              <a:t>In direct mapping, a particular block of main memory is mapped to a particular line of cache memory.</a:t>
            </a:r>
          </a:p>
          <a:p>
            <a:pPr lvl="0" fontAlgn="base"/>
            <a:r>
              <a:rPr lang="en-US" dirty="0"/>
              <a:t>The line number is given by-</a:t>
            </a:r>
          </a:p>
          <a:p>
            <a:pPr fontAlgn="base"/>
            <a:r>
              <a:rPr lang="en-US" dirty="0"/>
              <a:t>Cache line number = Block address modulo Number of lines in cache</a:t>
            </a:r>
          </a:p>
          <a:p>
            <a:endParaRPr lang="en-US" dirty="0"/>
          </a:p>
        </p:txBody>
      </p:sp>
    </p:spTree>
    <p:extLst>
      <p:ext uri="{BB962C8B-B14F-4D97-AF65-F5344CB8AC3E}">
        <p14:creationId xmlns:p14="http://schemas.microsoft.com/office/powerpoint/2010/main" val="2142572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marL="0" indent="0">
              <a:buNone/>
            </a:pPr>
            <a:r>
              <a:rPr lang="en-US" b="1" u="sng" dirty="0"/>
              <a:t>Solution-</a:t>
            </a:r>
            <a:endParaRPr lang="en-US" dirty="0"/>
          </a:p>
          <a:p>
            <a:pPr fontAlgn="base"/>
            <a:r>
              <a:rPr lang="en-US" dirty="0"/>
              <a:t>For the given sequence-</a:t>
            </a:r>
          </a:p>
          <a:p>
            <a:pPr lvl="0" fontAlgn="base"/>
            <a:r>
              <a:rPr lang="en-US" dirty="0"/>
              <a:t>Requests for memory blocks are generated one by one.</a:t>
            </a:r>
          </a:p>
          <a:p>
            <a:pPr lvl="0" fontAlgn="base"/>
            <a:r>
              <a:rPr lang="en-US" dirty="0"/>
              <a:t>The line number of the block is calculated using the above relation.</a:t>
            </a:r>
          </a:p>
          <a:p>
            <a:pPr lvl="0" fontAlgn="base"/>
            <a:r>
              <a:rPr lang="en-US" dirty="0"/>
              <a:t>Then, the block is placed in that particular line.</a:t>
            </a:r>
          </a:p>
          <a:p>
            <a:pPr lvl="0" fontAlgn="base"/>
            <a:r>
              <a:rPr lang="en-US" dirty="0"/>
              <a:t>If already there exists another block in that line, then it is replaced.</a:t>
            </a:r>
          </a:p>
          <a:p>
            <a:pPr marL="0" indent="0">
              <a:buNone/>
            </a:pPr>
            <a:endParaRPr lang="en-US" dirty="0"/>
          </a:p>
        </p:txBody>
      </p:sp>
    </p:spTree>
    <p:extLst>
      <p:ext uri="{BB962C8B-B14F-4D97-AF65-F5344CB8AC3E}">
        <p14:creationId xmlns:p14="http://schemas.microsoft.com/office/powerpoint/2010/main" val="39845845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https://www.gatevidyalay.com/wp-content/uploads/2018/11/Cache-Mapping-Practice-Problems-Problem-07.png"/>
          <p:cNvPicPr>
            <a:picLocks noGrp="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980661" y="463826"/>
            <a:ext cx="5781280" cy="5555973"/>
          </a:xfrm>
          <a:prstGeom prst="rect">
            <a:avLst/>
          </a:prstGeom>
          <a:noFill/>
          <a:ln>
            <a:noFill/>
          </a:ln>
        </p:spPr>
      </p:pic>
    </p:spTree>
    <p:extLst>
      <p:ext uri="{BB962C8B-B14F-4D97-AF65-F5344CB8AC3E}">
        <p14:creationId xmlns:p14="http://schemas.microsoft.com/office/powerpoint/2010/main" val="19045764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lvl="0" fontAlgn="base"/>
            <a:r>
              <a:rPr lang="en-US" dirty="0"/>
              <a:t>Hit ratio = 3 / 20</a:t>
            </a:r>
          </a:p>
          <a:p>
            <a:pPr lvl="0" fontAlgn="base"/>
            <a:r>
              <a:rPr lang="en-US" dirty="0"/>
              <a:t>Miss ratio = 18 / 20</a:t>
            </a:r>
          </a:p>
          <a:p>
            <a:endParaRPr lang="en-US" dirty="0"/>
          </a:p>
        </p:txBody>
      </p:sp>
    </p:spTree>
    <p:extLst>
      <p:ext uri="{BB962C8B-B14F-4D97-AF65-F5344CB8AC3E}">
        <p14:creationId xmlns:p14="http://schemas.microsoft.com/office/powerpoint/2010/main" val="27127086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Problem2</a:t>
            </a:r>
          </a:p>
        </p:txBody>
      </p:sp>
      <p:sp>
        <p:nvSpPr>
          <p:cNvPr id="3" name="Content Placeholder 2"/>
          <p:cNvSpPr>
            <a:spLocks noGrp="1"/>
          </p:cNvSpPr>
          <p:nvPr>
            <p:ph sz="quarter" idx="1"/>
          </p:nvPr>
        </p:nvSpPr>
        <p:spPr/>
        <p:txBody>
          <a:bodyPr/>
          <a:lstStyle/>
          <a:p>
            <a:pPr fontAlgn="base"/>
            <a:r>
              <a:rPr lang="en-US" dirty="0"/>
              <a:t>Consider a fully associative cache with 8 cache blocks (0-7). The memory block requests are in the order-</a:t>
            </a:r>
          </a:p>
          <a:p>
            <a:pPr marL="0" indent="0" fontAlgn="base">
              <a:buNone/>
            </a:pPr>
            <a:r>
              <a:rPr lang="en-US" dirty="0"/>
              <a:t>4, 3, 25, 8, 19, 6, 25, 8, 16, 35, 45, 22, 8, 3, 16, 25, 7</a:t>
            </a:r>
          </a:p>
          <a:p>
            <a:pPr fontAlgn="base"/>
            <a:r>
              <a:rPr lang="en-US" dirty="0"/>
              <a:t>If LRU replacement policy is used, which cache block will have memory block 7?</a:t>
            </a:r>
          </a:p>
          <a:p>
            <a:pPr fontAlgn="base"/>
            <a:r>
              <a:rPr lang="en-US" dirty="0"/>
              <a:t>Also, calculate the hit ratio and miss ratio.</a:t>
            </a:r>
          </a:p>
          <a:p>
            <a:endParaRPr lang="en-US" dirty="0"/>
          </a:p>
        </p:txBody>
      </p:sp>
    </p:spTree>
    <p:extLst>
      <p:ext uri="{BB962C8B-B14F-4D97-AF65-F5344CB8AC3E}">
        <p14:creationId xmlns:p14="http://schemas.microsoft.com/office/powerpoint/2010/main" val="36163305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marL="0" indent="0" fontAlgn="base">
              <a:buNone/>
            </a:pPr>
            <a:r>
              <a:rPr lang="en-US" dirty="0"/>
              <a:t>Solution:</a:t>
            </a:r>
          </a:p>
          <a:p>
            <a:pPr fontAlgn="base"/>
            <a:r>
              <a:rPr lang="en-US" dirty="0"/>
              <a:t>We have,</a:t>
            </a:r>
          </a:p>
          <a:p>
            <a:pPr lvl="0" fontAlgn="base"/>
            <a:r>
              <a:rPr lang="en-US" dirty="0"/>
              <a:t>There are 8 blocks in cache memory numbered from 0 to 7.</a:t>
            </a:r>
          </a:p>
          <a:p>
            <a:pPr lvl="0" fontAlgn="base"/>
            <a:r>
              <a:rPr lang="en-US" dirty="0"/>
              <a:t>In fully associative mapping, any block of main memory can be mapped to any line of the cache that is freely available.</a:t>
            </a:r>
          </a:p>
          <a:p>
            <a:pPr lvl="0" fontAlgn="base"/>
            <a:r>
              <a:rPr lang="en-US" dirty="0"/>
              <a:t>If all the cache lines are already occupied, then a block is replaced in accordance with the replacement policy.</a:t>
            </a:r>
          </a:p>
          <a:p>
            <a:endParaRPr lang="en-US" dirty="0"/>
          </a:p>
        </p:txBody>
      </p:sp>
    </p:spTree>
    <p:extLst>
      <p:ext uri="{BB962C8B-B14F-4D97-AF65-F5344CB8AC3E}">
        <p14:creationId xmlns:p14="http://schemas.microsoft.com/office/powerpoint/2010/main" val="38085561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https://www.gatevidyalay.com/wp-content/uploads/2018/11/Cache-Mapping-Practice-Problems-Problem-08.png"/>
          <p:cNvPicPr>
            <a:picLocks noGrp="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596348" y="477078"/>
            <a:ext cx="5356777" cy="4933122"/>
          </a:xfrm>
          <a:prstGeom prst="rect">
            <a:avLst/>
          </a:prstGeom>
          <a:noFill/>
          <a:ln>
            <a:noFill/>
          </a:ln>
        </p:spPr>
      </p:pic>
    </p:spTree>
    <p:extLst>
      <p:ext uri="{BB962C8B-B14F-4D97-AF65-F5344CB8AC3E}">
        <p14:creationId xmlns:p14="http://schemas.microsoft.com/office/powerpoint/2010/main" val="14640948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marL="0" indent="0" fontAlgn="base">
              <a:buNone/>
            </a:pPr>
            <a:r>
              <a:rPr lang="en-US" dirty="0"/>
              <a:t>Thus,</a:t>
            </a:r>
          </a:p>
          <a:p>
            <a:pPr lvl="0" fontAlgn="base"/>
            <a:r>
              <a:rPr lang="en-US" dirty="0"/>
              <a:t>Line-5 contains the block-7.</a:t>
            </a:r>
          </a:p>
          <a:p>
            <a:pPr lvl="0" fontAlgn="base"/>
            <a:r>
              <a:rPr lang="en-US" dirty="0"/>
              <a:t>Hit ratio = 5 / 17</a:t>
            </a:r>
          </a:p>
          <a:p>
            <a:pPr lvl="0" fontAlgn="base"/>
            <a:r>
              <a:rPr lang="en-US" dirty="0"/>
              <a:t>Miss ratio = 12 / 17</a:t>
            </a:r>
          </a:p>
          <a:p>
            <a:endParaRPr lang="en-US" dirty="0"/>
          </a:p>
        </p:txBody>
      </p:sp>
    </p:spTree>
    <p:extLst>
      <p:ext uri="{BB962C8B-B14F-4D97-AF65-F5344CB8AC3E}">
        <p14:creationId xmlns:p14="http://schemas.microsoft.com/office/powerpoint/2010/main" val="1257164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Average Memory access time Problem</a:t>
            </a:r>
          </a:p>
        </p:txBody>
      </p:sp>
      <p:sp>
        <p:nvSpPr>
          <p:cNvPr id="3" name="Content Placeholder 2"/>
          <p:cNvSpPr>
            <a:spLocks noGrp="1"/>
          </p:cNvSpPr>
          <p:nvPr>
            <p:ph sz="quarter" idx="1"/>
          </p:nvPr>
        </p:nvSpPr>
        <p:spPr/>
        <p:txBody>
          <a:bodyPr>
            <a:normAutofit fontScale="85000" lnSpcReduction="20000"/>
          </a:bodyPr>
          <a:lstStyle/>
          <a:p>
            <a:r>
              <a:rPr lang="en-US" dirty="0"/>
              <a:t>A cache is having 60% hit ratio for read operation. Cache access time is 30 ns and main memory access time is 100 ns, 50% operations are read operation.</a:t>
            </a:r>
            <a:br>
              <a:rPr lang="en-US" dirty="0"/>
            </a:br>
            <a:r>
              <a:rPr lang="en-US" dirty="0"/>
              <a:t>What will be the average access time for read operation?</a:t>
            </a:r>
          </a:p>
          <a:p>
            <a:pPr marL="0" indent="0">
              <a:buNone/>
            </a:pPr>
            <a:endParaRPr lang="en-US" dirty="0"/>
          </a:p>
          <a:p>
            <a:pPr marL="0" indent="0">
              <a:buNone/>
            </a:pPr>
            <a:r>
              <a:rPr lang="en-US" dirty="0"/>
              <a:t> </a:t>
            </a:r>
          </a:p>
          <a:p>
            <a:r>
              <a:rPr lang="en-US" dirty="0" err="1"/>
              <a:t>Avg</a:t>
            </a:r>
            <a:r>
              <a:rPr lang="en-US" dirty="0"/>
              <a:t> access time (for read operation) = Hit ratio * cache access time + miss ratio * ( Cache access time + MM access time )</a:t>
            </a:r>
            <a:br>
              <a:rPr lang="en-US" dirty="0"/>
            </a:br>
            <a:r>
              <a:rPr lang="en-US" dirty="0"/>
              <a:t>Given, Cache access time is 30 ns and main memory access time is 100 ns.</a:t>
            </a:r>
            <a:br>
              <a:rPr lang="en-US" dirty="0"/>
            </a:br>
            <a:r>
              <a:rPr lang="en-US" dirty="0"/>
              <a:t>Hit ratio = 60% so Miss ratio = 40%</a:t>
            </a:r>
            <a:br>
              <a:rPr lang="en-US" dirty="0"/>
            </a:br>
            <a:r>
              <a:rPr lang="en-US" dirty="0"/>
              <a:t>so </a:t>
            </a:r>
            <a:r>
              <a:rPr lang="en-US" dirty="0" err="1"/>
              <a:t>Avg</a:t>
            </a:r>
            <a:r>
              <a:rPr lang="en-US" dirty="0"/>
              <a:t> access time = (0.6 * 30 ) + 0.4 * ( 30 + 100 )</a:t>
            </a:r>
            <a:br>
              <a:rPr lang="en-US" dirty="0"/>
            </a:br>
            <a:r>
              <a:rPr lang="en-US" dirty="0"/>
              <a:t>= 18 + 52</a:t>
            </a:r>
            <a:br>
              <a:rPr lang="en-US" dirty="0"/>
            </a:br>
            <a:r>
              <a:rPr lang="en-US" dirty="0"/>
              <a:t>= 70</a:t>
            </a:r>
            <a:br>
              <a:rPr lang="en-US" dirty="0"/>
            </a:br>
            <a:r>
              <a:rPr lang="en-US" dirty="0"/>
              <a:t>so average access time for read operation is 70 ns.</a:t>
            </a:r>
          </a:p>
          <a:p>
            <a:endParaRPr lang="en-US" dirty="0"/>
          </a:p>
        </p:txBody>
      </p:sp>
    </p:spTree>
    <p:extLst>
      <p:ext uri="{BB962C8B-B14F-4D97-AF65-F5344CB8AC3E}">
        <p14:creationId xmlns:p14="http://schemas.microsoft.com/office/powerpoint/2010/main" val="22405554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5A51192E2BE67408AE7FD61E966A672" ma:contentTypeVersion="3" ma:contentTypeDescription="Create a new document." ma:contentTypeScope="" ma:versionID="bd8545ebec474c1d328e6e4d70c949b4">
  <xsd:schema xmlns:xsd="http://www.w3.org/2001/XMLSchema" xmlns:xs="http://www.w3.org/2001/XMLSchema" xmlns:p="http://schemas.microsoft.com/office/2006/metadata/properties" xmlns:ns2="01f750d2-d7ce-4598-b67c-6368ec297a75" targetNamespace="http://schemas.microsoft.com/office/2006/metadata/properties" ma:root="true" ma:fieldsID="59d3f90be99ce56bd6a20c89db54a020" ns2:_="">
    <xsd:import namespace="01f750d2-d7ce-4598-b67c-6368ec297a75"/>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f750d2-d7ce-4598-b67c-6368ec297a7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EC19AF-28B3-4FA8-8BE6-223C018998B5}">
  <ds:schemaRefs>
    <ds:schemaRef ds:uri="http://schemas.microsoft.com/sharepoint/v3/contenttype/forms"/>
  </ds:schemaRefs>
</ds:datastoreItem>
</file>

<file path=customXml/itemProps2.xml><?xml version="1.0" encoding="utf-8"?>
<ds:datastoreItem xmlns:ds="http://schemas.openxmlformats.org/officeDocument/2006/customXml" ds:itemID="{0FF9B0CC-00B6-4C10-9730-B7B526FAB1AB}">
  <ds:schemaRefs>
    <ds:schemaRef ds:uri="http://purl.org/dc/elements/1.1/"/>
    <ds:schemaRef ds:uri="http://schemas.microsoft.com/office/2006/documentManagement/types"/>
    <ds:schemaRef ds:uri="fb49ac89-d54a-41fc-8246-ae8f57ed844f"/>
    <ds:schemaRef ds:uri="http://purl.org/dc/terms/"/>
    <ds:schemaRef ds:uri="http://schemas.openxmlformats.org/package/2006/metadata/core-properties"/>
    <ds:schemaRef ds:uri="http://purl.org/dc/dcmitype/"/>
    <ds:schemaRef ds:uri="http://schemas.microsoft.com/office/infopath/2007/PartnerControl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7ECF3B61-4F1C-419D-AABD-7538D1E65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1f750d2-d7ce-4598-b67c-6368ec297a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Equity</Template>
  <TotalTime>1226</TotalTime>
  <Words>3680</Words>
  <Application>Microsoft Office PowerPoint</Application>
  <PresentationFormat>On-screen Show (4:3)</PresentationFormat>
  <Paragraphs>515</Paragraphs>
  <Slides>71</Slides>
  <Notes>2</Notes>
  <HiddenSlides>0</HiddenSlides>
  <MMClips>0</MMClips>
  <ScaleCrop>false</ScaleCrop>
  <HeadingPairs>
    <vt:vector size="4" baseType="variant">
      <vt:variant>
        <vt:lpstr>Theme</vt:lpstr>
      </vt:variant>
      <vt:variant>
        <vt:i4>1</vt:i4>
      </vt:variant>
      <vt:variant>
        <vt:lpstr>Slide Titles</vt:lpstr>
      </vt:variant>
      <vt:variant>
        <vt:i4>71</vt:i4>
      </vt:variant>
    </vt:vector>
  </HeadingPairs>
  <TitlesOfParts>
    <vt:vector size="72" baseType="lpstr">
      <vt:lpstr>Equity</vt:lpstr>
      <vt:lpstr>Module 4 Memory  System Organization and Architecture</vt:lpstr>
      <vt:lpstr>Introduction</vt:lpstr>
      <vt:lpstr> Memory Basic Concepts</vt:lpstr>
      <vt:lpstr>Memory Basic Concepts</vt:lpstr>
      <vt:lpstr>Memory Hierarchy / Multilevel Memory</vt:lpstr>
      <vt:lpstr>Main Memory</vt:lpstr>
      <vt:lpstr>PowerPoint Presentation</vt:lpstr>
      <vt:lpstr>Main Memory</vt:lpstr>
      <vt:lpstr>PowerPoint Presentation</vt:lpstr>
      <vt:lpstr>Memory Hierarchy</vt:lpstr>
      <vt:lpstr> Memory  Hierarchy(Levels of memory) </vt:lpstr>
      <vt:lpstr>Cache Memory (Levels of memory) </vt:lpstr>
      <vt:lpstr>Cache Memory </vt:lpstr>
      <vt:lpstr>Cache Memory Management</vt:lpstr>
      <vt:lpstr>Locality of Reference</vt:lpstr>
      <vt:lpstr>Terminology</vt:lpstr>
      <vt:lpstr>Cache Performance</vt:lpstr>
      <vt:lpstr>Cache Access Time</vt:lpstr>
      <vt:lpstr>PowerPoint Presentation</vt:lpstr>
      <vt:lpstr>Cache Mapping</vt:lpstr>
      <vt:lpstr>Three types of cache memory mapping</vt:lpstr>
      <vt:lpstr>Three types of cache memory mapping</vt:lpstr>
      <vt:lpstr>Cache Mapping: Direct mapping</vt:lpstr>
      <vt:lpstr>Blocks in a Direct-Mapped cache</vt:lpstr>
      <vt:lpstr>Partitioning of the memory into block in Direct-Mapped cache</vt:lpstr>
      <vt:lpstr>Direct-Mapped cache</vt:lpstr>
      <vt:lpstr>Consider a direct mapped cache of size 16 KB with block size 256 bytes. The size of main memory is 128 KB. Find the number of bits in tag and Tag directory size.</vt:lpstr>
      <vt:lpstr>Consider a direct mapped cache of size 16 KB with block size 256 bytes. The size of main memory is 128 KB. Find the number of bits in tag and Tag directory size.</vt:lpstr>
      <vt:lpstr>Consider a direct mapped cache of size 16 KB with block size 256 bytes. The size of main memory is 128 KB. Find the number of bits in tag and Tag directory size.</vt:lpstr>
      <vt:lpstr>Consider a direct mapped cache of size 16 KB with block size 256 bytes. The size of main memory is 128 KB. Find the number of bits in tag and Tag directory size.</vt:lpstr>
      <vt:lpstr>PowerPoint Presentation</vt:lpstr>
      <vt:lpstr>PowerPoint Presentation</vt:lpstr>
      <vt:lpstr>Problem-02: Consider a direct mapped cache of size 512 KB with block size 1 KB. There are 7 bits in the tag. Find Size of main memory, Tag directory size  and find to which cache  line block 127 will be mapped to?</vt:lpstr>
      <vt:lpstr>PowerPoint Presentation</vt:lpstr>
      <vt:lpstr>PowerPoint Presentation</vt:lpstr>
      <vt:lpstr>3. Consider a direct mapped cache with block size 4 KB. The size of main memory is 16 GB and there are 10 bits in the tag. Find the Size of cache memory and Tag directory size. </vt:lpstr>
      <vt:lpstr>Set Associative Mapping</vt:lpstr>
      <vt:lpstr>Set-Associative mapping</vt:lpstr>
      <vt:lpstr>Consider a 2-way set associative mapped cache of size 16 KB with block size 256 bytes. The size of main memory is 128 KB. Find Number of bits in tag and Tag directory size</vt:lpstr>
      <vt:lpstr>Consider a 2-way set associative mapped cache of size 16 KB with block size 256 bytes. The size of main memory is 128 KB. Find Number of bits in tag and Tag directory size</vt:lpstr>
      <vt:lpstr>Consider a 2-way set associative mapped cache of size 16 KB with block size 256 bytes. The size of main memory is 128 KB. Find Number of bits in tag and Tag directory size</vt:lpstr>
      <vt:lpstr>Consider a 2-way set associative mapped cache of size 16 KB with block size 256 bytes. The size of main memory is 128 KB. Find Number of bits in tag and Tag directory size</vt:lpstr>
      <vt:lpstr>Consider a 2-way set associative mapped cache of size 16 KB with block size 256 bytes. The size of main memory is 128 KB. Find Number of bits in tag and Tag directory size</vt:lpstr>
      <vt:lpstr>Fully Associative Mapping</vt:lpstr>
      <vt:lpstr>Associative mapping</vt:lpstr>
      <vt:lpstr>1.Consider a fully associative mapped cache of size 16 KB with block size 256 bytes. The size of main memory is 128 KB. Find the number of bits in tag, Tag directory size.</vt:lpstr>
      <vt:lpstr>Number of Bits in Block Offset</vt:lpstr>
      <vt:lpstr>Number of Lines in Cache</vt:lpstr>
      <vt:lpstr>2.Consider a fully associative mapped cache of size 512 KB with block size 1 KB. There are 17 bits in the tag. Find the size of main memory, Tag directory size</vt:lpstr>
      <vt:lpstr>                  Consider a fully associative mapped cache of size 512 KB with block size 1 KB. There are 17 bits in the tag. Find the size of main memory, Tag directory size</vt:lpstr>
      <vt:lpstr>PowerPoint Presentation</vt:lpstr>
      <vt:lpstr>PowerPoint Presentation</vt:lpstr>
      <vt:lpstr>Replacement Algorithms</vt:lpstr>
      <vt:lpstr>FIFO (First In First Out) </vt:lpstr>
      <vt:lpstr>FIFO (First In First Out) </vt:lpstr>
      <vt:lpstr>LRU (Least Recently Used) </vt:lpstr>
      <vt:lpstr>LRU (Least Recently Used) </vt:lpstr>
      <vt:lpstr>LFU (Least Frequently Used)</vt:lpstr>
      <vt:lpstr>LFU (Least Frequently Used)</vt:lpstr>
      <vt:lpstr>LFU (Least Frequently Used)</vt:lpstr>
      <vt:lpstr>Random Replacement</vt:lpstr>
      <vt:lpstr>Miss rate and Hit rate problems</vt:lpstr>
      <vt:lpstr>PowerPoint Presentation</vt:lpstr>
      <vt:lpstr>PowerPoint Presentation</vt:lpstr>
      <vt:lpstr>PowerPoint Presentation</vt:lpstr>
      <vt:lpstr>PowerPoint Presentation</vt:lpstr>
      <vt:lpstr>Problem2</vt:lpstr>
      <vt:lpstr>PowerPoint Presentation</vt:lpstr>
      <vt:lpstr>PowerPoint Presentation</vt:lpstr>
      <vt:lpstr>PowerPoint Presentation</vt:lpstr>
      <vt:lpstr>Average Memory access time Problem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 Memory  System Organization and Architecture</dc:title>
  <dc:creator>Admin</dc:creator>
  <cp:lastModifiedBy>Admin</cp:lastModifiedBy>
  <cp:revision>35</cp:revision>
  <dcterms:created xsi:type="dcterms:W3CDTF">2006-08-16T00:00:00Z</dcterms:created>
  <dcterms:modified xsi:type="dcterms:W3CDTF">2023-12-07T09:45:43Z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0x01010055A51192E2BE67408AE7FD61E966A672</vt:lpwstr>
  </property>
</Properties>
</file>