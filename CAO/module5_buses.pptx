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4"/>
  </p:sldMasterIdLst>
  <p:notesMasterIdLst>
    <p:notesMasterId r:id="rId15"/>
  </p:notesMasterIdLst>
  <p:sldIdLst>
    <p:sldId id="268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BEE07-8909-4DE8-95B1-B37B87BCAC57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66B3-1231-45F0-A2F8-B00376657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18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FB78-AEFE-469E-940C-654DD77FC3A2}" type="datetime1">
              <a:rPr lang="en-US" smtClean="0"/>
              <a:t>12/7/2023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377F-6E1E-47DD-86B2-A6A993FDAC12}" type="datetime1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3AE-E7DA-4CF0-9221-5625B6EC2B79}" type="datetime1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030E-12CD-4286-9E9C-555C455DAEBF}" type="datetime1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6CCC-E9A6-40ED-B281-996861FDFD2E}" type="datetime1">
              <a:rPr lang="en-US" smtClean="0"/>
              <a:t>12/7/2023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379B2-1F6E-4E16-B47F-7539BFE7249C}" type="datetime1">
              <a:rPr lang="en-US" smtClean="0"/>
              <a:t>12/7/2023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328A-970F-4F19-9539-AAE94BCFD086}" type="datetime1">
              <a:rPr lang="en-US" smtClean="0"/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82CF-37A5-4BA0-9C74-AEFF4E43F365}" type="datetime1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8249A-0478-4634-B9B0-CB4D1AB05CCE}" type="datetime1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A1E6-0E4E-4E20-AFDC-FA9CAF671E3F}" type="datetime1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9F30-5151-4AA0-A003-63C8B0917A03}" type="datetime1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E5C8F84-76F9-40CA-B23E-123B984B5569}" type="datetime1">
              <a:rPr lang="en-US" smtClean="0"/>
              <a:t>12/7/2023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marL="38100">
              <a:lnSpc>
                <a:spcPts val="1245"/>
              </a:lnSpc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5- Buses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3657600"/>
            <a:ext cx="9875520" cy="1752600"/>
          </a:xfrm>
        </p:spPr>
        <p:txBody>
          <a:bodyPr/>
          <a:lstStyle/>
          <a:p>
            <a:pPr marL="484632" indent="-457200">
              <a:buFont typeface="Arial" pitchFamily="34" charset="0"/>
              <a:buChar char="•"/>
            </a:pPr>
            <a:r>
              <a:rPr lang="en-US" dirty="0"/>
              <a:t>Synchronous bus</a:t>
            </a:r>
          </a:p>
          <a:p>
            <a:pPr marL="484632" indent="-457200">
              <a:buFont typeface="Arial" pitchFamily="34" charset="0"/>
              <a:buChar char="•"/>
            </a:pPr>
            <a:r>
              <a:rPr lang="en-US" dirty="0"/>
              <a:t>Asynchronous bus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5"/>
              </a:lnSpc>
            </a:pPr>
            <a:r>
              <a:rPr lang="fr-FR" spc="40"/>
              <a:t>Dr. Ilavarasi A K , VIT Chennai</a:t>
            </a:r>
            <a:endParaRPr lang="fr-FR" spc="-15" dirty="0"/>
          </a:p>
        </p:txBody>
      </p:sp>
    </p:spTree>
    <p:extLst>
      <p:ext uri="{BB962C8B-B14F-4D97-AF65-F5344CB8AC3E}">
        <p14:creationId xmlns:p14="http://schemas.microsoft.com/office/powerpoint/2010/main" val="2151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3295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0" dirty="0">
                <a:solidFill>
                  <a:srgbClr val="000000"/>
                </a:solidFill>
              </a:rPr>
              <a:t>Introduction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sp>
        <p:nvSpPr>
          <p:cNvPr id="5" name="object 5"/>
          <p:cNvSpPr txBox="1"/>
          <p:nvPr/>
        </p:nvSpPr>
        <p:spPr>
          <a:xfrm>
            <a:off x="11166475" y="6464360"/>
            <a:ext cx="1098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5" dirty="0">
                <a:solidFill>
                  <a:srgbClr val="888888"/>
                </a:solidFill>
                <a:latin typeface="Cambria"/>
                <a:cs typeface="Cambria"/>
              </a:rPr>
              <a:t>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337817"/>
            <a:ext cx="10358120" cy="45104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  <a:tab pos="1646555" algn="l"/>
                <a:tab pos="2449195" algn="l"/>
                <a:tab pos="3703954" algn="l"/>
                <a:tab pos="4339590" algn="l"/>
                <a:tab pos="4976495" algn="l"/>
                <a:tab pos="6038850" algn="l"/>
                <a:tab pos="7477759" algn="l"/>
                <a:tab pos="7938134" algn="l"/>
                <a:tab pos="8248015" algn="l"/>
                <a:tab pos="9503410" algn="l"/>
                <a:tab pos="10107295" algn="l"/>
              </a:tabLst>
            </a:pPr>
            <a:r>
              <a:rPr sz="2400" spc="-150" dirty="0">
                <a:latin typeface="Cambria"/>
                <a:cs typeface="Cambria"/>
              </a:rPr>
              <a:t>P</a:t>
            </a:r>
            <a:r>
              <a:rPr sz="2400" spc="-85" dirty="0">
                <a:latin typeface="Cambria"/>
                <a:cs typeface="Cambria"/>
              </a:rPr>
              <a:t>r</a:t>
            </a:r>
            <a:r>
              <a:rPr sz="2400" spc="-45" dirty="0">
                <a:latin typeface="Cambria"/>
                <a:cs typeface="Cambria"/>
              </a:rPr>
              <a:t>o</a:t>
            </a:r>
            <a:r>
              <a:rPr sz="2400" spc="-35" dirty="0">
                <a:latin typeface="Cambria"/>
                <a:cs typeface="Cambria"/>
              </a:rPr>
              <a:t>c</a:t>
            </a:r>
            <a:r>
              <a:rPr sz="2400" spc="-150" dirty="0">
                <a:latin typeface="Cambria"/>
                <a:cs typeface="Cambria"/>
              </a:rPr>
              <a:t>e</a:t>
            </a:r>
            <a:r>
              <a:rPr sz="2400" spc="-125" dirty="0">
                <a:latin typeface="Cambria"/>
                <a:cs typeface="Cambria"/>
              </a:rPr>
              <a:t>s</a:t>
            </a:r>
            <a:r>
              <a:rPr sz="2400" spc="-130" dirty="0">
                <a:latin typeface="Cambria"/>
                <a:cs typeface="Cambria"/>
              </a:rPr>
              <a:t>so</a:t>
            </a:r>
            <a:r>
              <a:rPr sz="2400" spc="-200" dirty="0">
                <a:latin typeface="Cambria"/>
                <a:cs typeface="Cambria"/>
              </a:rPr>
              <a:t>r</a:t>
            </a:r>
            <a:r>
              <a:rPr sz="2400" spc="80" dirty="0">
                <a:latin typeface="Cambria"/>
                <a:cs typeface="Cambria"/>
              </a:rPr>
              <a:t>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45" dirty="0">
                <a:latin typeface="Cambria"/>
                <a:cs typeface="Cambria"/>
              </a:rPr>
              <a:t>mai</a:t>
            </a:r>
            <a:r>
              <a:rPr sz="2400" spc="-40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90" dirty="0">
                <a:latin typeface="Cambria"/>
                <a:cs typeface="Cambria"/>
              </a:rPr>
              <a:t>me</a:t>
            </a:r>
            <a:r>
              <a:rPr sz="2400" spc="-100" dirty="0">
                <a:latin typeface="Cambria"/>
                <a:cs typeface="Cambria"/>
              </a:rPr>
              <a:t>m</a:t>
            </a:r>
            <a:r>
              <a:rPr sz="2400" spc="-80" dirty="0">
                <a:latin typeface="Cambria"/>
                <a:cs typeface="Cambria"/>
              </a:rPr>
              <a:t>o</a:t>
            </a:r>
            <a:r>
              <a:rPr sz="2400" spc="-50" dirty="0">
                <a:latin typeface="Cambria"/>
                <a:cs typeface="Cambria"/>
              </a:rPr>
              <a:t>r</a:t>
            </a:r>
            <a:r>
              <a:rPr sz="2400" spc="-300" dirty="0">
                <a:latin typeface="Cambria"/>
                <a:cs typeface="Cambria"/>
              </a:rPr>
              <a:t>y</a:t>
            </a:r>
            <a:r>
              <a:rPr sz="2400" spc="80" dirty="0">
                <a:latin typeface="Cambria"/>
                <a:cs typeface="Cambria"/>
              </a:rPr>
              <a:t>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spc="-5" dirty="0">
                <a:latin typeface="Cambria"/>
                <a:cs typeface="Cambria"/>
              </a:rPr>
              <a:t>/</a:t>
            </a:r>
            <a:r>
              <a:rPr sz="2400" spc="180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10" dirty="0">
                <a:latin typeface="Cambria"/>
                <a:cs typeface="Cambria"/>
              </a:rPr>
              <a:t>d</a:t>
            </a:r>
            <a:r>
              <a:rPr sz="2400" spc="-130" dirty="0">
                <a:latin typeface="Cambria"/>
                <a:cs typeface="Cambria"/>
              </a:rPr>
              <a:t>e</a:t>
            </a:r>
            <a:r>
              <a:rPr sz="2400" spc="-20" dirty="0">
                <a:latin typeface="Cambria"/>
                <a:cs typeface="Cambria"/>
              </a:rPr>
              <a:t>vi</a:t>
            </a:r>
            <a:r>
              <a:rPr sz="2400" spc="-35" dirty="0">
                <a:latin typeface="Cambria"/>
                <a:cs typeface="Cambria"/>
              </a:rPr>
              <a:t>c</a:t>
            </a:r>
            <a:r>
              <a:rPr sz="2400" spc="-140" dirty="0">
                <a:latin typeface="Cambria"/>
                <a:cs typeface="Cambria"/>
              </a:rPr>
              <a:t>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60" dirty="0">
                <a:latin typeface="Cambria"/>
                <a:cs typeface="Cambria"/>
              </a:rPr>
              <a:t>connected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35" dirty="0">
                <a:latin typeface="Cambria"/>
                <a:cs typeface="Cambria"/>
              </a:rPr>
              <a:t>b</a:t>
            </a:r>
            <a:r>
              <a:rPr sz="2400" spc="-85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5" dirty="0">
                <a:latin typeface="Cambria"/>
                <a:cs typeface="Cambria"/>
              </a:rPr>
              <a:t>com</a:t>
            </a:r>
            <a:r>
              <a:rPr sz="2400" spc="-95" dirty="0">
                <a:latin typeface="Cambria"/>
                <a:cs typeface="Cambria"/>
              </a:rPr>
              <a:t>m</a:t>
            </a:r>
            <a:r>
              <a:rPr sz="2400" spc="-60" dirty="0">
                <a:latin typeface="Cambria"/>
                <a:cs typeface="Cambria"/>
              </a:rPr>
              <a:t>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70" dirty="0">
                <a:latin typeface="Cambria"/>
                <a:cs typeface="Cambria"/>
              </a:rPr>
              <a:t>b</a:t>
            </a:r>
            <a:r>
              <a:rPr sz="2400" spc="-95" dirty="0">
                <a:latin typeface="Cambria"/>
                <a:cs typeface="Cambria"/>
              </a:rPr>
              <a:t>u</a:t>
            </a:r>
            <a:r>
              <a:rPr sz="2400" spc="-70" dirty="0">
                <a:latin typeface="Cambria"/>
                <a:cs typeface="Cambria"/>
              </a:rPr>
              <a:t>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85" dirty="0">
                <a:latin typeface="Cambria"/>
                <a:cs typeface="Cambria"/>
              </a:rPr>
              <a:t>to  </a:t>
            </a:r>
            <a:r>
              <a:rPr sz="2400" spc="-75" dirty="0">
                <a:latin typeface="Cambria"/>
                <a:cs typeface="Cambria"/>
              </a:rPr>
              <a:t>provide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communication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path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for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transfer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10" dirty="0">
                <a:latin typeface="Cambria"/>
                <a:cs typeface="Cambria"/>
              </a:rPr>
              <a:t>Bus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protocol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10" dirty="0">
                <a:latin typeface="Tahoma"/>
                <a:cs typeface="Tahoma"/>
              </a:rPr>
              <a:t>–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130" dirty="0">
                <a:latin typeface="Cambria"/>
                <a:cs typeface="Cambria"/>
              </a:rPr>
              <a:t>set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rules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that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govern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behaviour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devices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connected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ts val="2735"/>
              </a:lnSpc>
            </a:pPr>
            <a:r>
              <a:rPr sz="2400" spc="-65" dirty="0">
                <a:latin typeface="Cambria"/>
                <a:cs typeface="Cambria"/>
              </a:rPr>
              <a:t>bus,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like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when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place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information,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assert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control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signals,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etc.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80" dirty="0">
                <a:latin typeface="Cambria"/>
                <a:cs typeface="Cambria"/>
              </a:rPr>
              <a:t>Three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types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lines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4" dirty="0">
                <a:latin typeface="Tahoma"/>
                <a:cs typeface="Tahoma"/>
              </a:rPr>
              <a:t>–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85" dirty="0">
                <a:latin typeface="Cambria"/>
                <a:cs typeface="Cambria"/>
              </a:rPr>
              <a:t>address,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data,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control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5" dirty="0">
                <a:latin typeface="Cambria"/>
                <a:cs typeface="Cambria"/>
              </a:rPr>
              <a:t>Co</a:t>
            </a:r>
            <a:r>
              <a:rPr sz="2400" spc="-5" dirty="0">
                <a:latin typeface="Cambria"/>
                <a:cs typeface="Cambria"/>
              </a:rPr>
              <a:t>n</a:t>
            </a:r>
            <a:r>
              <a:rPr sz="2400" spc="-70" dirty="0">
                <a:latin typeface="Cambria"/>
                <a:cs typeface="Cambria"/>
              </a:rPr>
              <a:t>t</a:t>
            </a:r>
            <a:r>
              <a:rPr sz="2400" spc="-75" dirty="0">
                <a:latin typeface="Cambria"/>
                <a:cs typeface="Cambria"/>
              </a:rPr>
              <a:t>r</a:t>
            </a:r>
            <a:r>
              <a:rPr sz="2400" spc="-50" dirty="0">
                <a:latin typeface="Cambria"/>
                <a:cs typeface="Cambria"/>
              </a:rPr>
              <a:t>ol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55" dirty="0">
                <a:latin typeface="Cambria"/>
                <a:cs typeface="Cambria"/>
              </a:rPr>
              <a:t>s</a:t>
            </a:r>
            <a:r>
              <a:rPr sz="2400" spc="-12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g</a:t>
            </a:r>
            <a:r>
              <a:rPr sz="2400" spc="-10" dirty="0">
                <a:latin typeface="Cambria"/>
                <a:cs typeface="Cambria"/>
              </a:rPr>
              <a:t>n</a:t>
            </a:r>
            <a:r>
              <a:rPr sz="2400" spc="-70" dirty="0">
                <a:latin typeface="Cambria"/>
                <a:cs typeface="Cambria"/>
              </a:rPr>
              <a:t>als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10" dirty="0">
                <a:latin typeface="Tahoma"/>
                <a:cs typeface="Tahoma"/>
              </a:rPr>
              <a:t>–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80" dirty="0">
                <a:latin typeface="Cambria"/>
                <a:cs typeface="Cambria"/>
              </a:rPr>
              <a:t>Read/</a:t>
            </a:r>
            <a:r>
              <a:rPr sz="2400" spc="-45" dirty="0">
                <a:latin typeface="Cambria"/>
                <a:cs typeface="Cambria"/>
              </a:rPr>
              <a:t>W</a:t>
            </a:r>
            <a:r>
              <a:rPr sz="2400" spc="-60" dirty="0">
                <a:latin typeface="Cambria"/>
                <a:cs typeface="Cambria"/>
              </a:rPr>
              <a:t>ri</a:t>
            </a:r>
            <a:r>
              <a:rPr sz="2400" spc="-75" dirty="0">
                <a:latin typeface="Cambria"/>
                <a:cs typeface="Cambria"/>
              </a:rPr>
              <a:t>t</a:t>
            </a:r>
            <a:r>
              <a:rPr sz="2400" spc="-175" dirty="0">
                <a:latin typeface="Cambria"/>
                <a:cs typeface="Cambria"/>
              </a:rPr>
              <a:t>e</a:t>
            </a:r>
            <a:r>
              <a:rPr sz="2400" spc="80" dirty="0">
                <a:latin typeface="Cambria"/>
                <a:cs typeface="Cambria"/>
              </a:rPr>
              <a:t>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size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o</a:t>
            </a:r>
            <a:r>
              <a:rPr sz="2400" spc="-30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5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da</a:t>
            </a:r>
            <a:r>
              <a:rPr sz="2400" spc="-70" dirty="0">
                <a:latin typeface="Cambria"/>
                <a:cs typeface="Cambria"/>
              </a:rPr>
              <a:t>t</a:t>
            </a:r>
            <a:r>
              <a:rPr sz="2400" spc="15" dirty="0">
                <a:latin typeface="Cambria"/>
                <a:cs typeface="Cambria"/>
              </a:rPr>
              <a:t>a,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tim</a:t>
            </a:r>
            <a:r>
              <a:rPr sz="2400" spc="-40" dirty="0">
                <a:latin typeface="Cambria"/>
                <a:cs typeface="Cambria"/>
              </a:rPr>
              <a:t>i</a:t>
            </a:r>
            <a:r>
              <a:rPr sz="2400" spc="-120" dirty="0">
                <a:latin typeface="Cambria"/>
                <a:cs typeface="Cambria"/>
              </a:rPr>
              <a:t>n</a:t>
            </a:r>
            <a:r>
              <a:rPr sz="2400" spc="15" dirty="0">
                <a:latin typeface="Cambria"/>
                <a:cs typeface="Cambria"/>
              </a:rPr>
              <a:t>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spc="-30" dirty="0">
                <a:latin typeface="Cambria"/>
                <a:cs typeface="Cambria"/>
              </a:rPr>
              <a:t>n</a:t>
            </a: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-80" dirty="0">
                <a:latin typeface="Cambria"/>
                <a:cs typeface="Cambria"/>
              </a:rPr>
              <a:t>o</a:t>
            </a:r>
            <a:r>
              <a:rPr sz="2400" spc="-50" dirty="0">
                <a:latin typeface="Cambria"/>
                <a:cs typeface="Cambria"/>
              </a:rPr>
              <a:t>r</a:t>
            </a:r>
            <a:r>
              <a:rPr sz="2400" spc="-100" dirty="0">
                <a:latin typeface="Cambria"/>
                <a:cs typeface="Cambria"/>
              </a:rPr>
              <a:t>ma</a:t>
            </a:r>
            <a:r>
              <a:rPr sz="2400" spc="-65" dirty="0">
                <a:latin typeface="Cambria"/>
                <a:cs typeface="Cambria"/>
              </a:rPr>
              <a:t>t</a:t>
            </a:r>
            <a:r>
              <a:rPr sz="2400" spc="-45" dirty="0">
                <a:latin typeface="Cambria"/>
                <a:cs typeface="Cambria"/>
              </a:rPr>
              <a:t>ion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14" dirty="0">
                <a:latin typeface="Cambria"/>
                <a:cs typeface="Cambria"/>
              </a:rPr>
              <a:t>Bus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master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14" dirty="0">
                <a:latin typeface="Tahoma"/>
                <a:cs typeface="Tahoma"/>
              </a:rPr>
              <a:t>–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75" dirty="0">
                <a:latin typeface="Cambria"/>
                <a:cs typeface="Cambria"/>
              </a:rPr>
              <a:t>initiates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transfers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(also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called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initiator)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14" dirty="0">
                <a:latin typeface="Tahoma"/>
                <a:cs typeface="Tahoma"/>
              </a:rPr>
              <a:t>–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85" dirty="0">
                <a:latin typeface="Cambria"/>
                <a:cs typeface="Cambria"/>
              </a:rPr>
              <a:t>processor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or</a:t>
            </a:r>
            <a:r>
              <a:rPr sz="2400" spc="75" dirty="0">
                <a:latin typeface="Cambria"/>
                <a:cs typeface="Cambria"/>
              </a:rPr>
              <a:t> DMAC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90" dirty="0">
                <a:latin typeface="Cambria"/>
                <a:cs typeface="Cambria"/>
              </a:rPr>
              <a:t>Slave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or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target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14" dirty="0">
                <a:latin typeface="Tahoma"/>
                <a:cs typeface="Tahoma"/>
              </a:rPr>
              <a:t>–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70" dirty="0">
                <a:latin typeface="Cambria"/>
                <a:cs typeface="Cambria"/>
              </a:rPr>
              <a:t>device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addressed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by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master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90" dirty="0">
                <a:latin typeface="Cambria"/>
                <a:cs typeface="Cambria"/>
              </a:rPr>
              <a:t>Schemes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for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timing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transfers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over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65" dirty="0">
                <a:latin typeface="Cambria"/>
                <a:cs typeface="Cambria"/>
              </a:rPr>
              <a:t>Synchronous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65" dirty="0">
                <a:latin typeface="Cambria"/>
                <a:cs typeface="Cambria"/>
              </a:rPr>
              <a:t>Asynchronous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8578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10" dirty="0">
                <a:solidFill>
                  <a:srgbClr val="000000"/>
                </a:solidFill>
              </a:rPr>
              <a:t>Synchronous</a:t>
            </a:r>
            <a:r>
              <a:rPr sz="4400" spc="225" dirty="0">
                <a:solidFill>
                  <a:srgbClr val="000000"/>
                </a:solidFill>
              </a:rPr>
              <a:t> </a:t>
            </a:r>
            <a:r>
              <a:rPr sz="4400" spc="165" dirty="0">
                <a:solidFill>
                  <a:srgbClr val="000000"/>
                </a:solidFill>
              </a:rPr>
              <a:t>Bus</a:t>
            </a:r>
            <a:r>
              <a:rPr sz="4400" spc="240" dirty="0">
                <a:solidFill>
                  <a:srgbClr val="000000"/>
                </a:solidFill>
              </a:rPr>
              <a:t> </a:t>
            </a:r>
            <a:r>
              <a:rPr sz="4400" i="1" spc="1635" dirty="0">
                <a:solidFill>
                  <a:srgbClr val="000000"/>
                </a:solidFill>
                <a:latin typeface="Trebuchet MS"/>
                <a:cs typeface="Trebuchet MS"/>
              </a:rPr>
              <a:t>–</a:t>
            </a:r>
            <a:r>
              <a:rPr sz="4400" i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400" spc="65" dirty="0">
                <a:solidFill>
                  <a:srgbClr val="000000"/>
                </a:solidFill>
              </a:rPr>
              <a:t>Introduction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310386"/>
            <a:ext cx="10359390" cy="4559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mbria"/>
                <a:cs typeface="Cambria"/>
              </a:rPr>
              <a:t>All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devices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derive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timing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information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from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common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clock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line.</a:t>
            </a:r>
            <a:endParaRPr sz="2400">
              <a:latin typeface="Cambria"/>
              <a:cs typeface="Cambria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75" dirty="0">
                <a:latin typeface="Cambria"/>
                <a:cs typeface="Cambria"/>
              </a:rPr>
              <a:t>This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clock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is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not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necessarily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processor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clock.</a:t>
            </a:r>
            <a:endParaRPr sz="2400">
              <a:latin typeface="Cambria"/>
              <a:cs typeface="Cambria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75" dirty="0">
                <a:latin typeface="Cambria"/>
                <a:cs typeface="Cambria"/>
              </a:rPr>
              <a:t>Equally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spaced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pulses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this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line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define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equal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time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intervals.</a:t>
            </a:r>
            <a:endParaRPr sz="2400">
              <a:latin typeface="Cambria"/>
              <a:cs typeface="Cambria"/>
            </a:endParaRPr>
          </a:p>
          <a:p>
            <a:pPr marL="698500" marR="6985" lvl="1" indent="-22860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80" dirty="0">
                <a:latin typeface="Cambria"/>
                <a:cs typeface="Cambria"/>
              </a:rPr>
              <a:t>Each </a:t>
            </a:r>
            <a:r>
              <a:rPr sz="2400" spc="-50" dirty="0">
                <a:latin typeface="Cambria"/>
                <a:cs typeface="Cambria"/>
              </a:rPr>
              <a:t>interval </a:t>
            </a:r>
            <a:r>
              <a:rPr sz="2400" spc="-85" dirty="0">
                <a:latin typeface="Cambria"/>
                <a:cs typeface="Cambria"/>
              </a:rPr>
              <a:t>constitutes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spc="-75" dirty="0">
                <a:latin typeface="Cambria"/>
                <a:cs typeface="Cambria"/>
              </a:rPr>
              <a:t>bus </a:t>
            </a:r>
            <a:r>
              <a:rPr sz="2400" spc="-65" dirty="0">
                <a:latin typeface="Cambria"/>
                <a:cs typeface="Cambria"/>
              </a:rPr>
              <a:t>cycle </a:t>
            </a:r>
            <a:r>
              <a:rPr sz="2400" spc="-45" dirty="0">
                <a:latin typeface="Cambria"/>
                <a:cs typeface="Cambria"/>
              </a:rPr>
              <a:t>during </a:t>
            </a:r>
            <a:r>
              <a:rPr sz="2400" spc="-35" dirty="0">
                <a:latin typeface="Cambria"/>
                <a:cs typeface="Cambria"/>
              </a:rPr>
              <a:t>which </a:t>
            </a:r>
            <a:r>
              <a:rPr sz="2400" spc="-80" dirty="0">
                <a:latin typeface="Cambria"/>
                <a:cs typeface="Cambria"/>
              </a:rPr>
              <a:t>one </a:t>
            </a:r>
            <a:r>
              <a:rPr sz="2400" spc="-75" dirty="0">
                <a:latin typeface="Cambria"/>
                <a:cs typeface="Cambria"/>
              </a:rPr>
              <a:t>data </a:t>
            </a:r>
            <a:r>
              <a:rPr sz="2400" spc="-70" dirty="0">
                <a:latin typeface="Cambria"/>
                <a:cs typeface="Cambria"/>
              </a:rPr>
              <a:t>transfer </a:t>
            </a:r>
            <a:r>
              <a:rPr sz="2400" spc="-95" dirty="0">
                <a:latin typeface="Cambria"/>
                <a:cs typeface="Cambria"/>
              </a:rPr>
              <a:t>may take 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place.</a:t>
            </a:r>
            <a:endParaRPr sz="24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85" dirty="0">
                <a:latin typeface="Cambria"/>
                <a:cs typeface="Cambria"/>
              </a:rPr>
              <a:t>Note:</a:t>
            </a:r>
            <a:endParaRPr sz="2400">
              <a:latin typeface="Cambria"/>
              <a:cs typeface="Cambria"/>
            </a:endParaRPr>
          </a:p>
          <a:p>
            <a:pPr marL="698500" marR="5080" lvl="1" indent="-228600" algn="just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40" dirty="0">
                <a:latin typeface="Cambria"/>
                <a:cs typeface="Cambria"/>
              </a:rPr>
              <a:t>In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timing </a:t>
            </a:r>
            <a:r>
              <a:rPr sz="2400" spc="-40" dirty="0">
                <a:latin typeface="Cambria"/>
                <a:cs typeface="Cambria"/>
              </a:rPr>
              <a:t>diagram, </a:t>
            </a:r>
            <a:r>
              <a:rPr sz="2400" spc="-100" dirty="0">
                <a:latin typeface="Cambria"/>
                <a:cs typeface="Cambria"/>
              </a:rPr>
              <a:t>address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lines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are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shown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as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high </a:t>
            </a:r>
            <a:r>
              <a:rPr sz="2400" spc="-50" dirty="0">
                <a:latin typeface="Cambria"/>
                <a:cs typeface="Cambria"/>
              </a:rPr>
              <a:t>and </a:t>
            </a:r>
            <a:r>
              <a:rPr sz="2400" spc="-60" dirty="0">
                <a:latin typeface="Cambria"/>
                <a:cs typeface="Cambria"/>
              </a:rPr>
              <a:t>low </a:t>
            </a:r>
            <a:r>
              <a:rPr sz="2400" spc="-75" dirty="0">
                <a:latin typeface="Cambria"/>
                <a:cs typeface="Cambria"/>
              </a:rPr>
              <a:t>at 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 </a:t>
            </a:r>
            <a:r>
              <a:rPr sz="2400" spc="-100" dirty="0">
                <a:latin typeface="Cambria"/>
                <a:cs typeface="Cambria"/>
              </a:rPr>
              <a:t>same </a:t>
            </a:r>
            <a:r>
              <a:rPr sz="2400" spc="-85" dirty="0">
                <a:latin typeface="Cambria"/>
                <a:cs typeface="Cambria"/>
              </a:rPr>
              <a:t>time </a:t>
            </a:r>
            <a:r>
              <a:rPr sz="2400" spc="-65" dirty="0">
                <a:latin typeface="Cambria"/>
                <a:cs typeface="Cambria"/>
              </a:rPr>
              <a:t>since </a:t>
            </a:r>
            <a:r>
              <a:rPr sz="2400" spc="-120" dirty="0">
                <a:latin typeface="Cambria"/>
                <a:cs typeface="Cambria"/>
              </a:rPr>
              <a:t>some </a:t>
            </a:r>
            <a:r>
              <a:rPr sz="2400" spc="-65" dirty="0">
                <a:latin typeface="Cambria"/>
                <a:cs typeface="Cambria"/>
              </a:rPr>
              <a:t>lines </a:t>
            </a:r>
            <a:r>
              <a:rPr sz="2400" spc="-95" dirty="0">
                <a:latin typeface="Cambria"/>
                <a:cs typeface="Cambria"/>
              </a:rPr>
              <a:t>may </a:t>
            </a:r>
            <a:r>
              <a:rPr sz="2400" spc="-110" dirty="0">
                <a:latin typeface="Cambria"/>
                <a:cs typeface="Cambria"/>
              </a:rPr>
              <a:t>be </a:t>
            </a:r>
            <a:r>
              <a:rPr sz="2400" spc="-30" dirty="0">
                <a:latin typeface="Cambria"/>
                <a:cs typeface="Cambria"/>
              </a:rPr>
              <a:t>high </a:t>
            </a:r>
            <a:r>
              <a:rPr sz="2400" spc="-55" dirty="0">
                <a:latin typeface="Cambria"/>
                <a:cs typeface="Cambria"/>
              </a:rPr>
              <a:t>and </a:t>
            </a:r>
            <a:r>
              <a:rPr sz="2400" spc="-114" dirty="0">
                <a:latin typeface="Cambria"/>
                <a:cs typeface="Cambria"/>
              </a:rPr>
              <a:t>some </a:t>
            </a:r>
            <a:r>
              <a:rPr sz="2400" spc="-90" dirty="0">
                <a:latin typeface="Cambria"/>
                <a:cs typeface="Cambria"/>
              </a:rPr>
              <a:t>may </a:t>
            </a:r>
            <a:r>
              <a:rPr sz="2400" spc="-110" dirty="0">
                <a:latin typeface="Cambria"/>
                <a:cs typeface="Cambria"/>
              </a:rPr>
              <a:t>be </a:t>
            </a:r>
            <a:r>
              <a:rPr sz="2400" spc="-85" dirty="0">
                <a:latin typeface="Cambria"/>
                <a:cs typeface="Cambria"/>
              </a:rPr>
              <a:t>low. </a:t>
            </a:r>
            <a:r>
              <a:rPr sz="2400" spc="-55" dirty="0">
                <a:latin typeface="Cambria"/>
                <a:cs typeface="Cambria"/>
              </a:rPr>
              <a:t>Crossing 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points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indicate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when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values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change.</a:t>
            </a:r>
            <a:endParaRPr sz="2400">
              <a:latin typeface="Cambria"/>
              <a:cs typeface="Cambria"/>
            </a:endParaRPr>
          </a:p>
          <a:p>
            <a:pPr marL="698500" marR="5715" lvl="1" indent="-22860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75" dirty="0">
                <a:latin typeface="Cambria"/>
                <a:cs typeface="Cambria"/>
              </a:rPr>
              <a:t>Indeterminate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or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high-impedance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14" dirty="0">
                <a:latin typeface="Cambria"/>
                <a:cs typeface="Cambria"/>
              </a:rPr>
              <a:t>state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14" dirty="0">
                <a:latin typeface="Tahoma"/>
                <a:cs typeface="Tahoma"/>
              </a:rPr>
              <a:t>– </a:t>
            </a:r>
            <a:r>
              <a:rPr sz="2400" spc="-75" dirty="0">
                <a:latin typeface="Cambria"/>
                <a:cs typeface="Cambria"/>
              </a:rPr>
              <a:t>intermediate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level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between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high 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low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signal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levels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7682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70" dirty="0">
                <a:solidFill>
                  <a:srgbClr val="000000"/>
                </a:solidFill>
              </a:rPr>
              <a:t>Single</a:t>
            </a:r>
            <a:r>
              <a:rPr sz="4400" spc="250" dirty="0">
                <a:solidFill>
                  <a:srgbClr val="000000"/>
                </a:solidFill>
              </a:rPr>
              <a:t> </a:t>
            </a:r>
            <a:r>
              <a:rPr sz="4400" spc="30" dirty="0">
                <a:solidFill>
                  <a:srgbClr val="000000"/>
                </a:solidFill>
              </a:rPr>
              <a:t>Cycle</a:t>
            </a:r>
            <a:r>
              <a:rPr sz="4400" spc="245" dirty="0">
                <a:solidFill>
                  <a:srgbClr val="000000"/>
                </a:solidFill>
              </a:rPr>
              <a:t> </a:t>
            </a:r>
            <a:r>
              <a:rPr sz="4400" spc="175" dirty="0">
                <a:solidFill>
                  <a:srgbClr val="000000"/>
                </a:solidFill>
              </a:rPr>
              <a:t>Transfer</a:t>
            </a:r>
            <a:r>
              <a:rPr sz="4400" spc="229" dirty="0">
                <a:solidFill>
                  <a:srgbClr val="000000"/>
                </a:solidFill>
              </a:rPr>
              <a:t> </a:t>
            </a:r>
            <a:r>
              <a:rPr sz="4400" i="1" spc="1635" dirty="0">
                <a:solidFill>
                  <a:srgbClr val="000000"/>
                </a:solidFill>
                <a:latin typeface="Trebuchet MS"/>
                <a:cs typeface="Trebuchet MS"/>
              </a:rPr>
              <a:t>–</a:t>
            </a:r>
            <a:r>
              <a:rPr sz="4400" i="1" spc="-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400" spc="50" dirty="0">
                <a:solidFill>
                  <a:srgbClr val="000000"/>
                </a:solidFill>
              </a:rPr>
              <a:t>Read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" y="1376172"/>
            <a:ext cx="7356348" cy="48326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95743" y="1369898"/>
            <a:ext cx="4248785" cy="4720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spc="10" dirty="0">
                <a:latin typeface="Cambria Math"/>
                <a:cs typeface="Cambria Math"/>
              </a:rPr>
              <a:t>𝑡</a:t>
            </a:r>
            <a:r>
              <a:rPr sz="2400" spc="15" baseline="-15625" dirty="0">
                <a:latin typeface="Cambria Math"/>
                <a:cs typeface="Cambria Math"/>
              </a:rPr>
              <a:t>0</a:t>
            </a:r>
            <a:r>
              <a:rPr sz="2200" spc="10" dirty="0">
                <a:latin typeface="Cambria"/>
                <a:cs typeface="Cambria"/>
              </a:rPr>
              <a:t>: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Master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places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address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and</a:t>
            </a:r>
            <a:endParaRPr sz="2200">
              <a:latin typeface="Cambria"/>
              <a:cs typeface="Cambria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sz="2200" spc="-70" dirty="0">
                <a:latin typeface="Cambria"/>
                <a:cs typeface="Cambria"/>
              </a:rPr>
              <a:t>commands</a:t>
            </a:r>
            <a:endParaRPr sz="2200">
              <a:latin typeface="Cambria"/>
              <a:cs typeface="Cambria"/>
            </a:endParaRPr>
          </a:p>
          <a:p>
            <a:pPr marL="431800" indent="-342900">
              <a:lnSpc>
                <a:spcPct val="100000"/>
              </a:lnSpc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spc="-10" dirty="0">
                <a:latin typeface="Cambria Math"/>
                <a:cs typeface="Cambria Math"/>
              </a:rPr>
              <a:t>𝑡</a:t>
            </a:r>
            <a:r>
              <a:rPr sz="2400" spc="-15" baseline="-15625" dirty="0">
                <a:latin typeface="Cambria Math"/>
                <a:cs typeface="Cambria Math"/>
              </a:rPr>
              <a:t>1</a:t>
            </a:r>
            <a:r>
              <a:rPr sz="2200" spc="-10" dirty="0">
                <a:latin typeface="Cambria"/>
                <a:cs typeface="Cambria"/>
              </a:rPr>
              <a:t>: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Slave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transfers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data</a:t>
            </a:r>
            <a:endParaRPr sz="2200">
              <a:latin typeface="Cambria"/>
              <a:cs typeface="Cambria"/>
            </a:endParaRPr>
          </a:p>
          <a:p>
            <a:pPr marL="431800" marR="511809" indent="-342900">
              <a:lnSpc>
                <a:spcPct val="100000"/>
              </a:lnSpc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spc="-25" dirty="0">
                <a:latin typeface="Cambria Math"/>
                <a:cs typeface="Cambria Math"/>
              </a:rPr>
              <a:t>𝑡</a:t>
            </a:r>
            <a:r>
              <a:rPr sz="2400" spc="-37" baseline="-15625" dirty="0">
                <a:latin typeface="Cambria Math"/>
                <a:cs typeface="Cambria Math"/>
              </a:rPr>
              <a:t>1</a:t>
            </a:r>
            <a:r>
              <a:rPr sz="2400" spc="-30" baseline="-1562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− </a:t>
            </a:r>
            <a:r>
              <a:rPr sz="2200" dirty="0">
                <a:latin typeface="Cambria Math"/>
                <a:cs typeface="Cambria Math"/>
              </a:rPr>
              <a:t>𝑡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7" baseline="-15625" dirty="0">
                <a:latin typeface="Cambria Math"/>
                <a:cs typeface="Cambria Math"/>
              </a:rPr>
              <a:t> </a:t>
            </a:r>
            <a:r>
              <a:rPr sz="2200" spc="245" dirty="0">
                <a:latin typeface="Cambria"/>
                <a:cs typeface="Cambria"/>
              </a:rPr>
              <a:t>&gt; </a:t>
            </a:r>
            <a:r>
              <a:rPr sz="2200" spc="-75" dirty="0">
                <a:latin typeface="Cambria"/>
                <a:cs typeface="Cambria"/>
              </a:rPr>
              <a:t>the </a:t>
            </a:r>
            <a:r>
              <a:rPr sz="2200" spc="-30" dirty="0">
                <a:latin typeface="Cambria"/>
                <a:cs typeface="Cambria"/>
              </a:rPr>
              <a:t>maximum 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propagation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delay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between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2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devices</a:t>
            </a:r>
            <a:endParaRPr sz="2200">
              <a:latin typeface="Cambria"/>
              <a:cs typeface="Cambria"/>
            </a:endParaRPr>
          </a:p>
          <a:p>
            <a:pPr marL="431800" marR="93980" indent="-342900">
              <a:lnSpc>
                <a:spcPct val="100000"/>
              </a:lnSpc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spc="-25" dirty="0">
                <a:latin typeface="Cambria"/>
                <a:cs typeface="Cambria"/>
              </a:rPr>
              <a:t>Data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transfer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should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not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happen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between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dirty="0">
                <a:latin typeface="Cambria Math"/>
                <a:cs typeface="Cambria Math"/>
              </a:rPr>
              <a:t>𝑡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7" baseline="-156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"/>
                <a:cs typeface="Cambria"/>
              </a:rPr>
              <a:t>and </a:t>
            </a:r>
            <a:r>
              <a:rPr sz="2200" spc="-25" dirty="0">
                <a:latin typeface="Cambria Math"/>
                <a:cs typeface="Cambria Math"/>
              </a:rPr>
              <a:t>𝑡</a:t>
            </a:r>
            <a:r>
              <a:rPr sz="2400" spc="-37" baseline="-15625" dirty="0">
                <a:latin typeface="Cambria Math"/>
                <a:cs typeface="Cambria Math"/>
              </a:rPr>
              <a:t>1</a:t>
            </a:r>
            <a:r>
              <a:rPr sz="2400" spc="-30" baseline="-15625" dirty="0">
                <a:latin typeface="Cambria Math"/>
                <a:cs typeface="Cambria Math"/>
              </a:rPr>
              <a:t> </a:t>
            </a:r>
            <a:r>
              <a:rPr sz="2200" spc="-60" dirty="0">
                <a:latin typeface="Cambria"/>
                <a:cs typeface="Cambria"/>
              </a:rPr>
              <a:t>since 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information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on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bus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is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unreliable</a:t>
            </a:r>
            <a:endParaRPr sz="2200">
              <a:latin typeface="Cambria"/>
              <a:cs typeface="Cambria"/>
            </a:endParaRPr>
          </a:p>
          <a:p>
            <a:pPr marL="431800" marR="492759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spc="-75" dirty="0">
                <a:latin typeface="Cambria"/>
                <a:cs typeface="Cambria"/>
              </a:rPr>
              <a:t>At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-70" dirty="0">
                <a:latin typeface="Cambria"/>
                <a:cs typeface="Cambria"/>
              </a:rPr>
              <a:t> end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of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 Math"/>
                <a:cs typeface="Cambria Math"/>
              </a:rPr>
              <a:t>𝑡</a:t>
            </a:r>
            <a:r>
              <a:rPr sz="2400" spc="75" baseline="-15625" dirty="0">
                <a:latin typeface="Cambria Math"/>
                <a:cs typeface="Cambria Math"/>
              </a:rPr>
              <a:t>2</a:t>
            </a:r>
            <a:r>
              <a:rPr sz="2200" spc="50" dirty="0">
                <a:latin typeface="Cambria"/>
                <a:cs typeface="Cambria"/>
              </a:rPr>
              <a:t>,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master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strobes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data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60" dirty="0">
                <a:latin typeface="Cambria"/>
                <a:cs typeface="Cambria"/>
              </a:rPr>
              <a:t>into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its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input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buffer.</a:t>
            </a:r>
            <a:endParaRPr sz="2200">
              <a:latin typeface="Cambria"/>
              <a:cs typeface="Cambria"/>
            </a:endParaRPr>
          </a:p>
          <a:p>
            <a:pPr marL="431800" indent="-342900">
              <a:lnSpc>
                <a:spcPct val="100000"/>
              </a:lnSpc>
              <a:buFont typeface="Arial MT"/>
              <a:buChar char="•"/>
              <a:tabLst>
                <a:tab pos="431165" algn="l"/>
                <a:tab pos="431800" algn="l"/>
              </a:tabLst>
            </a:pPr>
            <a:r>
              <a:rPr sz="2200" dirty="0">
                <a:latin typeface="Cambria Math"/>
                <a:cs typeface="Cambria Math"/>
              </a:rPr>
              <a:t>𝑡</a:t>
            </a:r>
            <a:r>
              <a:rPr sz="2400" baseline="-15625" dirty="0">
                <a:latin typeface="Cambria Math"/>
                <a:cs typeface="Cambria Math"/>
              </a:rPr>
              <a:t>2</a:t>
            </a:r>
            <a:r>
              <a:rPr sz="2400" spc="322" baseline="-15625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−</a:t>
            </a:r>
            <a:r>
              <a:rPr sz="2200" spc="-15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𝑡</a:t>
            </a:r>
            <a:r>
              <a:rPr sz="2400" spc="-37" baseline="-15625" dirty="0">
                <a:latin typeface="Cambria Math"/>
                <a:cs typeface="Cambria Math"/>
              </a:rPr>
              <a:t>1</a:t>
            </a:r>
            <a:r>
              <a:rPr sz="2400" spc="419" baseline="-15625" dirty="0">
                <a:latin typeface="Cambria Math"/>
                <a:cs typeface="Cambria Math"/>
              </a:rPr>
              <a:t> </a:t>
            </a:r>
            <a:r>
              <a:rPr sz="2200" spc="245" dirty="0">
                <a:latin typeface="Cambria"/>
                <a:cs typeface="Cambria"/>
              </a:rPr>
              <a:t>&gt;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max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60" dirty="0">
                <a:latin typeface="Cambria"/>
                <a:cs typeface="Cambria"/>
              </a:rPr>
              <a:t>propagation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time</a:t>
            </a:r>
            <a:endParaRPr sz="2200">
              <a:latin typeface="Cambria"/>
              <a:cs typeface="Cambria"/>
            </a:endParaRPr>
          </a:p>
          <a:p>
            <a:pPr marL="431800">
              <a:lnSpc>
                <a:spcPct val="100000"/>
              </a:lnSpc>
            </a:pPr>
            <a:r>
              <a:rPr sz="2200" spc="245" dirty="0">
                <a:latin typeface="Cambria"/>
                <a:cs typeface="Cambria"/>
              </a:rPr>
              <a:t>+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125" dirty="0">
                <a:latin typeface="Cambria"/>
                <a:cs typeface="Cambria"/>
              </a:rPr>
              <a:t>set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up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time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of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input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buffer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69253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0" dirty="0">
                <a:solidFill>
                  <a:srgbClr val="000000"/>
                </a:solidFill>
              </a:rPr>
              <a:t>Read</a:t>
            </a:r>
            <a:r>
              <a:rPr sz="4400" spc="240" dirty="0">
                <a:solidFill>
                  <a:srgbClr val="000000"/>
                </a:solidFill>
              </a:rPr>
              <a:t> </a:t>
            </a:r>
            <a:r>
              <a:rPr sz="4400" spc="75" dirty="0">
                <a:solidFill>
                  <a:srgbClr val="000000"/>
                </a:solidFill>
              </a:rPr>
              <a:t>Operation</a:t>
            </a:r>
            <a:r>
              <a:rPr sz="4400" spc="200" dirty="0">
                <a:solidFill>
                  <a:srgbClr val="000000"/>
                </a:solidFill>
              </a:rPr>
              <a:t> </a:t>
            </a:r>
            <a:r>
              <a:rPr sz="4400" spc="840" dirty="0">
                <a:solidFill>
                  <a:srgbClr val="000000"/>
                </a:solidFill>
              </a:rPr>
              <a:t>-</a:t>
            </a:r>
            <a:r>
              <a:rPr sz="4400" spc="245" dirty="0">
                <a:solidFill>
                  <a:srgbClr val="000000"/>
                </a:solidFill>
              </a:rPr>
              <a:t> </a:t>
            </a:r>
            <a:r>
              <a:rPr sz="4400" spc="114" dirty="0">
                <a:solidFill>
                  <a:srgbClr val="000000"/>
                </a:solidFill>
              </a:rPr>
              <a:t>Detailed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3388" y="906780"/>
            <a:ext cx="6201156" cy="5585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6246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0" dirty="0">
                <a:solidFill>
                  <a:srgbClr val="000000"/>
                </a:solidFill>
              </a:rPr>
              <a:t>Multiple-Cycle</a:t>
            </a:r>
            <a:r>
              <a:rPr sz="4400" spc="210" dirty="0">
                <a:solidFill>
                  <a:srgbClr val="000000"/>
                </a:solidFill>
              </a:rPr>
              <a:t> </a:t>
            </a:r>
            <a:r>
              <a:rPr sz="4400" spc="175" dirty="0">
                <a:solidFill>
                  <a:srgbClr val="000000"/>
                </a:solidFill>
              </a:rPr>
              <a:t>Transfer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247901"/>
            <a:ext cx="10358755" cy="47478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40" dirty="0">
                <a:latin typeface="Cambria"/>
                <a:cs typeface="Cambria"/>
              </a:rPr>
              <a:t>In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previous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case,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has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be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transferred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within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one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clock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cycle.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80" dirty="0">
                <a:latin typeface="Cambria"/>
                <a:cs typeface="Cambria"/>
              </a:rPr>
              <a:t>Limitations:</a:t>
            </a:r>
            <a:endParaRPr sz="2400">
              <a:latin typeface="Cambria"/>
              <a:cs typeface="Cambria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clock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cycle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period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must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be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chosen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accommodate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longest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delays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on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slowest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device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interface.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75" dirty="0">
                <a:latin typeface="Cambria"/>
                <a:cs typeface="Cambria"/>
              </a:rPr>
              <a:t>This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forces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all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devices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operate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at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speed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14" dirty="0">
                <a:latin typeface="Cambria"/>
                <a:cs typeface="Cambria"/>
              </a:rPr>
              <a:t>slowest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device.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699135" algn="l"/>
                <a:tab pos="1365885" algn="l"/>
                <a:tab pos="2763520" algn="l"/>
                <a:tab pos="3385820" algn="l"/>
                <a:tab pos="3902075" algn="l"/>
                <a:tab pos="4605020" algn="l"/>
                <a:tab pos="5041900" algn="l"/>
                <a:tab pos="6508750" algn="l"/>
                <a:tab pos="6912609" algn="l"/>
                <a:tab pos="7501890" algn="l"/>
                <a:tab pos="8935085" algn="l"/>
                <a:tab pos="9921240" algn="l"/>
              </a:tabLst>
            </a:pPr>
            <a:r>
              <a:rPr sz="2400" spc="-125" dirty="0">
                <a:latin typeface="Cambria"/>
                <a:cs typeface="Cambria"/>
              </a:rPr>
              <a:t>T</a:t>
            </a:r>
            <a:r>
              <a:rPr sz="2400" spc="-70" dirty="0">
                <a:latin typeface="Cambria"/>
                <a:cs typeface="Cambria"/>
              </a:rPr>
              <a:t>h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65" dirty="0">
                <a:latin typeface="Cambria"/>
                <a:cs typeface="Cambria"/>
              </a:rPr>
              <a:t>p</a:t>
            </a:r>
            <a:r>
              <a:rPr sz="2400" spc="-35" dirty="0">
                <a:latin typeface="Cambria"/>
                <a:cs typeface="Cambria"/>
              </a:rPr>
              <a:t>r</a:t>
            </a:r>
            <a:r>
              <a:rPr sz="2400" spc="-95" dirty="0">
                <a:latin typeface="Cambria"/>
                <a:cs typeface="Cambria"/>
              </a:rPr>
              <a:t>ocessor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80" dirty="0">
                <a:latin typeface="Cambria"/>
                <a:cs typeface="Cambria"/>
              </a:rPr>
              <a:t>ha</a:t>
            </a:r>
            <a:r>
              <a:rPr sz="2400" spc="-60" dirty="0">
                <a:latin typeface="Cambria"/>
                <a:cs typeface="Cambria"/>
              </a:rPr>
              <a:t>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70" dirty="0">
                <a:latin typeface="Cambria"/>
                <a:cs typeface="Cambria"/>
              </a:rPr>
              <a:t>n</a:t>
            </a:r>
            <a:r>
              <a:rPr sz="2400" spc="-5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0" dirty="0">
                <a:latin typeface="Cambria"/>
                <a:cs typeface="Cambria"/>
              </a:rPr>
              <a:t>w</a:t>
            </a:r>
            <a:r>
              <a:rPr sz="2400" spc="-110" dirty="0">
                <a:latin typeface="Cambria"/>
                <a:cs typeface="Cambria"/>
              </a:rPr>
              <a:t>a</a:t>
            </a:r>
            <a:r>
              <a:rPr sz="2400" spc="-85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90" dirty="0">
                <a:latin typeface="Cambria"/>
                <a:cs typeface="Cambria"/>
              </a:rPr>
              <a:t>t</a:t>
            </a:r>
            <a:r>
              <a:rPr sz="2400" spc="-130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0" dirty="0">
                <a:latin typeface="Cambria"/>
                <a:cs typeface="Cambria"/>
              </a:rPr>
              <a:t>dete</a:t>
            </a:r>
            <a:r>
              <a:rPr sz="2400" spc="-75" dirty="0">
                <a:latin typeface="Cambria"/>
                <a:cs typeface="Cambria"/>
              </a:rPr>
              <a:t>r</a:t>
            </a:r>
            <a:r>
              <a:rPr sz="2400" spc="-70" dirty="0">
                <a:latin typeface="Cambria"/>
                <a:cs typeface="Cambria"/>
              </a:rPr>
              <a:t>m</a:t>
            </a:r>
            <a:r>
              <a:rPr sz="2400" spc="-35" dirty="0">
                <a:latin typeface="Cambria"/>
                <a:cs typeface="Cambria"/>
              </a:rPr>
              <a:t>i</a:t>
            </a:r>
            <a:r>
              <a:rPr sz="2400" spc="-80" dirty="0">
                <a:latin typeface="Cambria"/>
                <a:cs typeface="Cambria"/>
              </a:rPr>
              <a:t>n</a:t>
            </a:r>
            <a:r>
              <a:rPr sz="2400" spc="-6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f	</a:t>
            </a:r>
            <a:r>
              <a:rPr sz="2400" spc="-80" dirty="0">
                <a:latin typeface="Cambria"/>
                <a:cs typeface="Cambria"/>
              </a:rPr>
              <a:t>th</a:t>
            </a:r>
            <a:r>
              <a:rPr sz="2400" spc="-8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70" dirty="0">
                <a:latin typeface="Cambria"/>
                <a:cs typeface="Cambria"/>
              </a:rPr>
              <a:t>add</a:t>
            </a:r>
            <a:r>
              <a:rPr sz="2400" spc="-45" dirty="0">
                <a:latin typeface="Cambria"/>
                <a:cs typeface="Cambria"/>
              </a:rPr>
              <a:t>r</a:t>
            </a:r>
            <a:r>
              <a:rPr sz="2400" spc="-130" dirty="0">
                <a:latin typeface="Cambria"/>
                <a:cs typeface="Cambria"/>
              </a:rPr>
              <a:t>essed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10" dirty="0">
                <a:latin typeface="Cambria"/>
                <a:cs typeface="Cambria"/>
              </a:rPr>
              <a:t>d</a:t>
            </a:r>
            <a:r>
              <a:rPr sz="2400" spc="-135" dirty="0">
                <a:latin typeface="Cambria"/>
                <a:cs typeface="Cambria"/>
              </a:rPr>
              <a:t>e</a:t>
            </a:r>
            <a:r>
              <a:rPr sz="2400" spc="-45" dirty="0">
                <a:latin typeface="Cambria"/>
                <a:cs typeface="Cambria"/>
              </a:rPr>
              <a:t>vice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75" dirty="0">
                <a:latin typeface="Cambria"/>
                <a:cs typeface="Cambria"/>
              </a:rPr>
              <a:t>has</a:t>
            </a:r>
            <a:endParaRPr sz="2400">
              <a:latin typeface="Cambria"/>
              <a:cs typeface="Cambria"/>
            </a:endParaRPr>
          </a:p>
          <a:p>
            <a:pPr marL="698500">
              <a:lnSpc>
                <a:spcPct val="100000"/>
              </a:lnSpc>
            </a:pPr>
            <a:r>
              <a:rPr sz="2400" spc="-70" dirty="0">
                <a:latin typeface="Cambria"/>
                <a:cs typeface="Cambria"/>
              </a:rPr>
              <a:t>responded.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If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device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4" dirty="0">
                <a:latin typeface="Cambria"/>
                <a:cs typeface="Cambria"/>
              </a:rPr>
              <a:t>does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not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respond,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malfunction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will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not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be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detected.</a:t>
            </a:r>
            <a:endParaRPr sz="2400">
              <a:latin typeface="Cambria"/>
              <a:cs typeface="Cambria"/>
            </a:endParaRPr>
          </a:p>
          <a:p>
            <a:pPr marL="241300" marR="5715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40" dirty="0">
                <a:latin typeface="Cambria"/>
                <a:cs typeface="Cambria"/>
              </a:rPr>
              <a:t>To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overcome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these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limitations,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incorporate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control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signals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to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represent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response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from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device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use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high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frequency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clock.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35" dirty="0">
                <a:latin typeface="Cambria"/>
                <a:cs typeface="Cambria"/>
              </a:rPr>
              <a:t>Duration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transfer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be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adjusted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suit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device.</a:t>
            </a:r>
            <a:endParaRPr sz="240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mbria"/>
                <a:cs typeface="Cambria"/>
              </a:rPr>
              <a:t>No.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of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clock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cycles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involved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will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vary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from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device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device.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6246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0" dirty="0">
                <a:solidFill>
                  <a:srgbClr val="000000"/>
                </a:solidFill>
              </a:rPr>
              <a:t>Multiple-Cycle</a:t>
            </a:r>
            <a:r>
              <a:rPr sz="4400" spc="210" dirty="0">
                <a:solidFill>
                  <a:srgbClr val="000000"/>
                </a:solidFill>
              </a:rPr>
              <a:t> </a:t>
            </a:r>
            <a:r>
              <a:rPr sz="4400" spc="175" dirty="0">
                <a:solidFill>
                  <a:srgbClr val="000000"/>
                </a:solidFill>
              </a:rPr>
              <a:t>Transfer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128" y="797051"/>
            <a:ext cx="6624828" cy="55808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7639" y="1152524"/>
            <a:ext cx="470344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1811020" algn="l"/>
              </a:tabLst>
            </a:pPr>
            <a:r>
              <a:rPr sz="2200" spc="-20" dirty="0">
                <a:latin typeface="Cambria"/>
                <a:cs typeface="Cambria"/>
              </a:rPr>
              <a:t>Clock</a:t>
            </a:r>
            <a:r>
              <a:rPr sz="2200" spc="52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cycle	</a:t>
            </a:r>
            <a:r>
              <a:rPr sz="2200" spc="-35" dirty="0">
                <a:latin typeface="Cambria"/>
                <a:cs typeface="Cambria"/>
              </a:rPr>
              <a:t>1: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Master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100" dirty="0">
                <a:latin typeface="Cambria"/>
                <a:cs typeface="Cambria"/>
              </a:rPr>
              <a:t>sends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address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and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command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information.</a:t>
            </a:r>
            <a:endParaRPr sz="22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80" dirty="0">
                <a:latin typeface="Cambria"/>
                <a:cs typeface="Cambria"/>
              </a:rPr>
              <a:t>Slave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-85" dirty="0">
                <a:latin typeface="Cambria"/>
                <a:cs typeface="Cambria"/>
              </a:rPr>
              <a:t>receives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info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and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-80" dirty="0">
                <a:latin typeface="Cambria"/>
                <a:cs typeface="Cambria"/>
              </a:rPr>
              <a:t>decodes.</a:t>
            </a:r>
            <a:endParaRPr sz="22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1251585" algn="l"/>
                <a:tab pos="2070100" algn="l"/>
              </a:tabLst>
            </a:pPr>
            <a:r>
              <a:rPr sz="2200" spc="-20" dirty="0">
                <a:latin typeface="Cambria"/>
                <a:cs typeface="Cambria"/>
              </a:rPr>
              <a:t>Clock	</a:t>
            </a:r>
            <a:r>
              <a:rPr sz="2200" spc="-60" dirty="0">
                <a:latin typeface="Cambria"/>
                <a:cs typeface="Cambria"/>
              </a:rPr>
              <a:t>cycle	</a:t>
            </a:r>
            <a:r>
              <a:rPr sz="2200" spc="-35" dirty="0">
                <a:latin typeface="Cambria"/>
                <a:cs typeface="Cambria"/>
              </a:rPr>
              <a:t>2: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0832" y="2158745"/>
            <a:ext cx="21736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5819" algn="l"/>
                <a:tab pos="1940560" algn="l"/>
              </a:tabLst>
            </a:pPr>
            <a:r>
              <a:rPr sz="2200" spc="-50" dirty="0">
                <a:latin typeface="Cambria"/>
                <a:cs typeface="Cambria"/>
              </a:rPr>
              <a:t>Sl</a:t>
            </a:r>
            <a:r>
              <a:rPr sz="2200" spc="-120" dirty="0">
                <a:latin typeface="Cambria"/>
                <a:cs typeface="Cambria"/>
              </a:rPr>
              <a:t>a</a:t>
            </a:r>
            <a:r>
              <a:rPr sz="2200" spc="-80" dirty="0">
                <a:latin typeface="Cambria"/>
                <a:cs typeface="Cambria"/>
              </a:rPr>
              <a:t>v</a:t>
            </a:r>
            <a:r>
              <a:rPr sz="2200" spc="-114" dirty="0">
                <a:latin typeface="Cambria"/>
                <a:cs typeface="Cambria"/>
              </a:rPr>
              <a:t>e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55" dirty="0">
                <a:latin typeface="Cambria"/>
                <a:cs typeface="Cambria"/>
              </a:rPr>
              <a:t>dec</a:t>
            </a:r>
            <a:r>
              <a:rPr sz="2200" spc="-30" dirty="0">
                <a:latin typeface="Cambria"/>
                <a:cs typeface="Cambria"/>
              </a:rPr>
              <a:t>i</a:t>
            </a:r>
            <a:r>
              <a:rPr sz="2200" spc="-75" dirty="0">
                <a:latin typeface="Cambria"/>
                <a:cs typeface="Cambria"/>
              </a:rPr>
              <a:t>d</a:t>
            </a:r>
            <a:r>
              <a:rPr sz="2200" spc="-130" dirty="0">
                <a:latin typeface="Cambria"/>
                <a:cs typeface="Cambria"/>
              </a:rPr>
              <a:t>es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-95" dirty="0">
                <a:latin typeface="Cambria"/>
                <a:cs typeface="Cambria"/>
              </a:rPr>
              <a:t>to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639" y="2494025"/>
            <a:ext cx="4705985" cy="404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80" dirty="0">
                <a:latin typeface="Cambria"/>
                <a:cs typeface="Cambria"/>
              </a:rPr>
              <a:t>respond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and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95" dirty="0">
                <a:latin typeface="Cambria"/>
                <a:cs typeface="Cambria"/>
              </a:rPr>
              <a:t>starts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to</a:t>
            </a:r>
            <a:r>
              <a:rPr sz="2200" spc="-10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access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 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85" dirty="0">
                <a:latin typeface="Cambria"/>
                <a:cs typeface="Cambria"/>
              </a:rPr>
              <a:t>requested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-45" dirty="0"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  <a:p>
            <a:pPr marL="355600" marR="6985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spc="-20" dirty="0">
                <a:latin typeface="Cambria"/>
                <a:cs typeface="Cambria"/>
              </a:rPr>
              <a:t>Clock </a:t>
            </a:r>
            <a:r>
              <a:rPr sz="2200" spc="-65" dirty="0">
                <a:latin typeface="Cambria"/>
                <a:cs typeface="Cambria"/>
              </a:rPr>
              <a:t>cycle </a:t>
            </a:r>
            <a:r>
              <a:rPr sz="2200" spc="-25" dirty="0">
                <a:latin typeface="Cambria"/>
                <a:cs typeface="Cambria"/>
              </a:rPr>
              <a:t>3: Data </a:t>
            </a:r>
            <a:r>
              <a:rPr sz="2200" spc="-85" dirty="0">
                <a:latin typeface="Cambria"/>
                <a:cs typeface="Cambria"/>
              </a:rPr>
              <a:t>is </a:t>
            </a:r>
            <a:r>
              <a:rPr sz="2200" spc="-75" dirty="0">
                <a:latin typeface="Cambria"/>
                <a:cs typeface="Cambria"/>
              </a:rPr>
              <a:t>ready </a:t>
            </a:r>
            <a:r>
              <a:rPr sz="2200" spc="-50" dirty="0">
                <a:latin typeface="Cambria"/>
                <a:cs typeface="Cambria"/>
              </a:rPr>
              <a:t>and </a:t>
            </a:r>
            <a:r>
              <a:rPr sz="2200" spc="-90" dirty="0">
                <a:latin typeface="Cambria"/>
                <a:cs typeface="Cambria"/>
              </a:rPr>
              <a:t>slave </a:t>
            </a:r>
            <a:r>
              <a:rPr sz="2200" spc="-85" dirty="0">
                <a:latin typeface="Cambria"/>
                <a:cs typeface="Cambria"/>
              </a:rPr>
              <a:t> </a:t>
            </a:r>
            <a:r>
              <a:rPr sz="2200" spc="-60" dirty="0">
                <a:latin typeface="Cambria"/>
                <a:cs typeface="Cambria"/>
              </a:rPr>
              <a:t>places </a:t>
            </a:r>
            <a:r>
              <a:rPr sz="2200" spc="-65" dirty="0">
                <a:latin typeface="Cambria"/>
                <a:cs typeface="Cambria"/>
              </a:rPr>
              <a:t>it </a:t>
            </a:r>
            <a:r>
              <a:rPr sz="2200" spc="-55" dirty="0">
                <a:latin typeface="Cambria"/>
                <a:cs typeface="Cambria"/>
              </a:rPr>
              <a:t>on </a:t>
            </a:r>
            <a:r>
              <a:rPr sz="2200" spc="-75" dirty="0">
                <a:latin typeface="Cambria"/>
                <a:cs typeface="Cambria"/>
              </a:rPr>
              <a:t>the bus </a:t>
            </a:r>
            <a:r>
              <a:rPr sz="2200" spc="-45" dirty="0">
                <a:latin typeface="Cambria"/>
                <a:cs typeface="Cambria"/>
              </a:rPr>
              <a:t>and </a:t>
            </a:r>
            <a:r>
              <a:rPr sz="2200" spc="-105" dirty="0">
                <a:latin typeface="Cambria"/>
                <a:cs typeface="Cambria"/>
              </a:rPr>
              <a:t>asserts </a:t>
            </a:r>
            <a:r>
              <a:rPr sz="2200" spc="-40" dirty="0">
                <a:latin typeface="Cambria"/>
                <a:cs typeface="Cambria"/>
              </a:rPr>
              <a:t>Slave- 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ready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signal.</a:t>
            </a:r>
            <a:endParaRPr sz="2200">
              <a:latin typeface="Cambria"/>
              <a:cs typeface="Cambria"/>
            </a:endParaRPr>
          </a:p>
          <a:p>
            <a:pPr marL="355600" marR="6985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spc="-55" dirty="0">
                <a:latin typeface="Cambria"/>
                <a:cs typeface="Cambria"/>
              </a:rPr>
              <a:t>Master </a:t>
            </a:r>
            <a:r>
              <a:rPr sz="2200" spc="-100" dirty="0">
                <a:latin typeface="Cambria"/>
                <a:cs typeface="Cambria"/>
              </a:rPr>
              <a:t>strobes </a:t>
            </a:r>
            <a:r>
              <a:rPr sz="2200" spc="-75" dirty="0">
                <a:latin typeface="Cambria"/>
                <a:cs typeface="Cambria"/>
              </a:rPr>
              <a:t>the </a:t>
            </a:r>
            <a:r>
              <a:rPr sz="2200" spc="-70" dirty="0">
                <a:latin typeface="Cambria"/>
                <a:cs typeface="Cambria"/>
              </a:rPr>
              <a:t>data </a:t>
            </a:r>
            <a:r>
              <a:rPr sz="2200" spc="-55" dirty="0">
                <a:latin typeface="Cambria"/>
                <a:cs typeface="Cambria"/>
              </a:rPr>
              <a:t>into </a:t>
            </a:r>
            <a:r>
              <a:rPr sz="2200" spc="-90" dirty="0">
                <a:latin typeface="Cambria"/>
                <a:cs typeface="Cambria"/>
              </a:rPr>
              <a:t>its </a:t>
            </a:r>
            <a:r>
              <a:rPr sz="2200" spc="-40" dirty="0">
                <a:latin typeface="Cambria"/>
                <a:cs typeface="Cambria"/>
              </a:rPr>
              <a:t>buffer 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at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end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-40" dirty="0">
                <a:latin typeface="Cambria"/>
                <a:cs typeface="Cambria"/>
              </a:rPr>
              <a:t>of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clock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cycle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3.</a:t>
            </a:r>
            <a:endParaRPr sz="2200">
              <a:latin typeface="Cambria"/>
              <a:cs typeface="Cambri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5" dirty="0">
                <a:latin typeface="Cambria"/>
                <a:cs typeface="Cambria"/>
              </a:rPr>
              <a:t>Master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5" dirty="0">
                <a:latin typeface="Cambria"/>
                <a:cs typeface="Cambria"/>
              </a:rPr>
              <a:t>can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spc="-85" dirty="0">
                <a:latin typeface="Cambria"/>
                <a:cs typeface="Cambria"/>
              </a:rPr>
              <a:t>start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60" dirty="0">
                <a:latin typeface="Cambria"/>
                <a:cs typeface="Cambria"/>
              </a:rPr>
              <a:t>another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transfer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in </a:t>
            </a:r>
            <a:r>
              <a:rPr sz="2200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cycle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4.</a:t>
            </a:r>
            <a:endParaRPr sz="2200">
              <a:latin typeface="Cambria"/>
              <a:cs typeface="Cambria"/>
            </a:endParaRPr>
          </a:p>
          <a:p>
            <a:pPr marL="355600" marR="6985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spc="-20" dirty="0">
                <a:latin typeface="Cambria"/>
                <a:cs typeface="Cambria"/>
              </a:rPr>
              <a:t>If </a:t>
            </a:r>
            <a:r>
              <a:rPr sz="2200" spc="-90" dirty="0">
                <a:latin typeface="Cambria"/>
                <a:cs typeface="Cambria"/>
              </a:rPr>
              <a:t>addressed </a:t>
            </a:r>
            <a:r>
              <a:rPr sz="2200" spc="-70" dirty="0">
                <a:latin typeface="Cambria"/>
                <a:cs typeface="Cambria"/>
              </a:rPr>
              <a:t>device </a:t>
            </a:r>
            <a:r>
              <a:rPr sz="2200" spc="-110" dirty="0">
                <a:latin typeface="Cambria"/>
                <a:cs typeface="Cambria"/>
              </a:rPr>
              <a:t>does </a:t>
            </a:r>
            <a:r>
              <a:rPr sz="2200" spc="-70" dirty="0">
                <a:latin typeface="Cambria"/>
                <a:cs typeface="Cambria"/>
              </a:rPr>
              <a:t>not </a:t>
            </a:r>
            <a:r>
              <a:rPr sz="2200" spc="-60" dirty="0">
                <a:latin typeface="Cambria"/>
                <a:cs typeface="Cambria"/>
              </a:rPr>
              <a:t>respond, 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90" dirty="0">
                <a:latin typeface="Cambria"/>
                <a:cs typeface="Cambria"/>
              </a:rPr>
              <a:t>master</a:t>
            </a:r>
            <a:r>
              <a:rPr sz="2200" spc="-85" dirty="0">
                <a:latin typeface="Cambria"/>
                <a:cs typeface="Cambria"/>
              </a:rPr>
              <a:t> aborts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75" dirty="0">
                <a:latin typeface="Cambria"/>
                <a:cs typeface="Cambria"/>
              </a:rPr>
              <a:t>the</a:t>
            </a:r>
            <a:r>
              <a:rPr sz="2200" spc="335" dirty="0">
                <a:latin typeface="Cambria"/>
                <a:cs typeface="Cambria"/>
              </a:rPr>
              <a:t> </a:t>
            </a:r>
            <a:r>
              <a:rPr sz="2200" spc="-65" dirty="0">
                <a:latin typeface="Cambria"/>
                <a:cs typeface="Cambria"/>
              </a:rPr>
              <a:t>operation</a:t>
            </a:r>
            <a:r>
              <a:rPr sz="2200" spc="355" dirty="0">
                <a:latin typeface="Cambria"/>
                <a:cs typeface="Cambria"/>
              </a:rPr>
              <a:t> </a:t>
            </a:r>
            <a:r>
              <a:rPr sz="2200" spc="-55" dirty="0">
                <a:latin typeface="Cambria"/>
                <a:cs typeface="Cambria"/>
              </a:rPr>
              <a:t>after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-105" dirty="0">
                <a:latin typeface="Cambria"/>
                <a:cs typeface="Cambria"/>
              </a:rPr>
              <a:t>some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cycles.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8909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20" dirty="0">
                <a:solidFill>
                  <a:srgbClr val="000000"/>
                </a:solidFill>
              </a:rPr>
              <a:t>Asynchronous</a:t>
            </a:r>
            <a:r>
              <a:rPr sz="4400" spc="240" dirty="0">
                <a:solidFill>
                  <a:srgbClr val="000000"/>
                </a:solidFill>
              </a:rPr>
              <a:t> </a:t>
            </a:r>
            <a:r>
              <a:rPr sz="4400" spc="165" dirty="0">
                <a:solidFill>
                  <a:srgbClr val="000000"/>
                </a:solidFill>
              </a:rPr>
              <a:t>Bus</a:t>
            </a:r>
            <a:r>
              <a:rPr sz="4400" spc="225" dirty="0">
                <a:solidFill>
                  <a:srgbClr val="000000"/>
                </a:solidFill>
              </a:rPr>
              <a:t> </a:t>
            </a:r>
            <a:r>
              <a:rPr sz="4400" i="1" spc="1635" dirty="0">
                <a:solidFill>
                  <a:srgbClr val="000000"/>
                </a:solidFill>
                <a:latin typeface="Trebuchet MS"/>
                <a:cs typeface="Trebuchet MS"/>
              </a:rPr>
              <a:t>–</a:t>
            </a:r>
            <a:r>
              <a:rPr sz="4400" i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400" spc="65" dirty="0">
                <a:solidFill>
                  <a:srgbClr val="000000"/>
                </a:solidFill>
              </a:rPr>
              <a:t>Introduction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2570" indent="-2286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3204" algn="l"/>
              </a:tabLst>
            </a:pPr>
            <a:r>
              <a:rPr spc="-25" dirty="0"/>
              <a:t>Data</a:t>
            </a:r>
            <a:r>
              <a:rPr spc="65" dirty="0"/>
              <a:t> </a:t>
            </a:r>
            <a:r>
              <a:rPr spc="-80" dirty="0"/>
              <a:t>transfers</a:t>
            </a:r>
            <a:r>
              <a:rPr spc="85" dirty="0"/>
              <a:t> </a:t>
            </a:r>
            <a:r>
              <a:rPr spc="-55" dirty="0"/>
              <a:t>controlled</a:t>
            </a:r>
            <a:r>
              <a:rPr spc="85" dirty="0"/>
              <a:t> </a:t>
            </a:r>
            <a:r>
              <a:rPr spc="-110" dirty="0"/>
              <a:t>by</a:t>
            </a:r>
            <a:r>
              <a:rPr spc="80" dirty="0"/>
              <a:t> </a:t>
            </a:r>
            <a:r>
              <a:rPr spc="-70" dirty="0"/>
              <a:t>handshake</a:t>
            </a:r>
            <a:r>
              <a:rPr spc="95" dirty="0"/>
              <a:t> </a:t>
            </a:r>
            <a:r>
              <a:rPr spc="-95" dirty="0"/>
              <a:t>between</a:t>
            </a:r>
            <a:r>
              <a:rPr spc="50" dirty="0"/>
              <a:t> </a:t>
            </a:r>
            <a:r>
              <a:rPr spc="-100" dirty="0"/>
              <a:t>master</a:t>
            </a:r>
            <a:r>
              <a:rPr spc="95" dirty="0"/>
              <a:t> </a:t>
            </a:r>
            <a:r>
              <a:rPr spc="-50" dirty="0"/>
              <a:t>and</a:t>
            </a:r>
            <a:r>
              <a:rPr spc="75" dirty="0"/>
              <a:t> </a:t>
            </a:r>
            <a:r>
              <a:rPr spc="-100" dirty="0"/>
              <a:t>slave</a:t>
            </a:r>
          </a:p>
          <a:p>
            <a:pPr marL="242570" indent="-2286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3204" algn="l"/>
              </a:tabLst>
            </a:pPr>
            <a:r>
              <a:rPr spc="-40" dirty="0"/>
              <a:t>Common</a:t>
            </a:r>
            <a:r>
              <a:rPr spc="60" dirty="0"/>
              <a:t> </a:t>
            </a:r>
            <a:r>
              <a:rPr spc="-50" dirty="0"/>
              <a:t>clock</a:t>
            </a:r>
            <a:r>
              <a:rPr spc="60" dirty="0"/>
              <a:t> </a:t>
            </a:r>
            <a:r>
              <a:rPr spc="-90" dirty="0"/>
              <a:t>is</a:t>
            </a:r>
            <a:r>
              <a:rPr spc="70" dirty="0"/>
              <a:t> </a:t>
            </a:r>
            <a:r>
              <a:rPr spc="-55" dirty="0"/>
              <a:t>replaced</a:t>
            </a:r>
            <a:r>
              <a:rPr spc="70" dirty="0"/>
              <a:t> </a:t>
            </a:r>
            <a:r>
              <a:rPr spc="-110" dirty="0"/>
              <a:t>by</a:t>
            </a:r>
            <a:r>
              <a:rPr spc="65" dirty="0"/>
              <a:t> </a:t>
            </a:r>
            <a:r>
              <a:rPr spc="-105" dirty="0"/>
              <a:t>two</a:t>
            </a:r>
            <a:r>
              <a:rPr spc="70" dirty="0"/>
              <a:t> </a:t>
            </a:r>
            <a:r>
              <a:rPr spc="-60" dirty="0"/>
              <a:t>timing</a:t>
            </a:r>
            <a:r>
              <a:rPr spc="90" dirty="0"/>
              <a:t> </a:t>
            </a:r>
            <a:r>
              <a:rPr spc="-50" dirty="0"/>
              <a:t>control</a:t>
            </a:r>
            <a:r>
              <a:rPr spc="80" dirty="0"/>
              <a:t> </a:t>
            </a:r>
            <a:r>
              <a:rPr spc="-65" dirty="0"/>
              <a:t>lines</a:t>
            </a:r>
          </a:p>
          <a:p>
            <a:pPr marL="69977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01040" algn="l"/>
              </a:tabLst>
            </a:pPr>
            <a:r>
              <a:rPr sz="2400" spc="-60" dirty="0">
                <a:latin typeface="Cambria"/>
                <a:cs typeface="Cambria"/>
              </a:rPr>
              <a:t>Master-Ready</a:t>
            </a:r>
            <a:endParaRPr sz="2400">
              <a:latin typeface="Cambria"/>
              <a:cs typeface="Cambria"/>
            </a:endParaRPr>
          </a:p>
          <a:p>
            <a:pPr marL="69977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701040" algn="l"/>
              </a:tabLst>
            </a:pPr>
            <a:r>
              <a:rPr sz="2400" spc="-75" dirty="0">
                <a:latin typeface="Cambria"/>
                <a:cs typeface="Cambria"/>
              </a:rPr>
              <a:t>Slave-Ready</a:t>
            </a:r>
            <a:endParaRPr sz="2400">
              <a:latin typeface="Cambria"/>
              <a:cs typeface="Cambria"/>
            </a:endParaRPr>
          </a:p>
          <a:p>
            <a:pPr marL="24257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3204" algn="l"/>
              </a:tabLst>
            </a:pPr>
            <a:r>
              <a:rPr spc="-25" dirty="0"/>
              <a:t>Data</a:t>
            </a:r>
            <a:r>
              <a:rPr spc="55" dirty="0"/>
              <a:t> </a:t>
            </a:r>
            <a:r>
              <a:rPr spc="-70" dirty="0"/>
              <a:t>transfer</a:t>
            </a:r>
            <a:r>
              <a:rPr spc="80" dirty="0"/>
              <a:t> </a:t>
            </a:r>
            <a:r>
              <a:rPr spc="-110" dirty="0"/>
              <a:t>by</a:t>
            </a:r>
            <a:r>
              <a:rPr spc="70" dirty="0"/>
              <a:t> </a:t>
            </a:r>
            <a:r>
              <a:rPr spc="-70" dirty="0"/>
              <a:t>handshake</a:t>
            </a:r>
            <a:r>
              <a:rPr spc="90" dirty="0"/>
              <a:t> </a:t>
            </a:r>
            <a:r>
              <a:rPr spc="-65" dirty="0"/>
              <a:t>protocol</a:t>
            </a:r>
          </a:p>
          <a:p>
            <a:pPr marL="699770" lvl="1" indent="-229235">
              <a:lnSpc>
                <a:spcPts val="2735"/>
              </a:lnSpc>
              <a:spcBef>
                <a:spcPts val="220"/>
              </a:spcBef>
              <a:buFont typeface="Arial MT"/>
              <a:buChar char="•"/>
              <a:tabLst>
                <a:tab pos="701040" algn="l"/>
              </a:tabLst>
            </a:pPr>
            <a:r>
              <a:rPr sz="2400" spc="-55" dirty="0">
                <a:latin typeface="Cambria"/>
                <a:cs typeface="Cambria"/>
              </a:rPr>
              <a:t>Master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65" dirty="0">
                <a:latin typeface="Cambria"/>
                <a:cs typeface="Cambria"/>
              </a:rPr>
              <a:t>places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address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command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info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on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asserts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Master-</a:t>
            </a:r>
            <a:endParaRPr sz="2400">
              <a:latin typeface="Cambria"/>
              <a:cs typeface="Cambria"/>
            </a:endParaRPr>
          </a:p>
          <a:p>
            <a:pPr marL="699770">
              <a:lnSpc>
                <a:spcPts val="2735"/>
              </a:lnSpc>
            </a:pPr>
            <a:r>
              <a:rPr spc="-114" dirty="0"/>
              <a:t>Ready</a:t>
            </a:r>
            <a:r>
              <a:rPr spc="70" dirty="0"/>
              <a:t> </a:t>
            </a:r>
            <a:r>
              <a:rPr spc="-55" dirty="0"/>
              <a:t>signal</a:t>
            </a:r>
            <a:r>
              <a:rPr spc="75" dirty="0"/>
              <a:t> </a:t>
            </a:r>
            <a:r>
              <a:rPr spc="-60" dirty="0"/>
              <a:t>after</a:t>
            </a:r>
            <a:r>
              <a:rPr spc="70" dirty="0"/>
              <a:t> </a:t>
            </a:r>
            <a:r>
              <a:rPr spc="-50" dirty="0"/>
              <a:t>a</a:t>
            </a:r>
            <a:r>
              <a:rPr spc="70" dirty="0"/>
              <a:t> </a:t>
            </a:r>
            <a:r>
              <a:rPr spc="-80" dirty="0"/>
              <a:t>delay</a:t>
            </a:r>
            <a:r>
              <a:rPr spc="60" dirty="0"/>
              <a:t> </a:t>
            </a:r>
            <a:r>
              <a:rPr spc="-110" dirty="0"/>
              <a:t>to</a:t>
            </a:r>
            <a:r>
              <a:rPr spc="75" dirty="0"/>
              <a:t> </a:t>
            </a:r>
            <a:r>
              <a:rPr spc="-50" dirty="0"/>
              <a:t>allow</a:t>
            </a:r>
            <a:r>
              <a:rPr spc="80" dirty="0"/>
              <a:t> </a:t>
            </a:r>
            <a:r>
              <a:rPr spc="-50" dirty="0"/>
              <a:t>for</a:t>
            </a:r>
            <a:r>
              <a:rPr spc="70" dirty="0"/>
              <a:t> </a:t>
            </a:r>
            <a:r>
              <a:rPr spc="-65" dirty="0"/>
              <a:t>any</a:t>
            </a:r>
            <a:r>
              <a:rPr spc="75" dirty="0"/>
              <a:t> </a:t>
            </a:r>
            <a:r>
              <a:rPr spc="-120" dirty="0"/>
              <a:t>skew</a:t>
            </a:r>
            <a:r>
              <a:rPr spc="70" dirty="0"/>
              <a:t> </a:t>
            </a:r>
            <a:r>
              <a:rPr spc="-75" dirty="0"/>
              <a:t>that</a:t>
            </a:r>
            <a:r>
              <a:rPr spc="85" dirty="0"/>
              <a:t> </a:t>
            </a:r>
            <a:r>
              <a:rPr spc="-95" dirty="0"/>
              <a:t>may</a:t>
            </a:r>
            <a:r>
              <a:rPr spc="75" dirty="0"/>
              <a:t> </a:t>
            </a:r>
            <a:r>
              <a:rPr spc="-35" dirty="0"/>
              <a:t>occur.</a:t>
            </a:r>
          </a:p>
          <a:p>
            <a:pPr marL="699770" lvl="1" indent="-22923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701040" algn="l"/>
              </a:tabLst>
            </a:pPr>
            <a:r>
              <a:rPr sz="2400" spc="-20" dirty="0">
                <a:latin typeface="Cambria"/>
                <a:cs typeface="Cambria"/>
              </a:rPr>
              <a:t>All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devices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on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bus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decode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address.</a:t>
            </a:r>
            <a:endParaRPr sz="2400">
              <a:latin typeface="Cambria"/>
              <a:cs typeface="Cambria"/>
            </a:endParaRPr>
          </a:p>
          <a:p>
            <a:pPr marL="699770" marR="6985" lvl="1" indent="-22860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701040" algn="l"/>
              </a:tabLst>
            </a:pPr>
            <a:r>
              <a:rPr sz="2400" spc="-85" dirty="0">
                <a:latin typeface="Cambria"/>
                <a:cs typeface="Cambria"/>
              </a:rPr>
              <a:t>Selected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slave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performs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required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operation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asserts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85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Slave-Ready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signal.</a:t>
            </a:r>
            <a:endParaRPr sz="2400">
              <a:latin typeface="Cambria"/>
              <a:cs typeface="Cambria"/>
            </a:endParaRPr>
          </a:p>
          <a:p>
            <a:pPr marL="699770" marR="7620" lvl="1" indent="-228600">
              <a:lnSpc>
                <a:spcPts val="2590"/>
              </a:lnSpc>
              <a:spcBef>
                <a:spcPts val="515"/>
              </a:spcBef>
              <a:buFont typeface="Arial MT"/>
              <a:buChar char="•"/>
              <a:tabLst>
                <a:tab pos="701040" algn="l"/>
                <a:tab pos="8929370" algn="l"/>
              </a:tabLst>
            </a:pPr>
            <a:r>
              <a:rPr sz="2400" spc="-60" dirty="0">
                <a:latin typeface="Cambria"/>
                <a:cs typeface="Cambria"/>
              </a:rPr>
              <a:t>Master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105" dirty="0">
                <a:latin typeface="Cambria"/>
                <a:cs typeface="Cambria"/>
              </a:rPr>
              <a:t>removes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its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signal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after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Slave-Ready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and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10" dirty="0">
                <a:latin typeface="Cambria"/>
                <a:cs typeface="Cambria"/>
              </a:rPr>
              <a:t>strobes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data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	</a:t>
            </a:r>
            <a:r>
              <a:rPr sz="2400" spc="-70" dirty="0">
                <a:latin typeface="Cambria"/>
                <a:cs typeface="Cambria"/>
              </a:rPr>
              <a:t>it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is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read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operation.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sp>
        <p:nvSpPr>
          <p:cNvPr id="5" name="object 5"/>
          <p:cNvSpPr txBox="1"/>
          <p:nvPr/>
        </p:nvSpPr>
        <p:spPr>
          <a:xfrm>
            <a:off x="11057255" y="6464360"/>
            <a:ext cx="2438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spc="-5" dirty="0">
                <a:solidFill>
                  <a:srgbClr val="888888"/>
                </a:solidFill>
                <a:latin typeface="Cambria"/>
                <a:cs typeface="Cambria"/>
              </a:rPr>
              <a:t>8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61010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0" dirty="0">
                <a:solidFill>
                  <a:srgbClr val="000000"/>
                </a:solidFill>
              </a:rPr>
              <a:t>Read</a:t>
            </a:r>
            <a:r>
              <a:rPr sz="4400" spc="240" dirty="0">
                <a:solidFill>
                  <a:srgbClr val="000000"/>
                </a:solidFill>
              </a:rPr>
              <a:t> </a:t>
            </a:r>
            <a:r>
              <a:rPr sz="4400" spc="-75" dirty="0">
                <a:solidFill>
                  <a:srgbClr val="000000"/>
                </a:solidFill>
              </a:rPr>
              <a:t>/</a:t>
            </a:r>
            <a:r>
              <a:rPr sz="4400" spc="235" dirty="0">
                <a:solidFill>
                  <a:srgbClr val="000000"/>
                </a:solidFill>
              </a:rPr>
              <a:t> </a:t>
            </a:r>
            <a:r>
              <a:rPr sz="4400" spc="85" dirty="0">
                <a:solidFill>
                  <a:srgbClr val="000000"/>
                </a:solidFill>
              </a:rPr>
              <a:t>Input</a:t>
            </a:r>
            <a:r>
              <a:rPr sz="4400" spc="220" dirty="0">
                <a:solidFill>
                  <a:srgbClr val="000000"/>
                </a:solidFill>
              </a:rPr>
              <a:t> </a:t>
            </a:r>
            <a:r>
              <a:rPr sz="4400" spc="75" dirty="0">
                <a:solidFill>
                  <a:srgbClr val="000000"/>
                </a:solidFill>
              </a:rPr>
              <a:t>Operation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973836"/>
            <a:ext cx="6829044" cy="54361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57255" y="6464360"/>
            <a:ext cx="2438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spc="-5" dirty="0">
                <a:solidFill>
                  <a:srgbClr val="888888"/>
                </a:solidFill>
                <a:latin typeface="Cambria"/>
                <a:cs typeface="Cambria"/>
              </a:rPr>
              <a:t>9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5102"/>
            <a:ext cx="6511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5" dirty="0">
                <a:solidFill>
                  <a:srgbClr val="000000"/>
                </a:solidFill>
              </a:rPr>
              <a:t>Write</a:t>
            </a:r>
            <a:r>
              <a:rPr sz="4400" spc="235" dirty="0">
                <a:solidFill>
                  <a:srgbClr val="000000"/>
                </a:solidFill>
              </a:rPr>
              <a:t> </a:t>
            </a:r>
            <a:r>
              <a:rPr sz="4400" spc="-75" dirty="0">
                <a:solidFill>
                  <a:srgbClr val="000000"/>
                </a:solidFill>
              </a:rPr>
              <a:t>/</a:t>
            </a:r>
            <a:r>
              <a:rPr sz="4400" spc="240" dirty="0">
                <a:solidFill>
                  <a:srgbClr val="000000"/>
                </a:solidFill>
              </a:rPr>
              <a:t> </a:t>
            </a:r>
            <a:r>
              <a:rPr sz="4400" spc="50" dirty="0">
                <a:solidFill>
                  <a:srgbClr val="000000"/>
                </a:solidFill>
              </a:rPr>
              <a:t>Output</a:t>
            </a:r>
            <a:r>
              <a:rPr sz="4400" spc="215" dirty="0">
                <a:solidFill>
                  <a:srgbClr val="000000"/>
                </a:solidFill>
              </a:rPr>
              <a:t> </a:t>
            </a:r>
            <a:r>
              <a:rPr sz="4400" spc="75" dirty="0">
                <a:solidFill>
                  <a:srgbClr val="000000"/>
                </a:solidFill>
              </a:rPr>
              <a:t>Operation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lang="en-US" spc="40"/>
              <a:t>Dr. Ilavarasi A K , VIT Chennai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9464" y="972311"/>
            <a:ext cx="6827520" cy="53842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57255" y="6464360"/>
            <a:ext cx="2438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5"/>
              </a:lnSpc>
            </a:pPr>
            <a:fld id="{81D60167-4931-47E6-BA6A-407CBD079E47}" type="slidenum">
              <a:rPr sz="1200" spc="-5" dirty="0">
                <a:solidFill>
                  <a:srgbClr val="888888"/>
                </a:solidFill>
                <a:latin typeface="Cambria"/>
                <a:cs typeface="Cambria"/>
              </a:rPr>
              <a:t>10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A51192E2BE67408AE7FD61E966A672" ma:contentTypeVersion="3" ma:contentTypeDescription="Create a new document." ma:contentTypeScope="" ma:versionID="bd8545ebec474c1d328e6e4d70c949b4">
  <xsd:schema xmlns:xsd="http://www.w3.org/2001/XMLSchema" xmlns:xs="http://www.w3.org/2001/XMLSchema" xmlns:p="http://schemas.microsoft.com/office/2006/metadata/properties" xmlns:ns2="01f750d2-d7ce-4598-b67c-6368ec297a75" targetNamespace="http://schemas.microsoft.com/office/2006/metadata/properties" ma:root="true" ma:fieldsID="59d3f90be99ce56bd6a20c89db54a020" ns2:_="">
    <xsd:import namespace="01f750d2-d7ce-4598-b67c-6368ec29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f750d2-d7ce-4598-b67c-6368ec297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F250F9-4DD9-44F3-B589-3BB977EFA6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f750d2-d7ce-4598-b67c-6368ec297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35199-728D-431F-B6A6-6F56CEAE97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6B3012B-A880-4E24-B5C0-8279392245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</TotalTime>
  <Words>507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Module 5- Buses</vt:lpstr>
      <vt:lpstr>Introduction</vt:lpstr>
      <vt:lpstr>Synchronous Bus – Introduction</vt:lpstr>
      <vt:lpstr>Single Cycle Transfer – Read</vt:lpstr>
      <vt:lpstr>Read Operation - Detailed</vt:lpstr>
      <vt:lpstr>Multiple-Cycle Transfer</vt:lpstr>
      <vt:lpstr>Multiple-Cycle Transfer</vt:lpstr>
      <vt:lpstr>Asynchronous Bus – Introduction</vt:lpstr>
      <vt:lpstr>Read / Input Operation</vt:lpstr>
      <vt:lpstr>Write / Output Operation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IAS Computer</dc:title>
  <dc:creator>Anushiya Rachel</dc:creator>
  <cp:lastModifiedBy>Admin</cp:lastModifiedBy>
  <cp:revision>4</cp:revision>
  <dcterms:created xsi:type="dcterms:W3CDTF">2023-03-06T10:13:20Z</dcterms:created>
  <dcterms:modified xsi:type="dcterms:W3CDTF">2023-12-07T09:49:30Z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2023-03-06T00:00:00Z</vt:filetime>
  </property>
  <property fmtid="{D5CDD505-2E9C-101B-9397-08002B2CF9AE}" pid="5" name="ContentTypeId">
    <vt:lpwstr>0x01010055A51192E2BE67408AE7FD61E966A672</vt:lpwstr>
  </property>
</Properties>
</file>